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problème" id="{9269DF2F-5E41-E921-2001-078AAC745E96}">
          <p14:sldIdLst>
            <p14:sldId id="256"/>
            <p14:sldId id="257"/>
            <p14:sldId id="258"/>
            <p14:sldId id="259"/>
          </p14:sldIdLst>
        </p14:section>
        <p14:section name="L’idée" id="{F06B3263-7227-41DE-C21C-4B2232519830}">
          <p14:sldIdLst>
            <p14:sldId id="260"/>
            <p14:sldId id="261"/>
            <p14:sldId id="262"/>
          </p14:sldIdLst>
        </p14:section>
        <p14:section name="Au quotidien" id="{EAAB7E11-813B-012D-8D72-6D4CE01F9CCE}">
          <p14:sldIdLst>
            <p14:sldId id="263"/>
            <p14:sldId id="264"/>
            <p14:sldId id="265"/>
            <p14:sldId id="266"/>
            <p14:sldId id="267"/>
            <p14:sldId id="268"/>
          </p14:sldIdLst>
        </p14:section>
        <p14:section name="Les partenaires" id="{5C54DA1E-9662-B0DE-C171-54F7A5F2CA0A}">
          <p14:sldIdLst>
            <p14:sldId id="269"/>
            <p14:sldId id="270"/>
            <p14:sldId id="271"/>
          </p14:sldIdLst>
        </p14:section>
        <p14:section name="La suite" id="{17075622-FD56-8A60-39BB-71E94347923E}">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520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merci de me recevoir. Je m’appelle Florent Akpa. Je travaille depuis quelques semaines sur une petite app qui s’appelle Saguenay Aujourd’hui. Je vais vous montrer ce qu’elle fait, pourquoi elle peut vous être utile, et ce que j’aurais besoin de vous. J’ai aussi une démo sur le téléphone qu’on pourra regarder ensemble à la fin.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une scène que tout le monde connaît ici. Dimanche soir, mi-novembre. Le bac est encore dans l’entrée, l’auto est dans la rue, et on ne sait plus trop si l’avis d’ébullition de la veille est levé. L’information existe, et elle est bonne. Mais elle est éparpillée entre le site de la Ville, les appels automatisés, la carte des avis, Transit et Québec.ca, sans compter Environnement Canada pour la neige et Hydro-Québec pour les coupures. C’est ce problème-là que j’essaie de régler.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Imaginez que vous habitez une maison, mais que pour prendre votre douche, il faut aller dans une autre maison. Pour cuisiner, dans une troisième. Pour vous habiller, une quatrième, et pour dormir, une cinquième. Chaque geste devient un déplacement, chaque maison a ses clés et ses horaires, et un jour on oublie d’y passer. Personne ne vivrait comme ça. [Clic] Pourtant, c’est exactement comme ça qu’on s’informe aujourd’hui à Saguenay : un site pour les collectes, une carte pour les avis d’eau, un règlement pour le stationnement, Environnement Canada pour la météo, Hydro-Québec pour le courant, et six autres adresses encore. Quand on n’y passe pas au bon moment, on manque l’avis : en 2025, les appels de la Ville ont joint 64,7 % des résidences visées par un avis d’eau.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Saguenay Aujourd’hui, c’est la maison où tout est sous le même toit. L’app va chercher l’information à la source, toute seule : la Ville, la STS, Hydro-Québec, Environnement Canada, le ministère de la Santé, Québec 511, la qualité de l’air et la SOPFEU. Elle garde seulement ce qui touche votre adresse. Et surtout, vous n’avez plus à faire le tour : c’est la maison qui vous prévient. Ce soir, l’auto hors de la rue. Demain, le bac bleu. Et si l’eau est touchée, vous le savez tout de suite, même sans ouvrir l’app.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est simple. Une seule place qui fait le tri. Concrètement, c’est un widget sur l’écran d’accueil du téléphone : on n’a même pas besoin d’ouvrir l’app. Il montre seulement ce qui concerne ton adresse, à l’heure qu’il est. Ce soir-là, il dit : pas d’auto dans la rue cette nuit, et les ordures passent demain. C’est gratuit, sans pub et sans compte, et l’adresse ne quitte jamais le téléphone.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ce que l’app réunit : douze sources, toutes lues en direct. De la Ville : le calendrier des collectes pour l’adresse, le règlement du stationnement de nuit, la carte des avis d’eau, zone par zone, et la carte de circulation pour les travaux. Puis l’horaire et les retards de la STS, les urgences du ministère de la Santé, la météo et les alertes d’Environnement Canada, les pannes et coupures d’Hydro-Québec, et l’état des routes de Québec 511, avec les caméras. Trois sources se sont ajoutées : la qualité de l’air des deux stations de Saguenay, les interdictions de feux de la SOPFEU et les pointes d’hiver d’Hydro-Québec. Celles-là restent cachées tant qu’elles ne touchent pas l’adresse : un air bon ne prend aucune place. Avant, il fallait aller voir chacune de ces sources. Ici, l’app les lit pour ton adresse et ne garde en haut de l’écran que la plus importante à l’heure qu’il 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rend l’app utile, c’est qu’elle change selon le moment. Le dimanche soir en hiver, c’est le stationnement qui passe en premier, parce que minuit approche. Le mercredi matin, c’est le bus. Et dès qu’un avis d’ébullition touche l’adresse, il passe avant tout le reste. Ce ne sont pas des algorithmes compliqués : ce sont des règles simples, qu’on peut expliquer à n’importe qui et ajuster avec vous.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projet, c’est le widget. L’app lui donne d’avance tout ce qui va se passer les sept prochains jours, une entrée par changement. Le widget passe tout seul à la bonne information, à la minute près, même si on n’ouvre jamais l’app et même sans réseau. Ici, c’est ce qu’il affichait lundi à 15 h : il est passé de lui-même du bus de 15 h 16 au rappel du bac bleu, et il annonce déjà la suite. Je l’ai vérifié sur un téléphone Android, en version finale. Un toucher ouvre directement la bonne fiche dans l’app.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 ne parle pas seulement de ce qui arrive maintenant : elle voit venir la semaine. Quand Environnement Canada émet un avertissement de neige, il passe en premier, avec un conseil concret pour l’auto et le déneigement. Quand Hydro-Québec planifie une coupure de courant dans le secteur, l’app la montre et envoie un rappel la veille au soir. Et chaque dimanche à 18 h, une seule notification résume la semaine : le recyclage mardi, les travaux sur la rue. Les exemples de tempête et de coupure sont des mises en situation, mais les deux sources sont déjà branchées et lues en direct.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on a une question, on peut la poser à l’app. La plupart des réponses sont calculées sur le téléphone, sans réseau : par exemple, une boîte de pizza va au bac brun, et la réponse vient directement des pages de tri de la Ville. Pour un objet que l’app ne connaît pas, on peut prendre une photo : un assistant en ligne, qui passe par notre serveur, répond en suivant les mêmes règles et dit franchement quand il déduit. Il reçoit seulement le secteur, jamais l’adresse. Le même assistant lit les communiqués de la Ville, qui sont publiés en PDF, et dit en deux phrases ce que ça change pour les gens. Hors de chez soi, l’app peut aussi montrer le bus de l’arrêt le plus proche, si on le choisit : la position reste sur le téléphone. Elle aide aussi à signaler un problème à la Ville, met les collectes dans le calendrier du téléphone, garde plusieurs adresses, et attend 7 h pour les alertes qui ne pressent pas la nuit.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qu’on a appris en écoutant les gens : un avis d’eau doit atteindre toute une maisonnée, et pas seulement la personne qui a installé l’app. En 2025, les appels automatisés de la Ville ont joint 64,7 % des résidences visées par un avis d’eau, et le taux baisse d’une année à l’autre. Alors chaque adresse gardée peut porter un nom, comme « Chez maman » ou « Chalet », et l’app surveille ses avis d’eau et ses pannes en arrière-plan, toutes les heures, sans qu’on ait besoin de l’afficher. Pour la maisonnée, on partage l’adresse par texto : le lien l’ajoute chez l’autre, sans compte, après confirmation. Et pour quelqu’un qui n’a pas de téléphone intelligent, on écrit son adresse par texto, ou on la dit au téléphone, et on reçoit la journée en quelques phrases. Ni le numéro ni l’adresse ne sont conservés.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outil qu’on consulte tous les jours doit être fiable. Ce que l’app a déjà lu reste sur le téléphone : le stationnement, les collectes de l’adresse, trois semaines d’horaire du bus, les avis et les coupures déjà connus marchent sans réseau, et le widget connaît les sept prochains jours. La météo, les pannes en cours, les routes, les urgences et les retards du bus ont besoin du réseau : sans lui, l’app montre le dernier relevé avec son heure, sans faire semblant. Une vérification se fait chaque heure en arrière-plan, alors les alertes arrivent même quand l’app est fermée. Le projet compte 347 tests automatiques, dont plusieurs sur les vraies réponses enregistrées de chaque source, et je l’ai vérifié sur un téléphone Android en version finale. L’adresse ne quitte jamais le téléphone : pas de compte, pas de nuage.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où on en est : tout est branché et fonctionne aujourd’hui, en direct. Une partie vient de données déjà ouvertes, que je peux publier dès maintenant : le stationnement et les travaux, les urgences et les routes, la météo, la qualité de l’air, les interdictions de feux, l’électricité et ses pointes d’hiver. Les collectes, les avis d’aqueduc et le bus marchent aussi, pour n’importe quelle adresse, mais je ne veux pas les publier sans votre accord : c’est ce que je viens vous demander. Et une chose n’est pas possible pour l’instant : savoir quand la déneigeuse passe dans sa rue. J’y reviens à la fin.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Ville, l’intérêt principal, c’est la portée des avis d’aqueduc. Aujourd’hui, ils rejoignent les gens inscrits aux appels automatisés. Dans votre propre carte des avis, ce matin, 2 734 résidences avaient été jointes sur 3 982 visées. Je lis peut-être mal ces champs, alors j’aimerais qu’on le vérifie ensemble. Tout est déjà branché sur vos pages publiques : le calendrier des collectes pour n’importe quelle adresse, et la carte des avis, zone par zone. Ce que je vous demande est simple : un accord écrit pour publier ces deux sources dans l’app, idéalement leur publication sur Données Québec comme le fait Repentigny, et votre accord sur le nom. Ça ne vous coûte rien, et je n’ai pas besoin d’intégration de votre côté.</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STS, je veux d’abord dire que votre nouveau système publie des données de très bonne qualité. Les heures que vous voyez à droite sortent directement de votre flux, pour l’arrêt 150, Racine Est. Je ne veux pas remplacer Transit : pour planifier un trajet, l’app renvoie vers Transit. Ce que j’ajoute, c’est le prochain départ de son arrêt directement sur l’écran d’accueil, ce que Transit ne peut plus offrir sur iPhone. L’app lit déjà votre horaire et vos retards en temps réel, et elle les garde trois semaines pour marcher sans réseau. Il me manque seulement une licence, idéalement CC BY 4.0 comme à Montréal et à Laval.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D’autres partenaires peuvent aider. Promotion Saguenay a des fonds numériques ; je dois encore vérifier si un projet comme celui-ci est admissible. L’UQAC et les cégeps peuvent y trouver des projets étudiants concrets. Et SaguenayCollecte, qui fait déjà très bien les collectes : je préfère qu’on se renvoie les usagers plutôt que de se faire concurrence.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suite, je vise une première version publique à la mi-décembre, avec les sources déjà ouvertes et celles pour lesquelles j’aurai reçu votre accord. Comme tout est déjà branché, le reste peut s’ajouter dès que les accords arrivent, idéalement en janvier, avec la version web. En avril, je ferai le bilan de l’hiver et je le partagerai avec la Ville, avec les chiffres d’utilisation.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temps. Si vous voulez, on peut regarder la démo ensemble maintenant : on choisit une adresse et une heure, et on voit le widget changer avec de vraies données. Je vous laisse aussi le lien pour la regarder de votre côté.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FFD0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3143250"/>
            <a:ext cx="10566400" cy="825500"/>
          </a:xfrm>
          <a:prstGeom prst="rect">
            <a:avLst/>
          </a:prstGeom>
          <a:noFill/>
          <a:ln/>
        </p:spPr>
        <p:txBody>
          <a:bodyPr wrap="square" rtlCol="0"/>
          <a:lstStyle>
            <a:lvl1pPr marL="0" indent="0" algn="l">
              <a:lnSpc>
                <a:spcPct val="102000"/>
              </a:lnSpc>
              <a:buNone/>
              <a:defRPr lang="en-US" sz="6000" b="1" dirty="0">
                <a:solidFill>
                  <a:srgbClr val="1A1906"/>
                </a:solidFill>
              </a:defRPr>
            </a:lvl1pPr>
          </a:lstStyle>
          <a:p>
            <a:pPr marL="0" indent="0" algn="l">
              <a:lnSpc>
                <a:spcPct val="102000"/>
              </a:lnSpc>
              <a:buNone/>
            </a:pPr>
            <a:r>
              <a:rPr lang="en-US" sz="6000" b="1" dirty="0">
                <a:solidFill>
                  <a:srgbClr val="1A1906"/>
                </a:solidFill>
              </a:rPr>
              <a:t>Titre</a:t>
            </a: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ERCI">
    <p:bg>
      <p:bgPr>
        <a:solidFill>
          <a:srgbClr val="FFD0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2425700"/>
            <a:ext cx="10566400" cy="825500"/>
          </a:xfrm>
          <a:prstGeom prst="rect">
            <a:avLst/>
          </a:prstGeom>
          <a:noFill/>
          <a:ln/>
        </p:spPr>
        <p:txBody>
          <a:bodyPr wrap="square" rtlCol="0"/>
          <a:lstStyle>
            <a:lvl1pPr marL="0" indent="0" algn="l">
              <a:lnSpc>
                <a:spcPct val="102000"/>
              </a:lnSpc>
              <a:buNone/>
              <a:defRPr lang="en-US" sz="6000" b="1" dirty="0">
                <a:solidFill>
                  <a:srgbClr val="1A1906"/>
                </a:solidFill>
              </a:defRPr>
            </a:lvl1pPr>
          </a:lstStyle>
          <a:p>
            <a:pPr marL="0" indent="0" algn="l">
              <a:lnSpc>
                <a:spcPct val="102000"/>
              </a:lnSpc>
              <a:buNone/>
            </a:pPr>
            <a:r>
              <a:rPr lang="en-US" sz="6000" b="1" dirty="0">
                <a:solidFill>
                  <a:srgbClr val="1A1906"/>
                </a:solidFill>
              </a:rPr>
              <a:t>Titre</a:t>
            </a: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CENE">
    <p:bg>
      <p:bgPr>
        <a:solidFill>
          <a:srgbClr val="12141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2101850"/>
            <a:ext cx="9525000" cy="1587500"/>
          </a:xfrm>
          <a:prstGeom prst="rect">
            <a:avLst/>
          </a:prstGeom>
          <a:noFill/>
          <a:ln/>
        </p:spPr>
        <p:txBody>
          <a:bodyPr wrap="square" rtlCol="0"/>
          <a:lstStyle>
            <a:lvl1pPr marL="0" indent="0" algn="l">
              <a:lnSpc>
                <a:spcPct val="102000"/>
              </a:lnSpc>
              <a:buNone/>
              <a:defRPr lang="en-US" sz="3600" b="1" dirty="0">
                <a:solidFill>
                  <a:srgbClr val="F1F2F3"/>
                </a:solidFill>
              </a:defRPr>
            </a:lvl1pPr>
          </a:lstStyle>
          <a:p>
            <a:pPr marL="0" indent="0" algn="l">
              <a:lnSpc>
                <a:spcPct val="102000"/>
              </a:lnSpc>
              <a:buNone/>
            </a:pPr>
            <a:r>
              <a:rPr lang="en-US" sz="3600" b="1" dirty="0">
                <a:solidFill>
                  <a:srgbClr val="F1F2F3"/>
                </a:solidFill>
              </a:rPr>
              <a:t>Titre</a:t>
            </a:r>
            <a:endParaRPr lang="en-US" sz="3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D848B"/>
                </a:solidFill>
              </a:defRPr>
            </a:lvl1pPr>
          </a:lstStyle>
          <a:p>
            <a:pPr algn="l"/>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DEE">
    <p:bg>
      <p:bgPr>
        <a:solidFill>
          <a:srgbClr val="F1F2E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1797050"/>
            <a:ext cx="6350000" cy="1047750"/>
          </a:xfrm>
          <a:prstGeom prst="rect">
            <a:avLst/>
          </a:prstGeom>
          <a:noFill/>
          <a:ln/>
        </p:spPr>
        <p:txBody>
          <a:bodyPr wrap="square" rtlCol="0"/>
          <a:lstStyle>
            <a:lvl1pPr marL="0" indent="0" algn="l">
              <a:lnSpc>
                <a:spcPct val="102000"/>
              </a:lnSpc>
              <a:buNone/>
              <a:defRPr lang="en-US" sz="3600" b="1" dirty="0">
                <a:solidFill>
                  <a:srgbClr val="121417"/>
                </a:solidFill>
              </a:defRPr>
            </a:lvl1pPr>
          </a:lstStyle>
          <a:p>
            <a:pPr marL="0" indent="0" algn="l">
              <a:lnSpc>
                <a:spcPct val="102000"/>
              </a:lnSpc>
              <a:buNone/>
            </a:pPr>
            <a:r>
              <a:rPr lang="en-US" sz="3600" b="1" dirty="0">
                <a:solidFill>
                  <a:srgbClr val="121417"/>
                </a:solidFill>
              </a:rPr>
              <a:t>Titre</a:t>
            </a:r>
            <a:endParaRPr lang="en-US" sz="3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APIER">
    <p:bg>
      <p:bgPr>
        <a:solidFill>
          <a:srgbClr val="FBFB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rtlCol="0"/>
          <a:lstStyle>
            <a:lvl1pPr marL="0" indent="0" algn="l">
              <a:lnSpc>
                <a:spcPct val="102000"/>
              </a:lnSpc>
              <a:buNone/>
              <a:defRPr lang="en-US" sz="3600" b="1" dirty="0">
                <a:solidFill>
                  <a:srgbClr val="121417"/>
                </a:solidFill>
              </a:defRPr>
            </a:lvl1pPr>
          </a:lstStyle>
          <a:p>
            <a:pPr marL="0" indent="0" algn="l">
              <a:lnSpc>
                <a:spcPct val="102000"/>
              </a:lnSpc>
              <a:buNone/>
            </a:pPr>
            <a:r>
              <a:rPr lang="en-US" sz="3600" b="1" dirty="0">
                <a:solidFill>
                  <a:srgbClr val="121417"/>
                </a:solidFill>
              </a:rPr>
              <a:t>Titre</a:t>
            </a:r>
            <a:endParaRPr lang="en-US" sz="3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APIER_PARTENAIRE">
    <p:bg>
      <p:bgPr>
        <a:solidFill>
          <a:srgbClr val="FBFB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1092200"/>
            <a:ext cx="10566400" cy="635000"/>
          </a:xfrm>
          <a:prstGeom prst="rect">
            <a:avLst/>
          </a:prstGeom>
          <a:noFill/>
          <a:ln/>
        </p:spPr>
        <p:txBody>
          <a:bodyPr wrap="square" rtlCol="0"/>
          <a:lstStyle>
            <a:lvl1pPr marL="0" indent="0" algn="l">
              <a:lnSpc>
                <a:spcPct val="102000"/>
              </a:lnSpc>
              <a:buNone/>
              <a:defRPr lang="en-US" sz="3600" b="1" dirty="0">
                <a:solidFill>
                  <a:srgbClr val="121417"/>
                </a:solidFill>
              </a:defRPr>
            </a:lvl1pPr>
          </a:lstStyle>
          <a:p>
            <a:pPr marL="0" indent="0" algn="l">
              <a:lnSpc>
                <a:spcPct val="102000"/>
              </a:lnSpc>
              <a:buNone/>
            </a:pPr>
            <a:r>
              <a:rPr lang="en-US" sz="3600" b="1" dirty="0">
                <a:solidFill>
                  <a:srgbClr val="121417"/>
                </a:solidFill>
              </a:rPr>
              <a:t>Titre</a:t>
            </a:r>
            <a:endParaRPr lang="en-US" sz="3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AIR">
    <p:bg>
      <p:bgPr>
        <a:solidFill>
          <a:srgbClr val="F1F2E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rtlCol="0"/>
          <a:lstStyle>
            <a:lvl1pPr marL="0" indent="0" algn="l">
              <a:lnSpc>
                <a:spcPct val="102000"/>
              </a:lnSpc>
              <a:buNone/>
              <a:defRPr lang="en-US" sz="3600" b="1" dirty="0">
                <a:solidFill>
                  <a:srgbClr val="121417"/>
                </a:solidFill>
              </a:defRPr>
            </a:lvl1pPr>
          </a:lstStyle>
          <a:p>
            <a:pPr marL="0" indent="0" algn="l">
              <a:lnSpc>
                <a:spcPct val="102000"/>
              </a:lnSpc>
              <a:buNone/>
            </a:pPr>
            <a:r>
              <a:rPr lang="en-US" sz="3600" b="1" dirty="0">
                <a:solidFill>
                  <a:srgbClr val="121417"/>
                </a:solidFill>
              </a:rPr>
              <a:t>Titre</a:t>
            </a:r>
            <a:endParaRPr lang="en-US" sz="3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AIR_PARTENAIRE">
    <p:bg>
      <p:bgPr>
        <a:solidFill>
          <a:srgbClr val="F1F2E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1092200"/>
            <a:ext cx="10566400" cy="635000"/>
          </a:xfrm>
          <a:prstGeom prst="rect">
            <a:avLst/>
          </a:prstGeom>
          <a:noFill/>
          <a:ln/>
        </p:spPr>
        <p:txBody>
          <a:bodyPr wrap="square" rtlCol="0"/>
          <a:lstStyle>
            <a:lvl1pPr marL="0" indent="0" algn="l">
              <a:lnSpc>
                <a:spcPct val="102000"/>
              </a:lnSpc>
              <a:buNone/>
              <a:defRPr lang="en-US" sz="3600" b="1" dirty="0">
                <a:solidFill>
                  <a:srgbClr val="121417"/>
                </a:solidFill>
              </a:defRPr>
            </a:lvl1pPr>
          </a:lstStyle>
          <a:p>
            <a:pPr marL="0" indent="0" algn="l">
              <a:lnSpc>
                <a:spcPct val="102000"/>
              </a:lnSpc>
              <a:buNone/>
            </a:pPr>
            <a:r>
              <a:rPr lang="en-US" sz="3600" b="1" dirty="0">
                <a:solidFill>
                  <a:srgbClr val="121417"/>
                </a:solidFill>
              </a:rPr>
              <a:t>Titre</a:t>
            </a:r>
            <a:endParaRPr lang="en-US" sz="3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OMBRE">
    <p:bg>
      <p:bgPr>
        <a:solidFill>
          <a:srgbClr val="12141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rtlCol="0"/>
          <a:lstStyle>
            <a:lvl1pPr marL="0" indent="0" algn="l">
              <a:lnSpc>
                <a:spcPct val="102000"/>
              </a:lnSpc>
              <a:buNone/>
              <a:defRPr lang="en-US" sz="3600" b="1" dirty="0">
                <a:solidFill>
                  <a:srgbClr val="F1F2F3"/>
                </a:solidFill>
              </a:defRPr>
            </a:lvl1pPr>
          </a:lstStyle>
          <a:p>
            <a:pPr marL="0" indent="0" algn="l">
              <a:lnSpc>
                <a:spcPct val="102000"/>
              </a:lnSpc>
              <a:buNone/>
            </a:pPr>
            <a:r>
              <a:rPr lang="en-US" sz="3600" b="1" dirty="0">
                <a:solidFill>
                  <a:srgbClr val="F1F2F3"/>
                </a:solidFill>
              </a:rPr>
              <a:t>Titre</a:t>
            </a:r>
            <a:endParaRPr lang="en-US" sz="3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A9198"/>
                </a:solidFill>
              </a:defRPr>
            </a:lvl1pPr>
          </a:lstStyle>
          <a:p>
            <a:pPr algn="l"/>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D848B"/>
                </a:solidFill>
              </a:defRPr>
            </a:lvl1pPr>
          </a:lstStyle>
          <a:p>
            <a:pPr algn="l"/>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9.sv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3143250"/>
            <a:ext cx="10566400" cy="825500"/>
          </a:xfrm>
          <a:prstGeom prst="rect">
            <a:avLst/>
          </a:prstGeom>
          <a:noFill/>
          <a:ln/>
        </p:spPr>
        <p:txBody>
          <a:bodyPr wrap="square" lIns="0" tIns="0" rIns="0" bIns="0" rtlCol="0" anchor="t"/>
          <a:lstStyle/>
          <a:p>
            <a:pPr marL="0" indent="0" algn="l">
              <a:lnSpc>
                <a:spcPct val="102000"/>
              </a:lnSpc>
              <a:buNone/>
            </a:pPr>
            <a:r>
              <a:rPr lang="en-US" sz="6000" b="1" dirty="0">
                <a:solidFill>
                  <a:srgbClr val="1A1906"/>
                </a:solidFill>
              </a:rPr>
              <a:t>Saguenay Aujourd’hui</a:t>
            </a:r>
            <a:endParaRPr lang="en-US" sz="6000" dirty="0"/>
          </a:p>
        </p:txBody>
      </p:sp>
      <p:pic>
        <p:nvPicPr>
          <p:cNvPr id="4" name="Image 0" descr="Logo de Saguenay Aujourd’hui, un soleil au-dessus d’une vague"/>
          <p:cNvPicPr>
            <a:picLocks noChangeAspect="1"/>
          </p:cNvPicPr>
          <p:nvPr/>
        </p:nvPicPr>
        <p:blipFill>
          <a:blip r:embed="rId3"/>
          <a:stretch>
            <a:fillRect/>
          </a:stretch>
        </p:blipFill>
        <p:spPr>
          <a:xfrm>
            <a:off x="812800" y="2025650"/>
            <a:ext cx="889000" cy="889000"/>
          </a:xfrm>
          <a:prstGeom prst="rect">
            <a:avLst/>
          </a:prstGeom>
        </p:spPr>
      </p:pic>
      <p:sp>
        <p:nvSpPr>
          <p:cNvPr id="5" name="Text 1"/>
          <p:cNvSpPr txBox="1"/>
          <p:nvPr/>
        </p:nvSpPr>
        <p:spPr>
          <a:xfrm>
            <a:off x="812800" y="4133850"/>
            <a:ext cx="6985000" cy="762000"/>
          </a:xfrm>
          <a:prstGeom prst="rect">
            <a:avLst/>
          </a:prstGeom>
          <a:noFill/>
          <a:ln/>
        </p:spPr>
        <p:txBody>
          <a:bodyPr wrap="square" lIns="0" tIns="0" rIns="0" bIns="0" rtlCol="0" anchor="t"/>
          <a:lstStyle/>
          <a:p>
            <a:pPr marL="0" indent="0" algn="l">
              <a:lnSpc>
                <a:spcPct val="120000"/>
              </a:lnSpc>
              <a:buNone/>
            </a:pPr>
            <a:r>
              <a:rPr lang="en-US" sz="2200" dirty="0">
                <a:solidFill>
                  <a:srgbClr val="1A1906"/>
                </a:solidFill>
              </a:rPr>
              <a:t>Une petite app pour savoir quoi faire aujourd’hui, à Saguenay.</a:t>
            </a:r>
            <a:endParaRPr lang="en-US" sz="2200" dirty="0"/>
          </a:p>
        </p:txBody>
      </p:sp>
      <p:sp>
        <p:nvSpPr>
          <p:cNvPr id="6" name="Text 2"/>
          <p:cNvSpPr txBox="1"/>
          <p:nvPr/>
        </p:nvSpPr>
        <p:spPr>
          <a:xfrm>
            <a:off x="812800" y="6286500"/>
            <a:ext cx="10566400" cy="215900"/>
          </a:xfrm>
          <a:prstGeom prst="rect">
            <a:avLst/>
          </a:prstGeom>
          <a:noFill/>
          <a:ln/>
        </p:spPr>
        <p:txBody>
          <a:bodyPr wrap="square" lIns="0" tIns="0" rIns="0" bIns="0" rtlCol="0" anchor="t"/>
          <a:lstStyle/>
          <a:p>
            <a:pPr marL="0" indent="0" algn="l">
              <a:lnSpc>
                <a:spcPct val="120000"/>
              </a:lnSpc>
              <a:buNone/>
            </a:pPr>
            <a:r>
              <a:rPr lang="en-US" sz="1200" dirty="0">
                <a:solidFill>
                  <a:srgbClr val="1A1906"/>
                </a:solidFill>
              </a:rPr>
              <a:t>Florent Akpa · Présenté à la Ville de Saguenay · automne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2101850"/>
            <a:ext cx="9525000" cy="1587500"/>
          </a:xfrm>
          <a:prstGeom prst="rect">
            <a:avLst/>
          </a:prstGeom>
          <a:noFill/>
          <a:ln/>
        </p:spPr>
        <p:txBody>
          <a:bodyPr wrap="square" lIns="0" tIns="0" rIns="0" bIns="0" rtlCol="0" anchor="t"/>
          <a:lstStyle/>
          <a:p>
            <a:pPr marL="0" indent="0" algn="l">
              <a:lnSpc>
                <a:spcPct val="102000"/>
              </a:lnSpc>
              <a:buNone/>
            </a:pPr>
            <a:r>
              <a:rPr lang="en-US" sz="3600" b="1" dirty="0">
                <a:solidFill>
                  <a:srgbClr val="F1F2F3"/>
                </a:solidFill>
              </a:rPr>
              <a:t>Le bac est encore dans l’entrée, l’auto est dans la rue, et tu ne sais plus si l’avis d’ébullition est levé.</a:t>
            </a:r>
            <a:endParaRPr lang="en-US" sz="3600" dirty="0"/>
          </a:p>
        </p:txBody>
      </p:sp>
      <p:sp>
        <p:nvSpPr>
          <p:cNvPr id="4" name="Text 1"/>
          <p:cNvSpPr txBox="1"/>
          <p:nvPr/>
        </p:nvSpPr>
        <p:spPr>
          <a:xfrm>
            <a:off x="812800" y="1606550"/>
            <a:ext cx="9525000" cy="279400"/>
          </a:xfrm>
          <a:prstGeom prst="rect">
            <a:avLst/>
          </a:prstGeom>
          <a:noFill/>
          <a:ln/>
        </p:spPr>
        <p:txBody>
          <a:bodyPr wrap="square" lIns="0" tIns="0" rIns="0" bIns="0" rtlCol="0" anchor="t"/>
          <a:lstStyle/>
          <a:p>
            <a:pPr marL="0" indent="0" algn="l">
              <a:lnSpc>
                <a:spcPct val="120000"/>
              </a:lnSpc>
              <a:buNone/>
            </a:pPr>
            <a:r>
              <a:rPr lang="en-US" sz="1600" b="1" dirty="0">
                <a:solidFill>
                  <a:srgbClr val="FFD02B"/>
                </a:solidFill>
              </a:rPr>
              <a:t>Dimanche, 21 h 30, mi-novembre</a:t>
            </a:r>
            <a:endParaRPr lang="en-US" sz="1600" dirty="0"/>
          </a:p>
        </p:txBody>
      </p:sp>
      <p:sp>
        <p:nvSpPr>
          <p:cNvPr id="5" name="Text 2"/>
          <p:cNvSpPr txBox="1"/>
          <p:nvPr/>
        </p:nvSpPr>
        <p:spPr>
          <a:xfrm>
            <a:off x="812800" y="3905250"/>
            <a:ext cx="8255000" cy="1270000"/>
          </a:xfrm>
          <a:prstGeom prst="rect">
            <a:avLst/>
          </a:prstGeom>
          <a:noFill/>
          <a:ln/>
        </p:spPr>
        <p:txBody>
          <a:bodyPr wrap="square" lIns="0" tIns="0" rIns="0" bIns="0" rtlCol="0" anchor="t"/>
          <a:lstStyle/>
          <a:p>
            <a:pPr marL="0" indent="0" algn="l">
              <a:lnSpc>
                <a:spcPct val="140000"/>
              </a:lnSpc>
              <a:buNone/>
            </a:pPr>
            <a:r>
              <a:rPr lang="en-US" sz="1600" dirty="0">
                <a:solidFill>
                  <a:srgbClr val="B3B9BF"/>
                </a:solidFill>
              </a:rPr>
              <a:t>Pour en avoir le cœur net, il faut fouiller le site de la Ville, te souvenir d’un appel automatisé, ouvrir la carte des avis, puis Transit, puis Québec.ca. Et s’il neige cette nuit, ou si le courant saute demain, c’est encore ailleurs.</a:t>
            </a:r>
            <a:endParaRPr lang="en-US" sz="16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7D8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Une maison pour chaque geste</a:t>
            </a:r>
            <a:endParaRPr lang="en-US" sz="3600" dirty="0"/>
          </a:p>
        </p:txBody>
      </p:sp>
      <p:sp>
        <p:nvSpPr>
          <p:cNvPr id="4" name="Text 1"/>
          <p:cNvSpPr txBox="1"/>
          <p:nvPr/>
        </p:nvSpPr>
        <p:spPr>
          <a:xfrm>
            <a:off x="812800" y="1358900"/>
            <a:ext cx="10566400" cy="292100"/>
          </a:xfrm>
          <a:prstGeom prst="rect">
            <a:avLst/>
          </a:prstGeom>
          <a:noFill/>
          <a:ln/>
        </p:spPr>
        <p:txBody>
          <a:bodyPr wrap="square" lIns="0" tIns="0" rIns="0" bIns="0" rtlCol="0" anchor="t"/>
          <a:lstStyle/>
          <a:p>
            <a:pPr marL="0" indent="0" algn="l">
              <a:lnSpc>
                <a:spcPct val="120000"/>
              </a:lnSpc>
              <a:buNone/>
            </a:pPr>
            <a:r>
              <a:rPr lang="en-US" sz="1600" dirty="0">
                <a:solidFill>
                  <a:srgbClr val="4A5056"/>
                </a:solidFill>
              </a:rPr>
              <a:t>La douche ici, la cuisine là-bas, le lit plus loin : personne ne vivrait comme ça.</a:t>
            </a:r>
            <a:endParaRPr lang="en-US" sz="1600" dirty="0"/>
          </a:p>
        </p:txBody>
      </p:sp>
      <p:sp>
        <p:nvSpPr>
          <p:cNvPr id="5" name="Text 2"/>
          <p:cNvSpPr txBox="1"/>
          <p:nvPr/>
        </p:nvSpPr>
        <p:spPr>
          <a:xfrm>
            <a:off x="812800" y="5549900"/>
            <a:ext cx="105664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C’est pourtant comme ça qu’on s’informe : une adresse par besoin, et l’avis qu’on n’a pas vu.</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3</a:t>
            </a:fld>
            <a:endParaRPr lang="en-US"/>
          </a:p>
        </p:txBody>
      </p:sp>
      <p:pic>
        <p:nvPicPr>
          <p:cNvPr id="6" name="m_base">
            <a:extLst>
              <a:ext uri="{FF2B5EF4-FFF2-40B4-BE49-F238E27FC236}">
                <a16:creationId xmlns:a16="http://schemas.microsoft.com/office/drawing/2014/main" id="{004E2B09-7CC7-B20B-4466-806206D8907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12800" y="1841500"/>
            <a:ext cx="9245600" cy="3556000"/>
          </a:xfrm>
          <a:prstGeom prst="rect">
            <a:avLst/>
          </a:prstGeom>
        </p:spPr>
      </p:pic>
      <p:pic>
        <p:nvPicPr>
          <p:cNvPr id="8" name="m_gestes">
            <a:extLst>
              <a:ext uri="{FF2B5EF4-FFF2-40B4-BE49-F238E27FC236}">
                <a16:creationId xmlns:a16="http://schemas.microsoft.com/office/drawing/2014/main" id="{74612E0E-988E-A902-D0A6-D5262937F65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12800" y="1841500"/>
            <a:ext cx="9245600" cy="3556000"/>
          </a:xfrm>
          <a:prstGeom prst="rect">
            <a:avLst/>
          </a:prstGeom>
        </p:spPr>
      </p:pic>
      <p:pic>
        <p:nvPicPr>
          <p:cNvPr id="10" name="m_sources">
            <a:extLst>
              <a:ext uri="{FF2B5EF4-FFF2-40B4-BE49-F238E27FC236}">
                <a16:creationId xmlns:a16="http://schemas.microsoft.com/office/drawing/2014/main" id="{B2E4CA49-47FE-4046-1421-7EAA1556D40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12800" y="1841500"/>
            <a:ext cx="9245600" cy="3556000"/>
          </a:xfrm>
          <a:prstGeom prst="rect">
            <a:avLst/>
          </a:prstGeom>
        </p:spPr>
      </p:pic>
      <p:pic>
        <p:nvPicPr>
          <p:cNvPr id="12" name="m_alerte">
            <a:extLst>
              <a:ext uri="{FF2B5EF4-FFF2-40B4-BE49-F238E27FC236}">
                <a16:creationId xmlns:a16="http://schemas.microsoft.com/office/drawing/2014/main" id="{E2A71B0C-9FCC-1F6D-D5F6-938A8ADD89C8}"/>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2800" y="1841500"/>
            <a:ext cx="9245600" cy="3556000"/>
          </a:xfrm>
          <a:prstGeom prst="rect">
            <a:avLst/>
          </a:prstGeom>
        </p:spPr>
      </p:pic>
      <p:pic>
        <p:nvPicPr>
          <p:cNvPr id="14" name="m_personne">
            <a:extLst>
              <a:ext uri="{FF2B5EF4-FFF2-40B4-BE49-F238E27FC236}">
                <a16:creationId xmlns:a16="http://schemas.microsoft.com/office/drawing/2014/main" id="{778821C8-4DE8-ABF7-B192-EB0A4DCBB30E}"/>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812800" y="1841500"/>
            <a:ext cx="92456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4" presetClass="path" presetSubtype="0" accel="50000" decel="50000" fill="hold" nodeType="afterEffect">
                                  <p:stCondLst>
                                    <p:cond delay="600"/>
                                  </p:stCondLst>
                                  <p:childTnLst>
                                    <p:animMotion origin="layout" path="M 0 0 C 0.0473 0.0156 0.0610 -0.1788 0.1408 -0.2183 C 0.1567 -0.0897 0.2023 0.0318 0.2770 -0.0216 C 0.3344 -0.0654 0.3344 -0.2274 0.3944 -0.2557 C 0.4256 -0.1464 0.4483 -0.0087 0.5175 -0.0546 C 0.5760 -0.0897 0.5668 -0.2274 0.6098 -0.2591 E" pathEditMode="relative" ptsTypes="">
                                      <p:cBhvr>
                                        <p:cTn id="6" dur="7000" fill="hold"/>
                                        <p:tgtEl>
                                          <p:spTgt spid="1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500"/>
                            </p:stCondLst>
                            <p:childTnLst>
                              <p:par>
                                <p:cTn id="16" presetID="10" presetClass="entr" presetSubtype="0" fill="hold" nodeType="afterEffect">
                                  <p:stCondLst>
                                    <p:cond delay="70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Une seule maison, qui te prévient</a:t>
            </a:r>
            <a:endParaRPr lang="en-US" sz="3600" dirty="0"/>
          </a:p>
        </p:txBody>
      </p:sp>
      <p:sp>
        <p:nvSpPr>
          <p:cNvPr id="4" name="Text 1"/>
          <p:cNvSpPr txBox="1"/>
          <p:nvPr/>
        </p:nvSpPr>
        <p:spPr>
          <a:xfrm>
            <a:off x="812800" y="1358900"/>
            <a:ext cx="10566400" cy="292100"/>
          </a:xfrm>
          <a:prstGeom prst="rect">
            <a:avLst/>
          </a:prstGeom>
          <a:noFill/>
          <a:ln/>
        </p:spPr>
        <p:txBody>
          <a:bodyPr wrap="square" lIns="0" tIns="0" rIns="0" bIns="0" rtlCol="0" anchor="t"/>
          <a:lstStyle/>
          <a:p>
            <a:pPr marL="0" indent="0" algn="l">
              <a:lnSpc>
                <a:spcPct val="120000"/>
              </a:lnSpc>
              <a:buNone/>
            </a:pPr>
            <a:r>
              <a:rPr lang="en-US" sz="1600" dirty="0">
                <a:solidFill>
                  <a:srgbClr val="4A5056"/>
                </a:solidFill>
              </a:rPr>
              <a:t>L’app va chercher l’information à la source, pour ton adresse, et te fait signe au bon moment.</a:t>
            </a:r>
            <a:endParaRPr lang="en-US" sz="1600" dirty="0"/>
          </a:p>
        </p:txBody>
      </p:sp>
      <p:sp>
        <p:nvSpPr>
          <p:cNvPr id="5" name="Text 2"/>
          <p:cNvSpPr txBox="1"/>
          <p:nvPr/>
        </p:nvSpPr>
        <p:spPr>
          <a:xfrm>
            <a:off x="812800" y="5549900"/>
            <a:ext cx="105664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Rien à aller chercher : l’information vient à toi, même quand tu n’ouvres pas l’app.</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4</a:t>
            </a:fld>
            <a:endParaRPr lang="en-US"/>
          </a:p>
        </p:txBody>
      </p:sp>
      <p:pic>
        <p:nvPicPr>
          <p:cNvPr id="6" name="u_fond">
            <a:extLst>
              <a:ext uri="{FF2B5EF4-FFF2-40B4-BE49-F238E27FC236}">
                <a16:creationId xmlns:a16="http://schemas.microsoft.com/office/drawing/2014/main" id="{B8BB426D-7241-2097-42C2-3183AAFB209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12800" y="1841500"/>
            <a:ext cx="9245600" cy="3556000"/>
          </a:xfrm>
          <a:prstGeom prst="rect">
            <a:avLst/>
          </a:prstGeom>
        </p:spPr>
      </p:pic>
      <p:pic>
        <p:nvPicPr>
          <p:cNvPr id="8" name="u_flux">
            <a:extLst>
              <a:ext uri="{FF2B5EF4-FFF2-40B4-BE49-F238E27FC236}">
                <a16:creationId xmlns:a16="http://schemas.microsoft.com/office/drawing/2014/main" id="{C22CD14A-701E-4819-2FDA-F742EBB48A0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812800" y="1841500"/>
            <a:ext cx="9245600" cy="3556000"/>
          </a:xfrm>
          <a:prstGeom prst="rect">
            <a:avLst/>
          </a:prstGeom>
        </p:spPr>
      </p:pic>
      <p:pic>
        <p:nvPicPr>
          <p:cNvPr id="10" name="u_sources">
            <a:extLst>
              <a:ext uri="{FF2B5EF4-FFF2-40B4-BE49-F238E27FC236}">
                <a16:creationId xmlns:a16="http://schemas.microsoft.com/office/drawing/2014/main" id="{2ACCE153-1FBC-A253-6B7D-4D621BA25B8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12800" y="1841500"/>
            <a:ext cx="9245600" cy="3556000"/>
          </a:xfrm>
          <a:prstGeom prst="rect">
            <a:avLst/>
          </a:prstGeom>
        </p:spPr>
      </p:pic>
      <p:pic>
        <p:nvPicPr>
          <p:cNvPr id="12" name="u_maison">
            <a:extLst>
              <a:ext uri="{FF2B5EF4-FFF2-40B4-BE49-F238E27FC236}">
                <a16:creationId xmlns:a16="http://schemas.microsoft.com/office/drawing/2014/main" id="{4E885E2F-DE5E-7EB9-C23E-E74078F0F2A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2800" y="1841500"/>
            <a:ext cx="9245600" cy="3556000"/>
          </a:xfrm>
          <a:prstGeom prst="rect">
            <a:avLst/>
          </a:prstGeom>
        </p:spPr>
      </p:pic>
      <p:pic>
        <p:nvPicPr>
          <p:cNvPr id="14" name="u_personne">
            <a:extLst>
              <a:ext uri="{FF2B5EF4-FFF2-40B4-BE49-F238E27FC236}">
                <a16:creationId xmlns:a16="http://schemas.microsoft.com/office/drawing/2014/main" id="{9FDE2160-80E7-951F-3034-36FADB833938}"/>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812800" y="1841500"/>
            <a:ext cx="9245600" cy="3556000"/>
          </a:xfrm>
          <a:prstGeom prst="rect">
            <a:avLst/>
          </a:prstGeom>
        </p:spPr>
      </p:pic>
      <p:pic>
        <p:nvPicPr>
          <p:cNvPr id="16" name="u_bulle0">
            <a:extLst>
              <a:ext uri="{FF2B5EF4-FFF2-40B4-BE49-F238E27FC236}">
                <a16:creationId xmlns:a16="http://schemas.microsoft.com/office/drawing/2014/main" id="{CC8E6775-40A5-360D-9365-71D2D1D26E15}"/>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812800" y="1841500"/>
            <a:ext cx="9245600" cy="3556000"/>
          </a:xfrm>
          <a:prstGeom prst="rect">
            <a:avLst/>
          </a:prstGeom>
        </p:spPr>
      </p:pic>
      <p:pic>
        <p:nvPicPr>
          <p:cNvPr id="18" name="u_bulle1">
            <a:extLst>
              <a:ext uri="{FF2B5EF4-FFF2-40B4-BE49-F238E27FC236}">
                <a16:creationId xmlns:a16="http://schemas.microsoft.com/office/drawing/2014/main" id="{0E3B07E0-C630-0333-F75F-EB377B2161BB}"/>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812800" y="1841500"/>
            <a:ext cx="9245600" cy="3556000"/>
          </a:xfrm>
          <a:prstGeom prst="rect">
            <a:avLst/>
          </a:prstGeom>
        </p:spPr>
      </p:pic>
      <p:pic>
        <p:nvPicPr>
          <p:cNvPr id="20" name="u_bulle2">
            <a:extLst>
              <a:ext uri="{FF2B5EF4-FFF2-40B4-BE49-F238E27FC236}">
                <a16:creationId xmlns:a16="http://schemas.microsoft.com/office/drawing/2014/main" id="{BD983AF2-8DEB-9F1E-EF7B-4248E318C547}"/>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812800" y="1841500"/>
            <a:ext cx="92456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par>
                          <p:cTn id="8" fill="hold">
                            <p:stCondLst>
                              <p:cond delay="9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200"/>
                                        <p:tgtEl>
                                          <p:spTgt spid="8"/>
                                        </p:tgtEl>
                                      </p:cBhvr>
                                    </p:animEffect>
                                  </p:childTnLst>
                                </p:cTn>
                              </p:par>
                            </p:childTnLst>
                          </p:cTn>
                        </p:par>
                        <p:par>
                          <p:cTn id="12" fill="hold">
                            <p:stCondLst>
                              <p:cond delay="2100"/>
                            </p:stCondLst>
                            <p:childTnLst>
                              <p:par>
                                <p:cTn id="13" presetID="10" presetClass="entr" presetSubtype="0" fill="hold"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par>
                          <p:cTn id="16" fill="hold">
                            <p:stCondLst>
                              <p:cond delay="3000"/>
                            </p:stCondLst>
                            <p:childTnLst>
                              <p:par>
                                <p:cTn id="17" presetID="10" presetClass="entr" presetSubtype="0" fill="hold" nodeType="after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childTnLst>
                          </p:cTn>
                        </p:par>
                        <p:par>
                          <p:cTn id="20" fill="hold">
                            <p:stCondLst>
                              <p:cond delay="3900"/>
                            </p:stCondLst>
                            <p:childTnLst>
                              <p:par>
                                <p:cTn id="21" presetID="10" presetClass="entr" presetSubtype="0" fill="hold" nodeType="afterEffect">
                                  <p:stCondLst>
                                    <p:cond delay="5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1797050"/>
            <a:ext cx="6350000" cy="104775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Une seule place, qui fait le tri pour toi</a:t>
            </a:r>
            <a:endParaRPr lang="en-US" sz="3600" dirty="0"/>
          </a:p>
        </p:txBody>
      </p:sp>
      <p:sp>
        <p:nvSpPr>
          <p:cNvPr id="4" name="Text 1"/>
          <p:cNvSpPr txBox="1"/>
          <p:nvPr/>
        </p:nvSpPr>
        <p:spPr>
          <a:xfrm>
            <a:off x="812800" y="2984500"/>
            <a:ext cx="6223000" cy="952500"/>
          </a:xfrm>
          <a:prstGeom prst="rect">
            <a:avLst/>
          </a:prstGeom>
          <a:noFill/>
          <a:ln/>
        </p:spPr>
        <p:txBody>
          <a:bodyPr wrap="square" lIns="0" tIns="0" rIns="0" bIns="0" rtlCol="0" anchor="t"/>
          <a:lstStyle/>
          <a:p>
            <a:pPr marL="0" indent="0" algn="l">
              <a:lnSpc>
                <a:spcPct val="140000"/>
              </a:lnSpc>
              <a:buNone/>
            </a:pPr>
            <a:r>
              <a:rPr lang="en-US" sz="1600" dirty="0">
                <a:solidFill>
                  <a:srgbClr val="4A5056"/>
                </a:solidFill>
              </a:rPr>
              <a:t>Un widget sur l’écran d’accueil. Il montre seulement ce qui concerne ton adresse, à l’heure qu’il est, et il change tout seul pendant la journée.</a:t>
            </a:r>
            <a:endParaRPr lang="en-US" sz="1600" dirty="0"/>
          </a:p>
        </p:txBody>
      </p:sp>
      <p:sp>
        <p:nvSpPr>
          <p:cNvPr id="5" name="pastille 1"/>
          <p:cNvSpPr/>
          <p:nvPr/>
        </p:nvSpPr>
        <p:spPr>
          <a:xfrm>
            <a:off x="812800" y="4127500"/>
            <a:ext cx="952500" cy="355600"/>
          </a:xfrm>
          <a:prstGeom prst="roundRect">
            <a:avLst>
              <a:gd name="adj" fmla="val 50000"/>
            </a:avLst>
          </a:prstGeom>
          <a:solidFill>
            <a:srgbClr val="FFFFFF"/>
          </a:solidFill>
          <a:ln/>
        </p:spPr>
      </p:sp>
      <p:sp>
        <p:nvSpPr>
          <p:cNvPr id="6" name="Text 3"/>
          <p:cNvSpPr txBox="1"/>
          <p:nvPr/>
        </p:nvSpPr>
        <p:spPr>
          <a:xfrm>
            <a:off x="812800" y="4127500"/>
            <a:ext cx="952500" cy="355600"/>
          </a:xfrm>
          <a:prstGeom prst="rect">
            <a:avLst/>
          </a:prstGeom>
          <a:noFill/>
          <a:ln/>
        </p:spPr>
        <p:txBody>
          <a:bodyPr wrap="square" lIns="0" tIns="0" rIns="0" bIns="0" rtlCol="0" anchor="ctr"/>
          <a:lstStyle/>
          <a:p>
            <a:pPr marL="0" indent="0" algn="ctr">
              <a:lnSpc>
                <a:spcPct val="120000"/>
              </a:lnSpc>
              <a:buNone/>
            </a:pPr>
            <a:r>
              <a:rPr lang="en-US" sz="1200" b="1" dirty="0">
                <a:solidFill>
                  <a:srgbClr val="121417"/>
                </a:solidFill>
              </a:rPr>
              <a:t>Gratuit</a:t>
            </a:r>
            <a:endParaRPr lang="en-US" sz="1200" dirty="0"/>
          </a:p>
        </p:txBody>
      </p:sp>
      <p:sp>
        <p:nvSpPr>
          <p:cNvPr id="7" name="pastille 2"/>
          <p:cNvSpPr/>
          <p:nvPr/>
        </p:nvSpPr>
        <p:spPr>
          <a:xfrm>
            <a:off x="1854200" y="4127500"/>
            <a:ext cx="1079500" cy="355600"/>
          </a:xfrm>
          <a:prstGeom prst="roundRect">
            <a:avLst>
              <a:gd name="adj" fmla="val 50000"/>
            </a:avLst>
          </a:prstGeom>
          <a:solidFill>
            <a:srgbClr val="FFFFFF"/>
          </a:solidFill>
          <a:ln/>
        </p:spPr>
      </p:sp>
      <p:sp>
        <p:nvSpPr>
          <p:cNvPr id="8" name="Text 5"/>
          <p:cNvSpPr txBox="1"/>
          <p:nvPr/>
        </p:nvSpPr>
        <p:spPr>
          <a:xfrm>
            <a:off x="1854200" y="4127500"/>
            <a:ext cx="1079500" cy="355600"/>
          </a:xfrm>
          <a:prstGeom prst="rect">
            <a:avLst/>
          </a:prstGeom>
          <a:noFill/>
          <a:ln/>
        </p:spPr>
        <p:txBody>
          <a:bodyPr wrap="square" lIns="0" tIns="0" rIns="0" bIns="0" rtlCol="0" anchor="ctr"/>
          <a:lstStyle/>
          <a:p>
            <a:pPr marL="0" indent="0" algn="ctr">
              <a:lnSpc>
                <a:spcPct val="120000"/>
              </a:lnSpc>
              <a:buNone/>
            </a:pPr>
            <a:r>
              <a:rPr lang="en-US" sz="1200" b="1" dirty="0">
                <a:solidFill>
                  <a:srgbClr val="121417"/>
                </a:solidFill>
              </a:rPr>
              <a:t>Sans pub</a:t>
            </a:r>
            <a:endParaRPr lang="en-US" sz="1200" dirty="0"/>
          </a:p>
        </p:txBody>
      </p:sp>
      <p:sp>
        <p:nvSpPr>
          <p:cNvPr id="9" name="pastille 3"/>
          <p:cNvSpPr/>
          <p:nvPr/>
        </p:nvSpPr>
        <p:spPr>
          <a:xfrm>
            <a:off x="3022600" y="4127500"/>
            <a:ext cx="1333500" cy="355600"/>
          </a:xfrm>
          <a:prstGeom prst="roundRect">
            <a:avLst>
              <a:gd name="adj" fmla="val 50000"/>
            </a:avLst>
          </a:prstGeom>
          <a:solidFill>
            <a:srgbClr val="FFFFFF"/>
          </a:solidFill>
          <a:ln/>
        </p:spPr>
      </p:sp>
      <p:sp>
        <p:nvSpPr>
          <p:cNvPr id="10" name="Text 7"/>
          <p:cNvSpPr txBox="1"/>
          <p:nvPr/>
        </p:nvSpPr>
        <p:spPr>
          <a:xfrm>
            <a:off x="3022600" y="4127500"/>
            <a:ext cx="1333500" cy="355600"/>
          </a:xfrm>
          <a:prstGeom prst="rect">
            <a:avLst/>
          </a:prstGeom>
          <a:noFill/>
          <a:ln/>
        </p:spPr>
        <p:txBody>
          <a:bodyPr wrap="square" lIns="0" tIns="0" rIns="0" bIns="0" rtlCol="0" anchor="ctr"/>
          <a:lstStyle/>
          <a:p>
            <a:pPr marL="0" indent="0" algn="ctr">
              <a:lnSpc>
                <a:spcPct val="120000"/>
              </a:lnSpc>
              <a:buNone/>
            </a:pPr>
            <a:r>
              <a:rPr lang="en-US" sz="1200" b="1" dirty="0">
                <a:solidFill>
                  <a:srgbClr val="121417"/>
                </a:solidFill>
              </a:rPr>
              <a:t>Sans compte</a:t>
            </a:r>
            <a:endParaRPr lang="en-US" sz="1200" dirty="0"/>
          </a:p>
        </p:txBody>
      </p:sp>
      <p:sp>
        <p:nvSpPr>
          <p:cNvPr id="11" name="pastille 4"/>
          <p:cNvSpPr/>
          <p:nvPr/>
        </p:nvSpPr>
        <p:spPr>
          <a:xfrm>
            <a:off x="812800" y="4572000"/>
            <a:ext cx="2794000" cy="355600"/>
          </a:xfrm>
          <a:prstGeom prst="roundRect">
            <a:avLst>
              <a:gd name="adj" fmla="val 50000"/>
            </a:avLst>
          </a:prstGeom>
          <a:solidFill>
            <a:srgbClr val="FFFFFF"/>
          </a:solidFill>
          <a:ln/>
        </p:spPr>
      </p:sp>
      <p:sp>
        <p:nvSpPr>
          <p:cNvPr id="12" name="Text 9"/>
          <p:cNvSpPr txBox="1"/>
          <p:nvPr/>
        </p:nvSpPr>
        <p:spPr>
          <a:xfrm>
            <a:off x="812800" y="4572000"/>
            <a:ext cx="2794000" cy="355600"/>
          </a:xfrm>
          <a:prstGeom prst="rect">
            <a:avLst/>
          </a:prstGeom>
          <a:noFill/>
          <a:ln/>
        </p:spPr>
        <p:txBody>
          <a:bodyPr wrap="square" lIns="0" tIns="0" rIns="0" bIns="0" rtlCol="0" anchor="ctr"/>
          <a:lstStyle/>
          <a:p>
            <a:pPr marL="0" indent="0" algn="ctr">
              <a:lnSpc>
                <a:spcPct val="120000"/>
              </a:lnSpc>
              <a:buNone/>
            </a:pPr>
            <a:r>
              <a:rPr lang="en-US" sz="1200" b="1" dirty="0">
                <a:solidFill>
                  <a:srgbClr val="121417"/>
                </a:solidFill>
              </a:rPr>
              <a:t>L’adresse reste sur le téléphone</a:t>
            </a:r>
            <a:endParaRPr lang="en-US" sz="1200" dirty="0"/>
          </a:p>
        </p:txBody>
      </p:sp>
      <p:sp>
        <p:nvSpPr>
          <p:cNvPr id="13" name="pastille 5"/>
          <p:cNvSpPr/>
          <p:nvPr/>
        </p:nvSpPr>
        <p:spPr>
          <a:xfrm>
            <a:off x="3695700" y="4572000"/>
            <a:ext cx="1905000" cy="355600"/>
          </a:xfrm>
          <a:prstGeom prst="roundRect">
            <a:avLst>
              <a:gd name="adj" fmla="val 50000"/>
            </a:avLst>
          </a:prstGeom>
          <a:solidFill>
            <a:srgbClr val="FFFFFF"/>
          </a:solidFill>
          <a:ln/>
        </p:spPr>
      </p:sp>
      <p:sp>
        <p:nvSpPr>
          <p:cNvPr id="14" name="Text 11"/>
          <p:cNvSpPr txBox="1"/>
          <p:nvPr/>
        </p:nvSpPr>
        <p:spPr>
          <a:xfrm>
            <a:off x="3695700" y="4572000"/>
            <a:ext cx="1905000" cy="355600"/>
          </a:xfrm>
          <a:prstGeom prst="rect">
            <a:avLst/>
          </a:prstGeom>
          <a:noFill/>
          <a:ln/>
        </p:spPr>
        <p:txBody>
          <a:bodyPr wrap="square" lIns="0" tIns="0" rIns="0" bIns="0" rtlCol="0" anchor="ctr"/>
          <a:lstStyle/>
          <a:p>
            <a:pPr marL="0" indent="0" algn="ctr">
              <a:lnSpc>
                <a:spcPct val="120000"/>
              </a:lnSpc>
              <a:buNone/>
            </a:pPr>
            <a:r>
              <a:rPr lang="en-US" sz="1200" b="1" dirty="0">
                <a:solidFill>
                  <a:srgbClr val="121417"/>
                </a:solidFill>
              </a:rPr>
              <a:t>Marche sans réseau</a:t>
            </a:r>
            <a:endParaRPr lang="en-US" sz="1200" dirty="0"/>
          </a:p>
        </p:txBody>
      </p:sp>
      <p:sp>
        <p:nvSpPr>
          <p:cNvPr id="15" name="téléphone"/>
          <p:cNvSpPr/>
          <p:nvPr/>
        </p:nvSpPr>
        <p:spPr>
          <a:xfrm>
            <a:off x="8191500" y="952500"/>
            <a:ext cx="2921000" cy="5092700"/>
          </a:xfrm>
          <a:prstGeom prst="roundRect">
            <a:avLst>
              <a:gd name="adj" fmla="val 15652"/>
            </a:avLst>
          </a:prstGeom>
          <a:solidFill>
            <a:srgbClr val="0B0C0E"/>
          </a:solidFill>
          <a:ln/>
          <a:effectLst>
            <a:outerShdw blurRad="381000" dist="177800" dir="5400000" algn="bl" rotWithShape="0">
              <a:srgbClr val="121417">
                <a:alpha val="18000"/>
              </a:srgbClr>
            </a:outerShdw>
          </a:effectLst>
        </p:spPr>
      </p:sp>
      <p:sp>
        <p:nvSpPr>
          <p:cNvPr id="16" name="écran"/>
          <p:cNvSpPr/>
          <p:nvPr/>
        </p:nvSpPr>
        <p:spPr>
          <a:xfrm>
            <a:off x="8305800" y="1066800"/>
            <a:ext cx="2692400" cy="4864100"/>
          </a:xfrm>
          <a:prstGeom prst="roundRect">
            <a:avLst>
              <a:gd name="adj" fmla="val 13208"/>
            </a:avLst>
          </a:prstGeom>
          <a:solidFill>
            <a:srgbClr val="F1F2EF"/>
          </a:solidFill>
          <a:ln/>
        </p:spPr>
      </p:sp>
      <p:sp>
        <p:nvSpPr>
          <p:cNvPr id="17" name="Text 14"/>
          <p:cNvSpPr txBox="1"/>
          <p:nvPr/>
        </p:nvSpPr>
        <p:spPr>
          <a:xfrm>
            <a:off x="8483600" y="1447800"/>
            <a:ext cx="2336800" cy="355600"/>
          </a:xfrm>
          <a:prstGeom prst="rect">
            <a:avLst/>
          </a:prstGeom>
          <a:noFill/>
          <a:ln/>
        </p:spPr>
        <p:txBody>
          <a:bodyPr wrap="square" lIns="0" tIns="0" rIns="0" bIns="0" rtlCol="0" anchor="t"/>
          <a:lstStyle/>
          <a:p>
            <a:pPr marL="0" indent="0" algn="l">
              <a:lnSpc>
                <a:spcPct val="120000"/>
              </a:lnSpc>
              <a:buNone/>
            </a:pPr>
            <a:r>
              <a:rPr lang="en-US" sz="2200" b="1" dirty="0">
                <a:solidFill>
                  <a:srgbClr val="121417"/>
                </a:solidFill>
              </a:rPr>
              <a:t>Bonsoir</a:t>
            </a:r>
            <a:endParaRPr lang="en-US" sz="2200" dirty="0"/>
          </a:p>
        </p:txBody>
      </p:sp>
      <p:sp>
        <p:nvSpPr>
          <p:cNvPr id="18" name="Text 15"/>
          <p:cNvSpPr txBox="1"/>
          <p:nvPr/>
        </p:nvSpPr>
        <p:spPr>
          <a:xfrm>
            <a:off x="8483600" y="1841500"/>
            <a:ext cx="2336800" cy="215900"/>
          </a:xfrm>
          <a:prstGeom prst="rect">
            <a:avLst/>
          </a:prstGeom>
          <a:noFill/>
          <a:ln/>
        </p:spPr>
        <p:txBody>
          <a:bodyPr wrap="square" lIns="0" tIns="0" rIns="0" bIns="0" rtlCol="0" anchor="t"/>
          <a:lstStyle/>
          <a:p>
            <a:pPr marL="0" indent="0" algn="l">
              <a:lnSpc>
                <a:spcPct val="120000"/>
              </a:lnSpc>
              <a:buNone/>
            </a:pPr>
            <a:r>
              <a:rPr lang="en-US" sz="1200" dirty="0">
                <a:solidFill>
                  <a:srgbClr val="868C92"/>
                </a:solidFill>
              </a:rPr>
              <a:t>Dimanche 15 novembre</a:t>
            </a:r>
            <a:endParaRPr lang="en-US" sz="1200" dirty="0"/>
          </a:p>
        </p:txBody>
      </p:sp>
      <p:sp>
        <p:nvSpPr>
          <p:cNvPr id="19" name="carte du haut"/>
          <p:cNvSpPr/>
          <p:nvPr/>
        </p:nvSpPr>
        <p:spPr>
          <a:xfrm>
            <a:off x="8483600" y="2159000"/>
            <a:ext cx="2336800" cy="1358900"/>
          </a:xfrm>
          <a:prstGeom prst="roundRect">
            <a:avLst>
              <a:gd name="adj" fmla="val 16822"/>
            </a:avLst>
          </a:prstGeom>
          <a:solidFill>
            <a:srgbClr val="FFD02B"/>
          </a:solidFill>
          <a:ln/>
        </p:spPr>
      </p:sp>
      <p:sp>
        <p:nvSpPr>
          <p:cNvPr id="20" name="Text 17"/>
          <p:cNvSpPr txBox="1"/>
          <p:nvPr/>
        </p:nvSpPr>
        <p:spPr>
          <a:xfrm>
            <a:off x="8661400" y="2324100"/>
            <a:ext cx="1981200" cy="203200"/>
          </a:xfrm>
          <a:prstGeom prst="rect">
            <a:avLst/>
          </a:prstGeom>
          <a:noFill/>
          <a:ln/>
        </p:spPr>
        <p:txBody>
          <a:bodyPr wrap="square" lIns="0" tIns="0" rIns="0" bIns="0" rtlCol="0" anchor="t"/>
          <a:lstStyle/>
          <a:p>
            <a:pPr marL="0" indent="0" algn="l">
              <a:lnSpc>
                <a:spcPct val="120000"/>
              </a:lnSpc>
              <a:buNone/>
            </a:pPr>
            <a:r>
              <a:rPr lang="en-US" sz="1200" b="1" dirty="0">
                <a:solidFill>
                  <a:srgbClr val="1A1906"/>
                </a:solidFill>
              </a:rPr>
              <a:t>Cette nuit</a:t>
            </a:r>
            <a:endParaRPr lang="en-US" sz="1200" dirty="0"/>
          </a:p>
        </p:txBody>
      </p:sp>
      <p:sp>
        <p:nvSpPr>
          <p:cNvPr id="21" name="Text 18"/>
          <p:cNvSpPr txBox="1"/>
          <p:nvPr/>
        </p:nvSpPr>
        <p:spPr>
          <a:xfrm>
            <a:off x="8661400" y="2565400"/>
            <a:ext cx="1981200" cy="508000"/>
          </a:xfrm>
          <a:prstGeom prst="rect">
            <a:avLst/>
          </a:prstGeom>
          <a:noFill/>
          <a:ln/>
        </p:spPr>
        <p:txBody>
          <a:bodyPr wrap="square" lIns="0" tIns="0" rIns="0" bIns="0" rtlCol="0" anchor="t"/>
          <a:lstStyle/>
          <a:p>
            <a:pPr marL="0" indent="0" algn="l">
              <a:lnSpc>
                <a:spcPct val="110000"/>
              </a:lnSpc>
              <a:buNone/>
            </a:pPr>
            <a:r>
              <a:rPr lang="en-US" sz="1600" b="1" dirty="0">
                <a:solidFill>
                  <a:srgbClr val="1A1906"/>
                </a:solidFill>
              </a:rPr>
              <a:t>Pas d’auto dans la rue cette nuit</a:t>
            </a:r>
            <a:endParaRPr lang="en-US" sz="1600" dirty="0"/>
          </a:p>
        </p:txBody>
      </p:sp>
      <p:sp>
        <p:nvSpPr>
          <p:cNvPr id="22" name="Text 19"/>
          <p:cNvSpPr txBox="1"/>
          <p:nvPr/>
        </p:nvSpPr>
        <p:spPr>
          <a:xfrm>
            <a:off x="8661400" y="3124200"/>
            <a:ext cx="1981200" cy="215900"/>
          </a:xfrm>
          <a:prstGeom prst="rect">
            <a:avLst/>
          </a:prstGeom>
          <a:noFill/>
          <a:ln/>
        </p:spPr>
        <p:txBody>
          <a:bodyPr wrap="square" lIns="0" tIns="0" rIns="0" bIns="0" rtlCol="0" anchor="t"/>
          <a:lstStyle/>
          <a:p>
            <a:pPr marL="0" indent="0" algn="l">
              <a:lnSpc>
                <a:spcPct val="120000"/>
              </a:lnSpc>
              <a:buNone/>
            </a:pPr>
            <a:r>
              <a:rPr lang="en-US" sz="1200" dirty="0">
                <a:solidFill>
                  <a:srgbClr val="1A1906"/>
                </a:solidFill>
              </a:rPr>
              <a:t>Interdit de minuit à 7 h.</a:t>
            </a:r>
            <a:endParaRPr lang="en-US" sz="1200" dirty="0"/>
          </a:p>
        </p:txBody>
      </p:sp>
      <p:sp>
        <p:nvSpPr>
          <p:cNvPr id="23" name="tuile 1"/>
          <p:cNvSpPr/>
          <p:nvPr/>
        </p:nvSpPr>
        <p:spPr>
          <a:xfrm>
            <a:off x="8483600" y="3619500"/>
            <a:ext cx="2336800" cy="457200"/>
          </a:xfrm>
          <a:prstGeom prst="roundRect">
            <a:avLst>
              <a:gd name="adj" fmla="val 38889"/>
            </a:avLst>
          </a:prstGeom>
          <a:solidFill>
            <a:srgbClr val="FFFFFF"/>
          </a:solidFill>
          <a:ln/>
        </p:spPr>
      </p:sp>
      <p:sp>
        <p:nvSpPr>
          <p:cNvPr id="24" name="Shape 21"/>
          <p:cNvSpPr/>
          <p:nvPr/>
        </p:nvSpPr>
        <p:spPr>
          <a:xfrm>
            <a:off x="8636000" y="3784600"/>
            <a:ext cx="127000" cy="127000"/>
          </a:xfrm>
          <a:prstGeom prst="ellipse">
            <a:avLst/>
          </a:prstGeom>
          <a:solidFill>
            <a:srgbClr val="1C9A5F"/>
          </a:solidFill>
          <a:ln/>
        </p:spPr>
      </p:sp>
      <p:sp>
        <p:nvSpPr>
          <p:cNvPr id="25" name="Text 22"/>
          <p:cNvSpPr txBox="1"/>
          <p:nvPr/>
        </p:nvSpPr>
        <p:spPr>
          <a:xfrm>
            <a:off x="8864600" y="3619500"/>
            <a:ext cx="889000" cy="457200"/>
          </a:xfrm>
          <a:prstGeom prst="rect">
            <a:avLst/>
          </a:prstGeom>
          <a:noFill/>
          <a:ln/>
        </p:spPr>
        <p:txBody>
          <a:bodyPr wrap="square" lIns="0" tIns="0" rIns="0" bIns="0" rtlCol="0" anchor="ctr"/>
          <a:lstStyle/>
          <a:p>
            <a:pPr marL="0" indent="0" algn="l">
              <a:lnSpc>
                <a:spcPct val="120000"/>
              </a:lnSpc>
              <a:buNone/>
            </a:pPr>
            <a:r>
              <a:rPr lang="en-US" sz="1200" b="1" dirty="0">
                <a:solidFill>
                  <a:srgbClr val="121417"/>
                </a:solidFill>
              </a:rPr>
              <a:t>Collecte</a:t>
            </a:r>
            <a:endParaRPr lang="en-US" sz="1200" dirty="0"/>
          </a:p>
        </p:txBody>
      </p:sp>
      <p:sp>
        <p:nvSpPr>
          <p:cNvPr id="26" name="Text 23"/>
          <p:cNvSpPr txBox="1"/>
          <p:nvPr/>
        </p:nvSpPr>
        <p:spPr>
          <a:xfrm>
            <a:off x="9652000" y="3619500"/>
            <a:ext cx="1016000" cy="457200"/>
          </a:xfrm>
          <a:prstGeom prst="rect">
            <a:avLst/>
          </a:prstGeom>
          <a:noFill/>
          <a:ln/>
        </p:spPr>
        <p:txBody>
          <a:bodyPr wrap="square" lIns="0" tIns="0" rIns="0" bIns="0" rtlCol="0" anchor="ctr"/>
          <a:lstStyle/>
          <a:p>
            <a:pPr marL="0" indent="0" algn="r">
              <a:lnSpc>
                <a:spcPct val="120000"/>
              </a:lnSpc>
              <a:buNone/>
            </a:pPr>
            <a:r>
              <a:rPr lang="en-US" sz="1100" dirty="0">
                <a:solidFill>
                  <a:srgbClr val="4A5056"/>
                </a:solidFill>
              </a:rPr>
              <a:t>ordures, demain</a:t>
            </a:r>
            <a:endParaRPr lang="en-US" sz="1100" dirty="0"/>
          </a:p>
        </p:txBody>
      </p:sp>
      <p:sp>
        <p:nvSpPr>
          <p:cNvPr id="27" name="tuile 2"/>
          <p:cNvSpPr/>
          <p:nvPr/>
        </p:nvSpPr>
        <p:spPr>
          <a:xfrm>
            <a:off x="8483600" y="4165600"/>
            <a:ext cx="2336800" cy="457200"/>
          </a:xfrm>
          <a:prstGeom prst="roundRect">
            <a:avLst>
              <a:gd name="adj" fmla="val 38889"/>
            </a:avLst>
          </a:prstGeom>
          <a:solidFill>
            <a:srgbClr val="FFFFFF"/>
          </a:solidFill>
          <a:ln/>
        </p:spPr>
      </p:sp>
      <p:sp>
        <p:nvSpPr>
          <p:cNvPr id="28" name="Shape 25"/>
          <p:cNvSpPr/>
          <p:nvPr/>
        </p:nvSpPr>
        <p:spPr>
          <a:xfrm>
            <a:off x="8636000" y="4330700"/>
            <a:ext cx="127000" cy="127000"/>
          </a:xfrm>
          <a:prstGeom prst="ellipse">
            <a:avLst/>
          </a:prstGeom>
          <a:solidFill>
            <a:srgbClr val="2F6BEB"/>
          </a:solidFill>
          <a:ln/>
        </p:spPr>
      </p:sp>
      <p:sp>
        <p:nvSpPr>
          <p:cNvPr id="29" name="Text 26"/>
          <p:cNvSpPr txBox="1"/>
          <p:nvPr/>
        </p:nvSpPr>
        <p:spPr>
          <a:xfrm>
            <a:off x="8864600" y="4165600"/>
            <a:ext cx="889000" cy="457200"/>
          </a:xfrm>
          <a:prstGeom prst="rect">
            <a:avLst/>
          </a:prstGeom>
          <a:noFill/>
          <a:ln/>
        </p:spPr>
        <p:txBody>
          <a:bodyPr wrap="square" lIns="0" tIns="0" rIns="0" bIns="0" rtlCol="0" anchor="ctr"/>
          <a:lstStyle/>
          <a:p>
            <a:pPr marL="0" indent="0" algn="l">
              <a:lnSpc>
                <a:spcPct val="120000"/>
              </a:lnSpc>
              <a:buNone/>
            </a:pPr>
            <a:r>
              <a:rPr lang="en-US" sz="1200" b="1" dirty="0">
                <a:solidFill>
                  <a:srgbClr val="121417"/>
                </a:solidFill>
              </a:rPr>
              <a:t>Eau</a:t>
            </a:r>
            <a:endParaRPr lang="en-US" sz="1200" dirty="0"/>
          </a:p>
        </p:txBody>
      </p:sp>
      <p:sp>
        <p:nvSpPr>
          <p:cNvPr id="30" name="Text 27"/>
          <p:cNvSpPr txBox="1"/>
          <p:nvPr/>
        </p:nvSpPr>
        <p:spPr>
          <a:xfrm>
            <a:off x="9652000" y="4165600"/>
            <a:ext cx="1016000" cy="457200"/>
          </a:xfrm>
          <a:prstGeom prst="rect">
            <a:avLst/>
          </a:prstGeom>
          <a:noFill/>
          <a:ln/>
        </p:spPr>
        <p:txBody>
          <a:bodyPr wrap="square" lIns="0" tIns="0" rIns="0" bIns="0" rtlCol="0" anchor="ctr"/>
          <a:lstStyle/>
          <a:p>
            <a:pPr marL="0" indent="0" algn="r">
              <a:lnSpc>
                <a:spcPct val="120000"/>
              </a:lnSpc>
              <a:buNone/>
            </a:pPr>
            <a:r>
              <a:rPr lang="en-US" sz="1100" dirty="0">
                <a:solidFill>
                  <a:srgbClr val="4A5056"/>
                </a:solidFill>
              </a:rPr>
              <a:t>rien à signaler</a:t>
            </a:r>
            <a:endParaRPr lang="en-US" sz="1100" dirty="0"/>
          </a:p>
        </p:txBody>
      </p:sp>
      <p:sp>
        <p:nvSpPr>
          <p:cNvPr id="3"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Douze sources, une seule app</a:t>
            </a:r>
            <a:endParaRPr lang="en-US" sz="3600" dirty="0"/>
          </a:p>
        </p:txBody>
      </p:sp>
      <p:sp>
        <p:nvSpPr>
          <p:cNvPr id="4" name="Text 1"/>
          <p:cNvSpPr txBox="1"/>
          <p:nvPr/>
        </p:nvSpPr>
        <p:spPr>
          <a:xfrm>
            <a:off x="812800" y="1358900"/>
            <a:ext cx="10566400" cy="292100"/>
          </a:xfrm>
          <a:prstGeom prst="rect">
            <a:avLst/>
          </a:prstGeom>
          <a:noFill/>
          <a:ln/>
        </p:spPr>
        <p:txBody>
          <a:bodyPr wrap="square" lIns="0" tIns="0" rIns="0" bIns="0" rtlCol="0" anchor="t"/>
          <a:lstStyle/>
          <a:p>
            <a:pPr marL="0" indent="0" algn="l">
              <a:lnSpc>
                <a:spcPct val="120000"/>
              </a:lnSpc>
              <a:buNone/>
            </a:pPr>
            <a:r>
              <a:rPr lang="en-US" sz="1600" dirty="0">
                <a:solidFill>
                  <a:srgbClr val="4A5056"/>
                </a:solidFill>
              </a:rPr>
              <a:t>L’app les lit en direct, pour ton adresse. Certaines ne se montrent que quand elles comptent.</a:t>
            </a:r>
            <a:endParaRPr lang="en-US" sz="1600" dirty="0"/>
          </a:p>
        </p:txBody>
      </p:sp>
      <p:sp>
        <p:nvSpPr>
          <p:cNvPr id="5" name="source Collectes"/>
          <p:cNvSpPr/>
          <p:nvPr/>
        </p:nvSpPr>
        <p:spPr>
          <a:xfrm>
            <a:off x="812800" y="1778000"/>
            <a:ext cx="2546350" cy="1117600"/>
          </a:xfrm>
          <a:prstGeom prst="roundRect">
            <a:avLst>
              <a:gd name="adj" fmla="val 15909"/>
            </a:avLst>
          </a:prstGeom>
          <a:solidFill>
            <a:srgbClr val="F1F2EF"/>
          </a:solidFill>
          <a:ln/>
        </p:spPr>
      </p:sp>
      <p:sp>
        <p:nvSpPr>
          <p:cNvPr id="6" name="Shape 3"/>
          <p:cNvSpPr/>
          <p:nvPr/>
        </p:nvSpPr>
        <p:spPr>
          <a:xfrm>
            <a:off x="990600" y="1917700"/>
            <a:ext cx="127000" cy="127000"/>
          </a:xfrm>
          <a:prstGeom prst="ellipse">
            <a:avLst/>
          </a:prstGeom>
          <a:solidFill>
            <a:srgbClr val="1C9A5F"/>
          </a:solidFill>
          <a:ln/>
        </p:spPr>
      </p:sp>
      <p:sp>
        <p:nvSpPr>
          <p:cNvPr id="7" name="Text 4"/>
          <p:cNvSpPr txBox="1"/>
          <p:nvPr/>
        </p:nvSpPr>
        <p:spPr>
          <a:xfrm>
            <a:off x="990600" y="20955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Collectes</a:t>
            </a:r>
            <a:endParaRPr lang="en-US" sz="1600" dirty="0"/>
          </a:p>
        </p:txBody>
      </p:sp>
      <p:sp>
        <p:nvSpPr>
          <p:cNvPr id="8" name="Text 5"/>
          <p:cNvSpPr txBox="1"/>
          <p:nvPr/>
        </p:nvSpPr>
        <p:spPr>
          <a:xfrm>
            <a:off x="990600" y="23749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Calendrier de la Ville, pour ton adresse</a:t>
            </a:r>
            <a:endParaRPr lang="en-US" sz="1200" dirty="0"/>
          </a:p>
        </p:txBody>
      </p:sp>
      <p:sp>
        <p:nvSpPr>
          <p:cNvPr id="9" name="source Stationnement"/>
          <p:cNvSpPr/>
          <p:nvPr/>
        </p:nvSpPr>
        <p:spPr>
          <a:xfrm>
            <a:off x="3486150" y="1778000"/>
            <a:ext cx="2546350" cy="1117600"/>
          </a:xfrm>
          <a:prstGeom prst="roundRect">
            <a:avLst>
              <a:gd name="adj" fmla="val 15909"/>
            </a:avLst>
          </a:prstGeom>
          <a:solidFill>
            <a:srgbClr val="F1F2EF"/>
          </a:solidFill>
          <a:ln/>
        </p:spPr>
      </p:sp>
      <p:sp>
        <p:nvSpPr>
          <p:cNvPr id="10" name="Shape 7"/>
          <p:cNvSpPr/>
          <p:nvPr/>
        </p:nvSpPr>
        <p:spPr>
          <a:xfrm>
            <a:off x="3663950" y="1917700"/>
            <a:ext cx="127000" cy="127000"/>
          </a:xfrm>
          <a:prstGeom prst="ellipse">
            <a:avLst/>
          </a:prstGeom>
          <a:solidFill>
            <a:srgbClr val="E77A0C"/>
          </a:solidFill>
          <a:ln/>
        </p:spPr>
      </p:sp>
      <p:sp>
        <p:nvSpPr>
          <p:cNvPr id="11" name="Text 8"/>
          <p:cNvSpPr txBox="1"/>
          <p:nvPr/>
        </p:nvSpPr>
        <p:spPr>
          <a:xfrm>
            <a:off x="3663950" y="20955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Stationnement</a:t>
            </a:r>
            <a:endParaRPr lang="en-US" sz="1600" dirty="0"/>
          </a:p>
        </p:txBody>
      </p:sp>
      <p:sp>
        <p:nvSpPr>
          <p:cNvPr id="12" name="Text 9"/>
          <p:cNvSpPr txBox="1"/>
          <p:nvPr/>
        </p:nvSpPr>
        <p:spPr>
          <a:xfrm>
            <a:off x="3663950" y="23749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Règlement de la Ville</a:t>
            </a:r>
            <a:endParaRPr lang="en-US" sz="1200" dirty="0"/>
          </a:p>
        </p:txBody>
      </p:sp>
      <p:sp>
        <p:nvSpPr>
          <p:cNvPr id="13" name="source Avis d’eau"/>
          <p:cNvSpPr/>
          <p:nvPr/>
        </p:nvSpPr>
        <p:spPr>
          <a:xfrm>
            <a:off x="6159500" y="1778000"/>
            <a:ext cx="2546350" cy="1117600"/>
          </a:xfrm>
          <a:prstGeom prst="roundRect">
            <a:avLst>
              <a:gd name="adj" fmla="val 15909"/>
            </a:avLst>
          </a:prstGeom>
          <a:solidFill>
            <a:srgbClr val="F1F2EF"/>
          </a:solidFill>
          <a:ln/>
        </p:spPr>
      </p:sp>
      <p:sp>
        <p:nvSpPr>
          <p:cNvPr id="14" name="Shape 11"/>
          <p:cNvSpPr/>
          <p:nvPr/>
        </p:nvSpPr>
        <p:spPr>
          <a:xfrm>
            <a:off x="6337300" y="1917700"/>
            <a:ext cx="127000" cy="127000"/>
          </a:xfrm>
          <a:prstGeom prst="ellipse">
            <a:avLst/>
          </a:prstGeom>
          <a:solidFill>
            <a:srgbClr val="1A8FC4"/>
          </a:solidFill>
          <a:ln/>
        </p:spPr>
      </p:sp>
      <p:sp>
        <p:nvSpPr>
          <p:cNvPr id="15" name="Text 12"/>
          <p:cNvSpPr txBox="1"/>
          <p:nvPr/>
        </p:nvSpPr>
        <p:spPr>
          <a:xfrm>
            <a:off x="6337300" y="20955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Avis d’eau</a:t>
            </a:r>
            <a:endParaRPr lang="en-US" sz="1600" dirty="0"/>
          </a:p>
        </p:txBody>
      </p:sp>
      <p:sp>
        <p:nvSpPr>
          <p:cNvPr id="16" name="Text 13"/>
          <p:cNvSpPr txBox="1"/>
          <p:nvPr/>
        </p:nvSpPr>
        <p:spPr>
          <a:xfrm>
            <a:off x="6337300" y="23749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Carte des avis, zone par zone</a:t>
            </a:r>
            <a:endParaRPr lang="en-US" sz="1200" dirty="0"/>
          </a:p>
        </p:txBody>
      </p:sp>
      <p:sp>
        <p:nvSpPr>
          <p:cNvPr id="17" name="source Travaux"/>
          <p:cNvSpPr/>
          <p:nvPr/>
        </p:nvSpPr>
        <p:spPr>
          <a:xfrm>
            <a:off x="8832850" y="1778000"/>
            <a:ext cx="2546350" cy="1117600"/>
          </a:xfrm>
          <a:prstGeom prst="roundRect">
            <a:avLst>
              <a:gd name="adj" fmla="val 15909"/>
            </a:avLst>
          </a:prstGeom>
          <a:solidFill>
            <a:srgbClr val="F1F2EF"/>
          </a:solidFill>
          <a:ln/>
        </p:spPr>
      </p:sp>
      <p:sp>
        <p:nvSpPr>
          <p:cNvPr id="18" name="Shape 15"/>
          <p:cNvSpPr/>
          <p:nvPr/>
        </p:nvSpPr>
        <p:spPr>
          <a:xfrm>
            <a:off x="9010650" y="1917700"/>
            <a:ext cx="127000" cy="127000"/>
          </a:xfrm>
          <a:prstGeom prst="ellipse">
            <a:avLst/>
          </a:prstGeom>
          <a:solidFill>
            <a:srgbClr val="B7791F"/>
          </a:solidFill>
          <a:ln/>
        </p:spPr>
      </p:sp>
      <p:sp>
        <p:nvSpPr>
          <p:cNvPr id="19" name="Text 16"/>
          <p:cNvSpPr txBox="1"/>
          <p:nvPr/>
        </p:nvSpPr>
        <p:spPr>
          <a:xfrm>
            <a:off x="9010650" y="20955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Travaux</a:t>
            </a:r>
            <a:endParaRPr lang="en-US" sz="1600" dirty="0"/>
          </a:p>
        </p:txBody>
      </p:sp>
      <p:sp>
        <p:nvSpPr>
          <p:cNvPr id="20" name="Text 17"/>
          <p:cNvSpPr txBox="1"/>
          <p:nvPr/>
        </p:nvSpPr>
        <p:spPr>
          <a:xfrm>
            <a:off x="9010650" y="23749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Carte de circulation de la Ville</a:t>
            </a:r>
            <a:endParaRPr lang="en-US" sz="1200" dirty="0"/>
          </a:p>
        </p:txBody>
      </p:sp>
      <p:sp>
        <p:nvSpPr>
          <p:cNvPr id="21" name="source Bus"/>
          <p:cNvSpPr/>
          <p:nvPr/>
        </p:nvSpPr>
        <p:spPr>
          <a:xfrm>
            <a:off x="812800" y="2997200"/>
            <a:ext cx="2546350" cy="1117600"/>
          </a:xfrm>
          <a:prstGeom prst="roundRect">
            <a:avLst>
              <a:gd name="adj" fmla="val 15909"/>
            </a:avLst>
          </a:prstGeom>
          <a:solidFill>
            <a:srgbClr val="F1F2EF"/>
          </a:solidFill>
          <a:ln/>
        </p:spPr>
      </p:sp>
      <p:sp>
        <p:nvSpPr>
          <p:cNvPr id="22" name="Shape 19"/>
          <p:cNvSpPr/>
          <p:nvPr/>
        </p:nvSpPr>
        <p:spPr>
          <a:xfrm>
            <a:off x="990600" y="3136900"/>
            <a:ext cx="127000" cy="127000"/>
          </a:xfrm>
          <a:prstGeom prst="ellipse">
            <a:avLst/>
          </a:prstGeom>
          <a:solidFill>
            <a:srgbClr val="2F6BEB"/>
          </a:solidFill>
          <a:ln/>
        </p:spPr>
      </p:sp>
      <p:sp>
        <p:nvSpPr>
          <p:cNvPr id="23" name="Text 20"/>
          <p:cNvSpPr txBox="1"/>
          <p:nvPr/>
        </p:nvSpPr>
        <p:spPr>
          <a:xfrm>
            <a:off x="990600" y="33147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Bus</a:t>
            </a:r>
            <a:endParaRPr lang="en-US" sz="1600" dirty="0"/>
          </a:p>
        </p:txBody>
      </p:sp>
      <p:sp>
        <p:nvSpPr>
          <p:cNvPr id="24" name="Text 21"/>
          <p:cNvSpPr txBox="1"/>
          <p:nvPr/>
        </p:nvSpPr>
        <p:spPr>
          <a:xfrm>
            <a:off x="990600" y="35941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Horaire et retards de la STS</a:t>
            </a:r>
            <a:endParaRPr lang="en-US" sz="1200" dirty="0"/>
          </a:p>
        </p:txBody>
      </p:sp>
      <p:sp>
        <p:nvSpPr>
          <p:cNvPr id="25" name="source Urgences"/>
          <p:cNvSpPr/>
          <p:nvPr/>
        </p:nvSpPr>
        <p:spPr>
          <a:xfrm>
            <a:off x="3486150" y="2997200"/>
            <a:ext cx="2546350" cy="1117600"/>
          </a:xfrm>
          <a:prstGeom prst="roundRect">
            <a:avLst>
              <a:gd name="adj" fmla="val 15909"/>
            </a:avLst>
          </a:prstGeom>
          <a:solidFill>
            <a:srgbClr val="F1F2EF"/>
          </a:solidFill>
          <a:ln/>
        </p:spPr>
      </p:sp>
      <p:sp>
        <p:nvSpPr>
          <p:cNvPr id="26" name="Shape 23"/>
          <p:cNvSpPr/>
          <p:nvPr/>
        </p:nvSpPr>
        <p:spPr>
          <a:xfrm>
            <a:off x="3663950" y="3136900"/>
            <a:ext cx="127000" cy="127000"/>
          </a:xfrm>
          <a:prstGeom prst="ellipse">
            <a:avLst/>
          </a:prstGeom>
          <a:solidFill>
            <a:srgbClr val="6B55C9"/>
          </a:solidFill>
          <a:ln/>
        </p:spPr>
      </p:sp>
      <p:sp>
        <p:nvSpPr>
          <p:cNvPr id="27" name="Text 24"/>
          <p:cNvSpPr txBox="1"/>
          <p:nvPr/>
        </p:nvSpPr>
        <p:spPr>
          <a:xfrm>
            <a:off x="3663950" y="33147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Urgences</a:t>
            </a:r>
            <a:endParaRPr lang="en-US" sz="1600" dirty="0"/>
          </a:p>
        </p:txBody>
      </p:sp>
      <p:sp>
        <p:nvSpPr>
          <p:cNvPr id="28" name="Text 25"/>
          <p:cNvSpPr txBox="1"/>
          <p:nvPr/>
        </p:nvSpPr>
        <p:spPr>
          <a:xfrm>
            <a:off x="3663950" y="35941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Ministère de la Santé</a:t>
            </a:r>
            <a:endParaRPr lang="en-US" sz="1200" dirty="0"/>
          </a:p>
        </p:txBody>
      </p:sp>
      <p:sp>
        <p:nvSpPr>
          <p:cNvPr id="29" name="source Météo et alertes"/>
          <p:cNvSpPr/>
          <p:nvPr/>
        </p:nvSpPr>
        <p:spPr>
          <a:xfrm>
            <a:off x="6159500" y="2997200"/>
            <a:ext cx="2546350" cy="1117600"/>
          </a:xfrm>
          <a:prstGeom prst="roundRect">
            <a:avLst>
              <a:gd name="adj" fmla="val 15909"/>
            </a:avLst>
          </a:prstGeom>
          <a:solidFill>
            <a:srgbClr val="F1F2EF"/>
          </a:solidFill>
          <a:ln/>
        </p:spPr>
      </p:sp>
      <p:sp>
        <p:nvSpPr>
          <p:cNvPr id="30" name="Shape 27"/>
          <p:cNvSpPr/>
          <p:nvPr/>
        </p:nvSpPr>
        <p:spPr>
          <a:xfrm>
            <a:off x="6337300" y="3136900"/>
            <a:ext cx="127000" cy="127000"/>
          </a:xfrm>
          <a:prstGeom prst="ellipse">
            <a:avLst/>
          </a:prstGeom>
          <a:solidFill>
            <a:srgbClr val="4E6A85"/>
          </a:solidFill>
          <a:ln/>
        </p:spPr>
      </p:sp>
      <p:sp>
        <p:nvSpPr>
          <p:cNvPr id="31" name="Text 28"/>
          <p:cNvSpPr txBox="1"/>
          <p:nvPr/>
        </p:nvSpPr>
        <p:spPr>
          <a:xfrm>
            <a:off x="6337300" y="33147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Météo et alertes</a:t>
            </a:r>
            <a:endParaRPr lang="en-US" sz="1600" dirty="0"/>
          </a:p>
        </p:txBody>
      </p:sp>
      <p:sp>
        <p:nvSpPr>
          <p:cNvPr id="32" name="Text 29"/>
          <p:cNvSpPr txBox="1"/>
          <p:nvPr/>
        </p:nvSpPr>
        <p:spPr>
          <a:xfrm>
            <a:off x="6337300" y="35941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Environnement Canada</a:t>
            </a:r>
            <a:endParaRPr lang="en-US" sz="1200" dirty="0"/>
          </a:p>
        </p:txBody>
      </p:sp>
      <p:sp>
        <p:nvSpPr>
          <p:cNvPr id="33" name="source Électricité"/>
          <p:cNvSpPr/>
          <p:nvPr/>
        </p:nvSpPr>
        <p:spPr>
          <a:xfrm>
            <a:off x="8832850" y="2997200"/>
            <a:ext cx="2546350" cy="1117600"/>
          </a:xfrm>
          <a:prstGeom prst="roundRect">
            <a:avLst>
              <a:gd name="adj" fmla="val 15909"/>
            </a:avLst>
          </a:prstGeom>
          <a:solidFill>
            <a:srgbClr val="F1F2EF"/>
          </a:solidFill>
          <a:ln/>
        </p:spPr>
      </p:sp>
      <p:sp>
        <p:nvSpPr>
          <p:cNvPr id="34" name="Shape 31"/>
          <p:cNvSpPr/>
          <p:nvPr/>
        </p:nvSpPr>
        <p:spPr>
          <a:xfrm>
            <a:off x="9010650" y="3136900"/>
            <a:ext cx="127000" cy="127000"/>
          </a:xfrm>
          <a:prstGeom prst="ellipse">
            <a:avLst/>
          </a:prstGeom>
          <a:solidFill>
            <a:srgbClr val="C23D74"/>
          </a:solidFill>
          <a:ln/>
        </p:spPr>
      </p:sp>
      <p:sp>
        <p:nvSpPr>
          <p:cNvPr id="35" name="Text 32"/>
          <p:cNvSpPr txBox="1"/>
          <p:nvPr/>
        </p:nvSpPr>
        <p:spPr>
          <a:xfrm>
            <a:off x="9010650" y="33147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Électricité</a:t>
            </a:r>
            <a:endParaRPr lang="en-US" sz="1600" dirty="0"/>
          </a:p>
        </p:txBody>
      </p:sp>
      <p:sp>
        <p:nvSpPr>
          <p:cNvPr id="36" name="Text 33"/>
          <p:cNvSpPr txBox="1"/>
          <p:nvPr/>
        </p:nvSpPr>
        <p:spPr>
          <a:xfrm>
            <a:off x="9010650" y="35941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Pannes et coupures d’Hydro-Québec</a:t>
            </a:r>
            <a:endParaRPr lang="en-US" sz="1200" dirty="0"/>
          </a:p>
        </p:txBody>
      </p:sp>
      <p:sp>
        <p:nvSpPr>
          <p:cNvPr id="37" name="source Routes"/>
          <p:cNvSpPr/>
          <p:nvPr/>
        </p:nvSpPr>
        <p:spPr>
          <a:xfrm>
            <a:off x="812800" y="4216400"/>
            <a:ext cx="2546350" cy="1117600"/>
          </a:xfrm>
          <a:prstGeom prst="roundRect">
            <a:avLst>
              <a:gd name="adj" fmla="val 15909"/>
            </a:avLst>
          </a:prstGeom>
          <a:solidFill>
            <a:srgbClr val="F1F2EF"/>
          </a:solidFill>
          <a:ln/>
        </p:spPr>
      </p:sp>
      <p:sp>
        <p:nvSpPr>
          <p:cNvPr id="38" name="Shape 35"/>
          <p:cNvSpPr/>
          <p:nvPr/>
        </p:nvSpPr>
        <p:spPr>
          <a:xfrm>
            <a:off x="990600" y="4356100"/>
            <a:ext cx="127000" cy="127000"/>
          </a:xfrm>
          <a:prstGeom prst="ellipse">
            <a:avLst/>
          </a:prstGeom>
          <a:solidFill>
            <a:srgbClr val="7A6650"/>
          </a:solidFill>
          <a:ln/>
        </p:spPr>
      </p:sp>
      <p:sp>
        <p:nvSpPr>
          <p:cNvPr id="39" name="Text 36"/>
          <p:cNvSpPr txBox="1"/>
          <p:nvPr/>
        </p:nvSpPr>
        <p:spPr>
          <a:xfrm>
            <a:off x="990600" y="45339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Routes</a:t>
            </a:r>
            <a:endParaRPr lang="en-US" sz="1600" dirty="0"/>
          </a:p>
        </p:txBody>
      </p:sp>
      <p:sp>
        <p:nvSpPr>
          <p:cNvPr id="40" name="Text 37"/>
          <p:cNvSpPr txBox="1"/>
          <p:nvPr/>
        </p:nvSpPr>
        <p:spPr>
          <a:xfrm>
            <a:off x="990600" y="48133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Québec 511 : état des routes, caméras</a:t>
            </a:r>
            <a:endParaRPr lang="en-US" sz="1200" dirty="0"/>
          </a:p>
        </p:txBody>
      </p:sp>
      <p:sp>
        <p:nvSpPr>
          <p:cNvPr id="41" name="source Qualité de l’air"/>
          <p:cNvSpPr/>
          <p:nvPr/>
        </p:nvSpPr>
        <p:spPr>
          <a:xfrm>
            <a:off x="3486150" y="4216400"/>
            <a:ext cx="2546350" cy="1117600"/>
          </a:xfrm>
          <a:prstGeom prst="roundRect">
            <a:avLst>
              <a:gd name="adj" fmla="val 15909"/>
            </a:avLst>
          </a:prstGeom>
          <a:solidFill>
            <a:srgbClr val="F1F2EF"/>
          </a:solidFill>
          <a:ln/>
        </p:spPr>
      </p:sp>
      <p:sp>
        <p:nvSpPr>
          <p:cNvPr id="42" name="Shape 39"/>
          <p:cNvSpPr/>
          <p:nvPr/>
        </p:nvSpPr>
        <p:spPr>
          <a:xfrm>
            <a:off x="3663950" y="4356100"/>
            <a:ext cx="127000" cy="127000"/>
          </a:xfrm>
          <a:prstGeom prst="ellipse">
            <a:avLst/>
          </a:prstGeom>
          <a:solidFill>
            <a:srgbClr val="3E8E7E"/>
          </a:solidFill>
          <a:ln/>
        </p:spPr>
      </p:sp>
      <p:sp>
        <p:nvSpPr>
          <p:cNvPr id="43" name="Text 40"/>
          <p:cNvSpPr txBox="1"/>
          <p:nvPr/>
        </p:nvSpPr>
        <p:spPr>
          <a:xfrm>
            <a:off x="3663950" y="45339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Qualité de l’air</a:t>
            </a:r>
            <a:endParaRPr lang="en-US" sz="1600" dirty="0"/>
          </a:p>
        </p:txBody>
      </p:sp>
      <p:sp>
        <p:nvSpPr>
          <p:cNvPr id="44" name="Text 41"/>
          <p:cNvSpPr txBox="1"/>
          <p:nvPr/>
        </p:nvSpPr>
        <p:spPr>
          <a:xfrm>
            <a:off x="3663950" y="48133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Stations Parc Powell et UQAC, si l’air est mauvais</a:t>
            </a:r>
            <a:endParaRPr lang="en-US" sz="1200" dirty="0"/>
          </a:p>
        </p:txBody>
      </p:sp>
      <p:sp>
        <p:nvSpPr>
          <p:cNvPr id="45" name="source Feux à ciel ouvert"/>
          <p:cNvSpPr/>
          <p:nvPr/>
        </p:nvSpPr>
        <p:spPr>
          <a:xfrm>
            <a:off x="6159500" y="4216400"/>
            <a:ext cx="2546350" cy="1117600"/>
          </a:xfrm>
          <a:prstGeom prst="roundRect">
            <a:avLst>
              <a:gd name="adj" fmla="val 15909"/>
            </a:avLst>
          </a:prstGeom>
          <a:solidFill>
            <a:srgbClr val="F1F2EF"/>
          </a:solidFill>
          <a:ln/>
        </p:spPr>
      </p:sp>
      <p:sp>
        <p:nvSpPr>
          <p:cNvPr id="46" name="Shape 43"/>
          <p:cNvSpPr/>
          <p:nvPr/>
        </p:nvSpPr>
        <p:spPr>
          <a:xfrm>
            <a:off x="6337300" y="4356100"/>
            <a:ext cx="127000" cy="127000"/>
          </a:xfrm>
          <a:prstGeom prst="ellipse">
            <a:avLst/>
          </a:prstGeom>
          <a:solidFill>
            <a:srgbClr val="C8553D"/>
          </a:solidFill>
          <a:ln/>
        </p:spPr>
      </p:sp>
      <p:sp>
        <p:nvSpPr>
          <p:cNvPr id="47" name="Text 44"/>
          <p:cNvSpPr txBox="1"/>
          <p:nvPr/>
        </p:nvSpPr>
        <p:spPr>
          <a:xfrm>
            <a:off x="6337300" y="45339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Feux à ciel ouvert</a:t>
            </a:r>
            <a:endParaRPr lang="en-US" sz="1600" dirty="0"/>
          </a:p>
        </p:txBody>
      </p:sp>
      <p:sp>
        <p:nvSpPr>
          <p:cNvPr id="48" name="Text 45"/>
          <p:cNvSpPr txBox="1"/>
          <p:nvPr/>
        </p:nvSpPr>
        <p:spPr>
          <a:xfrm>
            <a:off x="6337300" y="48133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Interdictions de la SOPFEU, si l’adresse est visée</a:t>
            </a:r>
            <a:endParaRPr lang="en-US" sz="1200" dirty="0"/>
          </a:p>
        </p:txBody>
      </p:sp>
      <p:sp>
        <p:nvSpPr>
          <p:cNvPr id="49" name="source Pointes d’hiver"/>
          <p:cNvSpPr/>
          <p:nvPr/>
        </p:nvSpPr>
        <p:spPr>
          <a:xfrm>
            <a:off x="8832850" y="4216400"/>
            <a:ext cx="2546350" cy="1117600"/>
          </a:xfrm>
          <a:prstGeom prst="roundRect">
            <a:avLst>
              <a:gd name="adj" fmla="val 15909"/>
            </a:avLst>
          </a:prstGeom>
          <a:solidFill>
            <a:srgbClr val="F1F2EF"/>
          </a:solidFill>
          <a:ln/>
        </p:spPr>
      </p:sp>
      <p:sp>
        <p:nvSpPr>
          <p:cNvPr id="50" name="Shape 47"/>
          <p:cNvSpPr/>
          <p:nvPr/>
        </p:nvSpPr>
        <p:spPr>
          <a:xfrm>
            <a:off x="9010650" y="4356100"/>
            <a:ext cx="127000" cy="127000"/>
          </a:xfrm>
          <a:prstGeom prst="ellipse">
            <a:avLst/>
          </a:prstGeom>
          <a:solidFill>
            <a:srgbClr val="8E5BB5"/>
          </a:solidFill>
          <a:ln/>
        </p:spPr>
      </p:sp>
      <p:sp>
        <p:nvSpPr>
          <p:cNvPr id="51" name="Text 48"/>
          <p:cNvSpPr txBox="1"/>
          <p:nvPr/>
        </p:nvSpPr>
        <p:spPr>
          <a:xfrm>
            <a:off x="9010650" y="4533900"/>
            <a:ext cx="2190750" cy="2540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Pointes d’hiver</a:t>
            </a:r>
            <a:endParaRPr lang="en-US" sz="1600" dirty="0"/>
          </a:p>
        </p:txBody>
      </p:sp>
      <p:sp>
        <p:nvSpPr>
          <p:cNvPr id="52" name="Text 49"/>
          <p:cNvSpPr txBox="1"/>
          <p:nvPr/>
        </p:nvSpPr>
        <p:spPr>
          <a:xfrm>
            <a:off x="9010650" y="4813300"/>
            <a:ext cx="2190750" cy="4064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Hydro-Québec, la veille, pour le Crédit hivernal ou Flex D</a:t>
            </a:r>
            <a:endParaRPr lang="en-US" sz="1200" dirty="0"/>
          </a:p>
        </p:txBody>
      </p:sp>
      <p:sp>
        <p:nvSpPr>
          <p:cNvPr id="53" name="Text 50"/>
          <p:cNvSpPr txBox="1"/>
          <p:nvPr/>
        </p:nvSpPr>
        <p:spPr>
          <a:xfrm>
            <a:off x="812800" y="5473700"/>
            <a:ext cx="105664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Une seule carte en haut de l’écran : la plus importante à l’heure qu’il est.</a:t>
            </a:r>
            <a:endParaRPr lang="en-US" sz="1400" dirty="0"/>
          </a:p>
        </p:txBody>
      </p:sp>
      <p:sp>
        <p:nvSpPr>
          <p:cNvPr id="3"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Elle change selon l’heure</a:t>
            </a:r>
            <a:endParaRPr lang="en-US" sz="3600" dirty="0"/>
          </a:p>
        </p:txBody>
      </p:sp>
      <p:sp>
        <p:nvSpPr>
          <p:cNvPr id="4" name="moment 1"/>
          <p:cNvSpPr/>
          <p:nvPr/>
        </p:nvSpPr>
        <p:spPr>
          <a:xfrm>
            <a:off x="812800" y="1574800"/>
            <a:ext cx="3403600" cy="2730500"/>
          </a:xfrm>
          <a:prstGeom prst="roundRect">
            <a:avLst>
              <a:gd name="adj" fmla="val 7442"/>
            </a:avLst>
          </a:prstGeom>
          <a:solidFill>
            <a:srgbClr val="F1F2EF"/>
          </a:solidFill>
          <a:ln/>
        </p:spPr>
      </p:sp>
      <p:sp>
        <p:nvSpPr>
          <p:cNvPr id="5" name="Text 2"/>
          <p:cNvSpPr txBox="1"/>
          <p:nvPr/>
        </p:nvSpPr>
        <p:spPr>
          <a:xfrm>
            <a:off x="1066800" y="1828800"/>
            <a:ext cx="2895600" cy="508000"/>
          </a:xfrm>
          <a:prstGeom prst="rect">
            <a:avLst/>
          </a:prstGeom>
          <a:noFill/>
          <a:ln/>
        </p:spPr>
        <p:txBody>
          <a:bodyPr wrap="square" lIns="0" tIns="0" rIns="0" bIns="0" rtlCol="0" anchor="t"/>
          <a:lstStyle/>
          <a:p>
            <a:pPr marL="0" indent="0" algn="l">
              <a:lnSpc>
                <a:spcPct val="100000"/>
              </a:lnSpc>
              <a:buNone/>
            </a:pPr>
            <a:r>
              <a:rPr lang="en-US" sz="3600" b="1" dirty="0">
                <a:solidFill>
                  <a:srgbClr val="121417"/>
                </a:solidFill>
              </a:rPr>
              <a:t>21 h 30</a:t>
            </a:r>
            <a:endParaRPr lang="en-US" sz="3600" dirty="0"/>
          </a:p>
        </p:txBody>
      </p:sp>
      <p:sp>
        <p:nvSpPr>
          <p:cNvPr id="6" name="Text 3"/>
          <p:cNvSpPr txBox="1"/>
          <p:nvPr/>
        </p:nvSpPr>
        <p:spPr>
          <a:xfrm>
            <a:off x="1066800" y="23876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868C92"/>
                </a:solidFill>
              </a:rPr>
              <a:t>Dimanche, en hiver</a:t>
            </a:r>
            <a:endParaRPr lang="en-US" sz="1200" dirty="0"/>
          </a:p>
        </p:txBody>
      </p:sp>
      <p:sp>
        <p:nvSpPr>
          <p:cNvPr id="7" name="Text 4"/>
          <p:cNvSpPr txBox="1"/>
          <p:nvPr/>
        </p:nvSpPr>
        <p:spPr>
          <a:xfrm>
            <a:off x="1066800" y="26797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C25E00"/>
                </a:solidFill>
              </a:rPr>
              <a:t>Stationnement</a:t>
            </a:r>
            <a:endParaRPr lang="en-US" sz="1200" dirty="0"/>
          </a:p>
        </p:txBody>
      </p:sp>
      <p:sp>
        <p:nvSpPr>
          <p:cNvPr id="8" name="Text 5"/>
          <p:cNvSpPr txBox="1"/>
          <p:nvPr/>
        </p:nvSpPr>
        <p:spPr>
          <a:xfrm>
            <a:off x="1066800" y="2959100"/>
            <a:ext cx="2895600" cy="508000"/>
          </a:xfrm>
          <a:prstGeom prst="rect">
            <a:avLst/>
          </a:prstGeom>
          <a:noFill/>
          <a:ln/>
        </p:spPr>
        <p:txBody>
          <a:bodyPr wrap="square" lIns="0" tIns="0" rIns="0" bIns="0" rtlCol="0" anchor="t"/>
          <a:lstStyle/>
          <a:p>
            <a:pPr marL="0" indent="0" algn="l">
              <a:lnSpc>
                <a:spcPct val="110000"/>
              </a:lnSpc>
              <a:buNone/>
            </a:pPr>
            <a:r>
              <a:rPr lang="en-US" sz="1600" b="1" dirty="0">
                <a:solidFill>
                  <a:srgbClr val="121417"/>
                </a:solidFill>
              </a:rPr>
              <a:t>Pas d’auto dans la rue cette nuit</a:t>
            </a:r>
            <a:endParaRPr lang="en-US" sz="1600" dirty="0"/>
          </a:p>
        </p:txBody>
      </p:sp>
      <p:sp>
        <p:nvSpPr>
          <p:cNvPr id="9" name="Text 6"/>
          <p:cNvSpPr txBox="1"/>
          <p:nvPr/>
        </p:nvSpPr>
        <p:spPr>
          <a:xfrm>
            <a:off x="1066800" y="3517900"/>
            <a:ext cx="2895600" cy="571500"/>
          </a:xfrm>
          <a:prstGeom prst="rect">
            <a:avLst/>
          </a:prstGeom>
          <a:noFill/>
          <a:ln/>
        </p:spPr>
        <p:txBody>
          <a:bodyPr wrap="square" lIns="0" tIns="0" rIns="0" bIns="0" rtlCol="0" anchor="t"/>
          <a:lstStyle/>
          <a:p>
            <a:pPr marL="0" indent="0" algn="l">
              <a:lnSpc>
                <a:spcPct val="135000"/>
              </a:lnSpc>
              <a:buNone/>
            </a:pPr>
            <a:r>
              <a:rPr lang="en-US" sz="1200" dirty="0">
                <a:solidFill>
                  <a:srgbClr val="4A5056"/>
                </a:solidFill>
              </a:rPr>
              <a:t>Minuit approche et l’amende est de 45 $, alors ça passe en premier.</a:t>
            </a:r>
            <a:endParaRPr lang="en-US" sz="1200" dirty="0"/>
          </a:p>
        </p:txBody>
      </p:sp>
      <p:sp>
        <p:nvSpPr>
          <p:cNvPr id="10" name="moment 2"/>
          <p:cNvSpPr/>
          <p:nvPr/>
        </p:nvSpPr>
        <p:spPr>
          <a:xfrm>
            <a:off x="4394200" y="1574800"/>
            <a:ext cx="3403600" cy="2730500"/>
          </a:xfrm>
          <a:prstGeom prst="roundRect">
            <a:avLst>
              <a:gd name="adj" fmla="val 7442"/>
            </a:avLst>
          </a:prstGeom>
          <a:solidFill>
            <a:srgbClr val="F1F2EF"/>
          </a:solidFill>
          <a:ln/>
        </p:spPr>
      </p:sp>
      <p:sp>
        <p:nvSpPr>
          <p:cNvPr id="11" name="Text 8"/>
          <p:cNvSpPr txBox="1"/>
          <p:nvPr/>
        </p:nvSpPr>
        <p:spPr>
          <a:xfrm>
            <a:off x="4648200" y="1828800"/>
            <a:ext cx="2895600" cy="508000"/>
          </a:xfrm>
          <a:prstGeom prst="rect">
            <a:avLst/>
          </a:prstGeom>
          <a:noFill/>
          <a:ln/>
        </p:spPr>
        <p:txBody>
          <a:bodyPr wrap="square" lIns="0" tIns="0" rIns="0" bIns="0" rtlCol="0" anchor="t"/>
          <a:lstStyle/>
          <a:p>
            <a:pPr marL="0" indent="0" algn="l">
              <a:lnSpc>
                <a:spcPct val="100000"/>
              </a:lnSpc>
              <a:buNone/>
            </a:pPr>
            <a:r>
              <a:rPr lang="en-US" sz="3600" b="1" dirty="0">
                <a:solidFill>
                  <a:srgbClr val="121417"/>
                </a:solidFill>
              </a:rPr>
              <a:t>7 h 35</a:t>
            </a:r>
            <a:endParaRPr lang="en-US" sz="3600" dirty="0"/>
          </a:p>
        </p:txBody>
      </p:sp>
      <p:sp>
        <p:nvSpPr>
          <p:cNvPr id="12" name="Text 9"/>
          <p:cNvSpPr txBox="1"/>
          <p:nvPr/>
        </p:nvSpPr>
        <p:spPr>
          <a:xfrm>
            <a:off x="4648200" y="23876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868C92"/>
                </a:solidFill>
              </a:rPr>
              <a:t>Mercredi matin</a:t>
            </a:r>
            <a:endParaRPr lang="en-US" sz="1200" dirty="0"/>
          </a:p>
        </p:txBody>
      </p:sp>
      <p:sp>
        <p:nvSpPr>
          <p:cNvPr id="13" name="Text 10"/>
          <p:cNvSpPr txBox="1"/>
          <p:nvPr/>
        </p:nvSpPr>
        <p:spPr>
          <a:xfrm>
            <a:off x="4648200" y="26797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2F6BEB"/>
                </a:solidFill>
              </a:rPr>
              <a:t>Bus</a:t>
            </a:r>
            <a:endParaRPr lang="en-US" sz="1200" dirty="0"/>
          </a:p>
        </p:txBody>
      </p:sp>
      <p:sp>
        <p:nvSpPr>
          <p:cNvPr id="14" name="Text 11"/>
          <p:cNvSpPr txBox="1"/>
          <p:nvPr/>
        </p:nvSpPr>
        <p:spPr>
          <a:xfrm>
            <a:off x="4648200" y="2959100"/>
            <a:ext cx="2895600" cy="508000"/>
          </a:xfrm>
          <a:prstGeom prst="rect">
            <a:avLst/>
          </a:prstGeom>
          <a:noFill/>
          <a:ln/>
        </p:spPr>
        <p:txBody>
          <a:bodyPr wrap="square" lIns="0" tIns="0" rIns="0" bIns="0" rtlCol="0" anchor="t"/>
          <a:lstStyle/>
          <a:p>
            <a:pPr marL="0" indent="0" algn="l">
              <a:lnSpc>
                <a:spcPct val="110000"/>
              </a:lnSpc>
              <a:buNone/>
            </a:pPr>
            <a:r>
              <a:rPr lang="en-US" sz="1600" b="1" dirty="0">
                <a:solidFill>
                  <a:srgbClr val="121417"/>
                </a:solidFill>
              </a:rPr>
              <a:t>Le 105 passe dans 11 minutes</a:t>
            </a:r>
            <a:endParaRPr lang="en-US" sz="1600" dirty="0"/>
          </a:p>
        </p:txBody>
      </p:sp>
      <p:sp>
        <p:nvSpPr>
          <p:cNvPr id="15" name="Text 12"/>
          <p:cNvSpPr txBox="1"/>
          <p:nvPr/>
        </p:nvSpPr>
        <p:spPr>
          <a:xfrm>
            <a:off x="4648200" y="3517900"/>
            <a:ext cx="2895600" cy="571500"/>
          </a:xfrm>
          <a:prstGeom prst="rect">
            <a:avLst/>
          </a:prstGeom>
          <a:noFill/>
          <a:ln/>
        </p:spPr>
        <p:txBody>
          <a:bodyPr wrap="square" lIns="0" tIns="0" rIns="0" bIns="0" rtlCol="0" anchor="t"/>
          <a:lstStyle/>
          <a:p>
            <a:pPr marL="0" indent="0" algn="l">
              <a:lnSpc>
                <a:spcPct val="135000"/>
              </a:lnSpc>
              <a:buNone/>
            </a:pPr>
            <a:r>
              <a:rPr lang="en-US" sz="1200" dirty="0">
                <a:solidFill>
                  <a:srgbClr val="4A5056"/>
                </a:solidFill>
              </a:rPr>
              <a:t>C’est l’heure où tu pars, et ton arrêt a un départ bientôt.</a:t>
            </a:r>
            <a:endParaRPr lang="en-US" sz="1200" dirty="0"/>
          </a:p>
        </p:txBody>
      </p:sp>
      <p:sp>
        <p:nvSpPr>
          <p:cNvPr id="16" name="moment 3"/>
          <p:cNvSpPr/>
          <p:nvPr/>
        </p:nvSpPr>
        <p:spPr>
          <a:xfrm>
            <a:off x="7975600" y="1574800"/>
            <a:ext cx="3403600" cy="2730500"/>
          </a:xfrm>
          <a:prstGeom prst="roundRect">
            <a:avLst>
              <a:gd name="adj" fmla="val 7442"/>
            </a:avLst>
          </a:prstGeom>
          <a:solidFill>
            <a:srgbClr val="F1F2EF"/>
          </a:solidFill>
          <a:ln/>
        </p:spPr>
      </p:sp>
      <p:sp>
        <p:nvSpPr>
          <p:cNvPr id="17" name="Text 14"/>
          <p:cNvSpPr txBox="1"/>
          <p:nvPr/>
        </p:nvSpPr>
        <p:spPr>
          <a:xfrm>
            <a:off x="8229600" y="1828800"/>
            <a:ext cx="2895600" cy="508000"/>
          </a:xfrm>
          <a:prstGeom prst="rect">
            <a:avLst/>
          </a:prstGeom>
          <a:noFill/>
          <a:ln/>
        </p:spPr>
        <p:txBody>
          <a:bodyPr wrap="square" lIns="0" tIns="0" rIns="0" bIns="0" rtlCol="0" anchor="t"/>
          <a:lstStyle/>
          <a:p>
            <a:pPr marL="0" indent="0" algn="l">
              <a:lnSpc>
                <a:spcPct val="100000"/>
              </a:lnSpc>
              <a:buNone/>
            </a:pPr>
            <a:r>
              <a:rPr lang="en-US" sz="3600" b="1" dirty="0">
                <a:solidFill>
                  <a:srgbClr val="121417"/>
                </a:solidFill>
              </a:rPr>
              <a:t>17 h 13</a:t>
            </a:r>
            <a:endParaRPr lang="en-US" sz="3600" dirty="0"/>
          </a:p>
        </p:txBody>
      </p:sp>
      <p:sp>
        <p:nvSpPr>
          <p:cNvPr id="18" name="Text 15"/>
          <p:cNvSpPr txBox="1"/>
          <p:nvPr/>
        </p:nvSpPr>
        <p:spPr>
          <a:xfrm>
            <a:off x="8229600" y="23876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868C92"/>
                </a:solidFill>
              </a:rPr>
              <a:t>Samedi, avis de la Ville</a:t>
            </a:r>
            <a:endParaRPr lang="en-US" sz="1200" dirty="0"/>
          </a:p>
        </p:txBody>
      </p:sp>
      <p:sp>
        <p:nvSpPr>
          <p:cNvPr id="19" name="Text 16"/>
          <p:cNvSpPr txBox="1"/>
          <p:nvPr/>
        </p:nvSpPr>
        <p:spPr>
          <a:xfrm>
            <a:off x="8229600" y="26797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C93630"/>
                </a:solidFill>
              </a:rPr>
              <a:t>Eau</a:t>
            </a:r>
            <a:endParaRPr lang="en-US" sz="1200" dirty="0"/>
          </a:p>
        </p:txBody>
      </p:sp>
      <p:sp>
        <p:nvSpPr>
          <p:cNvPr id="20" name="Text 17"/>
          <p:cNvSpPr txBox="1"/>
          <p:nvPr/>
        </p:nvSpPr>
        <p:spPr>
          <a:xfrm>
            <a:off x="8229600" y="2959100"/>
            <a:ext cx="2895600" cy="508000"/>
          </a:xfrm>
          <a:prstGeom prst="rect">
            <a:avLst/>
          </a:prstGeom>
          <a:noFill/>
          <a:ln/>
        </p:spPr>
        <p:txBody>
          <a:bodyPr wrap="square" lIns="0" tIns="0" rIns="0" bIns="0" rtlCol="0" anchor="t"/>
          <a:lstStyle/>
          <a:p>
            <a:pPr marL="0" indent="0" algn="l">
              <a:lnSpc>
                <a:spcPct val="110000"/>
              </a:lnSpc>
              <a:buNone/>
            </a:pPr>
            <a:r>
              <a:rPr lang="en-US" sz="1600" b="1" dirty="0">
                <a:solidFill>
                  <a:srgbClr val="121417"/>
                </a:solidFill>
              </a:rPr>
              <a:t>Fais bouillir l’eau avant de la boire</a:t>
            </a:r>
            <a:endParaRPr lang="en-US" sz="1600" dirty="0"/>
          </a:p>
        </p:txBody>
      </p:sp>
      <p:sp>
        <p:nvSpPr>
          <p:cNvPr id="21" name="Text 18"/>
          <p:cNvSpPr txBox="1"/>
          <p:nvPr/>
        </p:nvSpPr>
        <p:spPr>
          <a:xfrm>
            <a:off x="8229600" y="3517900"/>
            <a:ext cx="2895600" cy="571500"/>
          </a:xfrm>
          <a:prstGeom prst="rect">
            <a:avLst/>
          </a:prstGeom>
          <a:noFill/>
          <a:ln/>
        </p:spPr>
        <p:txBody>
          <a:bodyPr wrap="square" lIns="0" tIns="0" rIns="0" bIns="0" rtlCol="0" anchor="t"/>
          <a:lstStyle/>
          <a:p>
            <a:pPr marL="0" indent="0" algn="l">
              <a:lnSpc>
                <a:spcPct val="135000"/>
              </a:lnSpc>
              <a:buNone/>
            </a:pPr>
            <a:r>
              <a:rPr lang="en-US" sz="1200" dirty="0">
                <a:solidFill>
                  <a:srgbClr val="4A5056"/>
                </a:solidFill>
              </a:rPr>
              <a:t>C’est une question de santé, donc ça passe avant tout le reste.</a:t>
            </a:r>
            <a:endParaRPr lang="en-US" sz="1200" dirty="0"/>
          </a:p>
        </p:txBody>
      </p:sp>
      <p:sp>
        <p:nvSpPr>
          <p:cNvPr id="22" name="Text 19"/>
          <p:cNvSpPr txBox="1"/>
          <p:nvPr/>
        </p:nvSpPr>
        <p:spPr>
          <a:xfrm>
            <a:off x="812800" y="4584700"/>
            <a:ext cx="105664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Aucune boîte noire. Ce sont des règles simples, qu’on peut expliquer à n’importe qui.</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Le widget change tout seul</a:t>
            </a:r>
            <a:endParaRPr lang="en-US" sz="3600" dirty="0"/>
          </a:p>
        </p:txBody>
      </p:sp>
      <p:sp>
        <p:nvSpPr>
          <p:cNvPr id="4" name="Text 1"/>
          <p:cNvSpPr txBox="1"/>
          <p:nvPr/>
        </p:nvSpPr>
        <p:spPr>
          <a:xfrm>
            <a:off x="812800" y="1587500"/>
            <a:ext cx="5130800" cy="952500"/>
          </a:xfrm>
          <a:prstGeom prst="rect">
            <a:avLst/>
          </a:prstGeom>
          <a:noFill/>
          <a:ln/>
        </p:spPr>
        <p:txBody>
          <a:bodyPr wrap="square" lIns="0" tIns="0" rIns="0" bIns="0" rtlCol="0" anchor="t"/>
          <a:lstStyle/>
          <a:p>
            <a:pPr marL="0" indent="0" algn="l">
              <a:lnSpc>
                <a:spcPct val="140000"/>
              </a:lnSpc>
              <a:buNone/>
            </a:pPr>
            <a:r>
              <a:rPr lang="en-US" sz="1600" dirty="0">
                <a:solidFill>
                  <a:srgbClr val="4A5056"/>
                </a:solidFill>
              </a:rPr>
              <a:t>L’app lui donne d’avance les sept prochains jours. Il passe à la bonne information à la minute près, même si on n’ouvre pas l’app.</a:t>
            </a:r>
            <a:endParaRPr lang="en-US" sz="1600" dirty="0"/>
          </a:p>
        </p:txBody>
      </p:sp>
      <p:sp>
        <p:nvSpPr>
          <p:cNvPr id="5" name="Text 2"/>
          <p:cNvSpPr txBox="1"/>
          <p:nvPr/>
        </p:nvSpPr>
        <p:spPr>
          <a:xfrm>
            <a:off x="812800" y="2794000"/>
            <a:ext cx="1524000" cy="2794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7 jours</a:t>
            </a:r>
            <a:endParaRPr lang="en-US" sz="1600" dirty="0"/>
          </a:p>
        </p:txBody>
      </p:sp>
      <p:sp>
        <p:nvSpPr>
          <p:cNvPr id="6" name="Text 3"/>
          <p:cNvSpPr txBox="1"/>
          <p:nvPr/>
        </p:nvSpPr>
        <p:spPr>
          <a:xfrm>
            <a:off x="2463800" y="2819400"/>
            <a:ext cx="34798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d’avance, même sans réseau</a:t>
            </a:r>
            <a:endParaRPr lang="en-US" sz="1400" dirty="0"/>
          </a:p>
        </p:txBody>
      </p:sp>
      <p:sp>
        <p:nvSpPr>
          <p:cNvPr id="7" name="Text 4"/>
          <p:cNvSpPr txBox="1"/>
          <p:nvPr/>
        </p:nvSpPr>
        <p:spPr>
          <a:xfrm>
            <a:off x="812800" y="3200400"/>
            <a:ext cx="1524000" cy="2794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À la minute</a:t>
            </a:r>
            <a:endParaRPr lang="en-US" sz="1600" dirty="0"/>
          </a:p>
        </p:txBody>
      </p:sp>
      <p:sp>
        <p:nvSpPr>
          <p:cNvPr id="8" name="Text 5"/>
          <p:cNvSpPr txBox="1"/>
          <p:nvPr/>
        </p:nvSpPr>
        <p:spPr>
          <a:xfrm>
            <a:off x="2463800" y="3225800"/>
            <a:ext cx="34798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le bus de 7 h 46 s’efface à 7 h 47</a:t>
            </a:r>
            <a:endParaRPr lang="en-US" sz="1400" dirty="0"/>
          </a:p>
        </p:txBody>
      </p:sp>
      <p:sp>
        <p:nvSpPr>
          <p:cNvPr id="9" name="Text 6"/>
          <p:cNvSpPr txBox="1"/>
          <p:nvPr/>
        </p:nvSpPr>
        <p:spPr>
          <a:xfrm>
            <a:off x="812800" y="3606800"/>
            <a:ext cx="1524000" cy="2794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Un toucher</a:t>
            </a:r>
            <a:endParaRPr lang="en-US" sz="1600" dirty="0"/>
          </a:p>
        </p:txBody>
      </p:sp>
      <p:sp>
        <p:nvSpPr>
          <p:cNvPr id="10" name="Text 7"/>
          <p:cNvSpPr txBox="1"/>
          <p:nvPr/>
        </p:nvSpPr>
        <p:spPr>
          <a:xfrm>
            <a:off x="2463800" y="3632200"/>
            <a:ext cx="34798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ouvre la fiche de ce qui est affiché</a:t>
            </a:r>
            <a:endParaRPr lang="en-US" sz="1400" dirty="0"/>
          </a:p>
        </p:txBody>
      </p:sp>
      <p:sp>
        <p:nvSpPr>
          <p:cNvPr id="11" name="widget"/>
          <p:cNvSpPr/>
          <p:nvPr/>
        </p:nvSpPr>
        <p:spPr>
          <a:xfrm>
            <a:off x="6553200" y="1663700"/>
            <a:ext cx="4826000" cy="3022600"/>
          </a:xfrm>
          <a:prstGeom prst="roundRect">
            <a:avLst>
              <a:gd name="adj" fmla="val 10084"/>
            </a:avLst>
          </a:prstGeom>
          <a:solidFill>
            <a:srgbClr val="FFFFFF"/>
          </a:solidFill>
          <a:ln/>
          <a:effectLst>
            <a:outerShdw blurRad="381000" dist="177800" dir="5400000" algn="bl" rotWithShape="0">
              <a:srgbClr val="121417">
                <a:alpha val="18000"/>
              </a:srgbClr>
            </a:outerShdw>
          </a:effectLst>
        </p:spPr>
      </p:sp>
      <p:sp>
        <p:nvSpPr>
          <p:cNvPr id="12" name="Shape 9"/>
          <p:cNvSpPr/>
          <p:nvPr/>
        </p:nvSpPr>
        <p:spPr>
          <a:xfrm>
            <a:off x="6858000" y="1943100"/>
            <a:ext cx="228600" cy="228600"/>
          </a:xfrm>
          <a:prstGeom prst="ellipse">
            <a:avLst/>
          </a:prstGeom>
          <a:solidFill>
            <a:srgbClr val="FFD02B"/>
          </a:solidFill>
          <a:ln/>
        </p:spPr>
      </p:sp>
      <p:sp>
        <p:nvSpPr>
          <p:cNvPr id="13" name="Text 10"/>
          <p:cNvSpPr txBox="1"/>
          <p:nvPr/>
        </p:nvSpPr>
        <p:spPr>
          <a:xfrm>
            <a:off x="7175500" y="1943100"/>
            <a:ext cx="1905000" cy="228600"/>
          </a:xfrm>
          <a:prstGeom prst="rect">
            <a:avLst/>
          </a:prstGeom>
          <a:noFill/>
          <a:ln/>
        </p:spPr>
        <p:txBody>
          <a:bodyPr wrap="square" lIns="0" tIns="0" rIns="0" bIns="0" rtlCol="0" anchor="ctr"/>
          <a:lstStyle/>
          <a:p>
            <a:pPr marL="0" indent="0" algn="l">
              <a:lnSpc>
                <a:spcPct val="120000"/>
              </a:lnSpc>
              <a:buNone/>
            </a:pPr>
            <a:r>
              <a:rPr lang="en-US" sz="1200" b="1" dirty="0">
                <a:solidFill>
                  <a:srgbClr val="4A5056"/>
                </a:solidFill>
              </a:rPr>
              <a:t>Aujourd’hui</a:t>
            </a:r>
            <a:endParaRPr lang="en-US" sz="1200" dirty="0"/>
          </a:p>
        </p:txBody>
      </p:sp>
      <p:sp>
        <p:nvSpPr>
          <p:cNvPr id="14" name="Text 11"/>
          <p:cNvSpPr txBox="1"/>
          <p:nvPr/>
        </p:nvSpPr>
        <p:spPr>
          <a:xfrm>
            <a:off x="9474200" y="1943100"/>
            <a:ext cx="1600200" cy="228600"/>
          </a:xfrm>
          <a:prstGeom prst="rect">
            <a:avLst/>
          </a:prstGeom>
          <a:noFill/>
          <a:ln/>
        </p:spPr>
        <p:txBody>
          <a:bodyPr wrap="square" lIns="0" tIns="0" rIns="0" bIns="0" rtlCol="0" anchor="ctr"/>
          <a:lstStyle/>
          <a:p>
            <a:pPr marL="0" indent="0" algn="r">
              <a:lnSpc>
                <a:spcPct val="120000"/>
              </a:lnSpc>
              <a:buNone/>
            </a:pPr>
            <a:r>
              <a:rPr lang="en-US" sz="1200" dirty="0">
                <a:solidFill>
                  <a:srgbClr val="4A5056"/>
                </a:solidFill>
              </a:rPr>
              <a:t>Racine Est</a:t>
            </a:r>
            <a:endParaRPr lang="en-US" sz="1200" dirty="0"/>
          </a:p>
        </p:txBody>
      </p:sp>
      <p:sp>
        <p:nvSpPr>
          <p:cNvPr id="15" name="Text 12"/>
          <p:cNvSpPr txBox="1"/>
          <p:nvPr/>
        </p:nvSpPr>
        <p:spPr>
          <a:xfrm>
            <a:off x="6858000" y="2247900"/>
            <a:ext cx="3810000" cy="215900"/>
          </a:xfrm>
          <a:prstGeom prst="rect">
            <a:avLst/>
          </a:prstGeom>
          <a:noFill/>
          <a:ln/>
        </p:spPr>
        <p:txBody>
          <a:bodyPr wrap="square" lIns="0" tIns="0" rIns="0" bIns="0" rtlCol="0" anchor="t"/>
          <a:lstStyle/>
          <a:p>
            <a:pPr marL="0" indent="0" algn="l">
              <a:lnSpc>
                <a:spcPct val="120000"/>
              </a:lnSpc>
              <a:buNone/>
            </a:pPr>
            <a:r>
              <a:rPr lang="en-US" sz="1200" b="1" dirty="0">
                <a:solidFill>
                  <a:srgbClr val="157A4A"/>
                </a:solidFill>
              </a:rPr>
              <a:t>Ce soir</a:t>
            </a:r>
            <a:endParaRPr lang="en-US" sz="1200" dirty="0"/>
          </a:p>
        </p:txBody>
      </p:sp>
      <p:sp>
        <p:nvSpPr>
          <p:cNvPr id="16" name="Text 13"/>
          <p:cNvSpPr txBox="1"/>
          <p:nvPr/>
        </p:nvSpPr>
        <p:spPr>
          <a:xfrm>
            <a:off x="6858000" y="2489200"/>
            <a:ext cx="4216400" cy="355600"/>
          </a:xfrm>
          <a:prstGeom prst="rect">
            <a:avLst/>
          </a:prstGeom>
          <a:noFill/>
          <a:ln/>
        </p:spPr>
        <p:txBody>
          <a:bodyPr wrap="square" lIns="0" tIns="0" rIns="0" bIns="0" rtlCol="0" anchor="t"/>
          <a:lstStyle/>
          <a:p>
            <a:pPr marL="0" indent="0" algn="l">
              <a:lnSpc>
                <a:spcPct val="120000"/>
              </a:lnSpc>
              <a:buNone/>
            </a:pPr>
            <a:r>
              <a:rPr lang="en-US" sz="2200" b="1" dirty="0">
                <a:solidFill>
                  <a:srgbClr val="121417"/>
                </a:solidFill>
              </a:rPr>
              <a:t>Sors le bac bleu</a:t>
            </a:r>
            <a:endParaRPr lang="en-US" sz="2200" dirty="0"/>
          </a:p>
        </p:txBody>
      </p:sp>
      <p:sp>
        <p:nvSpPr>
          <p:cNvPr id="17" name="Text 14"/>
          <p:cNvSpPr txBox="1"/>
          <p:nvPr/>
        </p:nvSpPr>
        <p:spPr>
          <a:xfrm>
            <a:off x="6858000" y="2882900"/>
            <a:ext cx="4216400" cy="2540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La collecte passe demain matin.</a:t>
            </a:r>
            <a:endParaRPr lang="en-US" sz="1400" dirty="0"/>
          </a:p>
        </p:txBody>
      </p:sp>
      <p:sp>
        <p:nvSpPr>
          <p:cNvPr id="18" name="Text 15"/>
          <p:cNvSpPr txBox="1"/>
          <p:nvPr/>
        </p:nvSpPr>
        <p:spPr>
          <a:xfrm>
            <a:off x="6858000" y="3314700"/>
            <a:ext cx="3810000" cy="215900"/>
          </a:xfrm>
          <a:prstGeom prst="rect">
            <a:avLst/>
          </a:prstGeom>
          <a:noFill/>
          <a:ln/>
        </p:spPr>
        <p:txBody>
          <a:bodyPr wrap="square" lIns="0" tIns="0" rIns="0" bIns="0" rtlCol="0" anchor="t"/>
          <a:lstStyle/>
          <a:p>
            <a:pPr marL="0" indent="0" algn="l">
              <a:lnSpc>
                <a:spcPct val="120000"/>
              </a:lnSpc>
              <a:buNone/>
            </a:pPr>
            <a:r>
              <a:rPr lang="en-US" sz="1200" b="1" dirty="0">
                <a:solidFill>
                  <a:srgbClr val="4A5056"/>
                </a:solidFill>
              </a:rPr>
              <a:t>À venir</a:t>
            </a:r>
            <a:endParaRPr lang="en-US" sz="1200" dirty="0"/>
          </a:p>
        </p:txBody>
      </p:sp>
      <p:sp>
        <p:nvSpPr>
          <p:cNvPr id="19" name="Text 16"/>
          <p:cNvSpPr txBox="1"/>
          <p:nvPr/>
        </p:nvSpPr>
        <p:spPr>
          <a:xfrm>
            <a:off x="6858000" y="3594100"/>
            <a:ext cx="10795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Demain</a:t>
            </a:r>
            <a:endParaRPr lang="en-US" sz="1200" dirty="0"/>
          </a:p>
        </p:txBody>
      </p:sp>
      <p:sp>
        <p:nvSpPr>
          <p:cNvPr id="20" name="Text 17"/>
          <p:cNvSpPr txBox="1"/>
          <p:nvPr/>
        </p:nvSpPr>
        <p:spPr>
          <a:xfrm>
            <a:off x="8039100" y="3594100"/>
            <a:ext cx="3035300" cy="215900"/>
          </a:xfrm>
          <a:prstGeom prst="rect">
            <a:avLst/>
          </a:prstGeom>
          <a:noFill/>
          <a:ln/>
        </p:spPr>
        <p:txBody>
          <a:bodyPr wrap="square" lIns="0" tIns="0" rIns="0" bIns="0" rtlCol="0" anchor="t"/>
          <a:lstStyle/>
          <a:p>
            <a:pPr marL="0" indent="0" algn="l">
              <a:lnSpc>
                <a:spcPct val="120000"/>
              </a:lnSpc>
              <a:buNone/>
            </a:pPr>
            <a:r>
              <a:rPr lang="en-US" sz="1200" dirty="0">
                <a:solidFill>
                  <a:srgbClr val="121417"/>
                </a:solidFill>
              </a:rPr>
              <a:t>Le camion passe ce matin</a:t>
            </a:r>
            <a:endParaRPr lang="en-US" sz="1200" dirty="0"/>
          </a:p>
        </p:txBody>
      </p:sp>
      <p:sp>
        <p:nvSpPr>
          <p:cNvPr id="21" name="Text 18"/>
          <p:cNvSpPr txBox="1"/>
          <p:nvPr/>
        </p:nvSpPr>
        <p:spPr>
          <a:xfrm>
            <a:off x="6858000" y="3860800"/>
            <a:ext cx="10795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Demain 9 h</a:t>
            </a:r>
            <a:endParaRPr lang="en-US" sz="1200" dirty="0"/>
          </a:p>
        </p:txBody>
      </p:sp>
      <p:sp>
        <p:nvSpPr>
          <p:cNvPr id="22" name="Text 19"/>
          <p:cNvSpPr txBox="1"/>
          <p:nvPr/>
        </p:nvSpPr>
        <p:spPr>
          <a:xfrm>
            <a:off x="8039100" y="3860800"/>
            <a:ext cx="3035300" cy="215900"/>
          </a:xfrm>
          <a:prstGeom prst="rect">
            <a:avLst/>
          </a:prstGeom>
          <a:noFill/>
          <a:ln/>
        </p:spPr>
        <p:txBody>
          <a:bodyPr wrap="square" lIns="0" tIns="0" rIns="0" bIns="0" rtlCol="0" anchor="t"/>
          <a:lstStyle/>
          <a:p>
            <a:pPr marL="0" indent="0" algn="l">
              <a:lnSpc>
                <a:spcPct val="120000"/>
              </a:lnSpc>
              <a:buNone/>
            </a:pPr>
            <a:r>
              <a:rPr lang="en-US" sz="1200" dirty="0">
                <a:solidFill>
                  <a:srgbClr val="121417"/>
                </a:solidFill>
              </a:rPr>
              <a:t>Rentre le bac avant midi</a:t>
            </a:r>
            <a:endParaRPr lang="en-US" sz="1200" dirty="0"/>
          </a:p>
        </p:txBody>
      </p:sp>
      <p:sp>
        <p:nvSpPr>
          <p:cNvPr id="23" name="Text 20"/>
          <p:cNvSpPr txBox="1"/>
          <p:nvPr/>
        </p:nvSpPr>
        <p:spPr>
          <a:xfrm>
            <a:off x="6858000" y="4127500"/>
            <a:ext cx="10795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Demain 12 h</a:t>
            </a:r>
            <a:endParaRPr lang="en-US" sz="1200" dirty="0"/>
          </a:p>
        </p:txBody>
      </p:sp>
      <p:sp>
        <p:nvSpPr>
          <p:cNvPr id="24" name="Text 21"/>
          <p:cNvSpPr txBox="1"/>
          <p:nvPr/>
        </p:nvSpPr>
        <p:spPr>
          <a:xfrm>
            <a:off x="8039100" y="4127500"/>
            <a:ext cx="3035300" cy="215900"/>
          </a:xfrm>
          <a:prstGeom prst="rect">
            <a:avLst/>
          </a:prstGeom>
          <a:noFill/>
          <a:ln/>
        </p:spPr>
        <p:txBody>
          <a:bodyPr wrap="square" lIns="0" tIns="0" rIns="0" bIns="0" rtlCol="0" anchor="t"/>
          <a:lstStyle/>
          <a:p>
            <a:pPr marL="0" indent="0" algn="l">
              <a:lnSpc>
                <a:spcPct val="120000"/>
              </a:lnSpc>
              <a:buNone/>
            </a:pPr>
            <a:r>
              <a:rPr lang="en-US" sz="1200" dirty="0">
                <a:solidFill>
                  <a:srgbClr val="121417"/>
                </a:solidFill>
              </a:rPr>
              <a:t>Saguenay Est, à contresens</a:t>
            </a:r>
            <a:endParaRPr lang="en-US" sz="1200" dirty="0"/>
          </a:p>
        </p:txBody>
      </p:sp>
      <p:sp>
        <p:nvSpPr>
          <p:cNvPr id="25" name="Text 22"/>
          <p:cNvSpPr txBox="1"/>
          <p:nvPr/>
        </p:nvSpPr>
        <p:spPr>
          <a:xfrm>
            <a:off x="6553200" y="4838700"/>
            <a:ext cx="4826000" cy="444500"/>
          </a:xfrm>
          <a:prstGeom prst="rect">
            <a:avLst/>
          </a:prstGeom>
          <a:noFill/>
          <a:ln/>
        </p:spPr>
        <p:txBody>
          <a:bodyPr wrap="square" lIns="0" tIns="0" rIns="0" bIns="0" rtlCol="0" anchor="t"/>
          <a:lstStyle/>
          <a:p>
            <a:pPr marL="0" indent="0" algn="l">
              <a:lnSpc>
                <a:spcPct val="135000"/>
              </a:lnSpc>
              <a:buNone/>
            </a:pPr>
            <a:r>
              <a:rPr lang="en-US" sz="1200" dirty="0">
                <a:solidFill>
                  <a:srgbClr val="4A5056"/>
                </a:solidFill>
              </a:rPr>
              <a:t>Lundi 26 octobre, 15 h : le widget est passé seul du bus de 15 h 16 au bac bleu. Vérifié sur Android.</a:t>
            </a:r>
            <a:endParaRPr lang="en-US" sz="1200" dirty="0"/>
          </a:p>
        </p:txBody>
      </p:sp>
      <p:sp>
        <p:nvSpPr>
          <p:cNvPr id="3"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Elle voit venir la semaine</a:t>
            </a:r>
            <a:endParaRPr lang="en-US" sz="3600" dirty="0"/>
          </a:p>
        </p:txBody>
      </p:sp>
      <p:sp>
        <p:nvSpPr>
          <p:cNvPr id="4" name="carte 1"/>
          <p:cNvSpPr/>
          <p:nvPr/>
        </p:nvSpPr>
        <p:spPr>
          <a:xfrm>
            <a:off x="812800" y="1574800"/>
            <a:ext cx="3403600" cy="2794000"/>
          </a:xfrm>
          <a:prstGeom prst="roundRect">
            <a:avLst>
              <a:gd name="adj" fmla="val 7273"/>
            </a:avLst>
          </a:prstGeom>
          <a:solidFill>
            <a:srgbClr val="F1F2EF"/>
          </a:solidFill>
          <a:ln/>
        </p:spPr>
      </p:sp>
      <p:sp>
        <p:nvSpPr>
          <p:cNvPr id="5" name="Text 2"/>
          <p:cNvSpPr txBox="1"/>
          <p:nvPr/>
        </p:nvSpPr>
        <p:spPr>
          <a:xfrm>
            <a:off x="10668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4E6A85"/>
                </a:solidFill>
              </a:rPr>
              <a:t>Météo · ce soir</a:t>
            </a:r>
            <a:endParaRPr lang="en-US" sz="1200" dirty="0"/>
          </a:p>
        </p:txBody>
      </p:sp>
      <p:sp>
        <p:nvSpPr>
          <p:cNvPr id="6" name="Text 3"/>
          <p:cNvSpPr txBox="1"/>
          <p:nvPr/>
        </p:nvSpPr>
        <p:spPr>
          <a:xfrm>
            <a:off x="10668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Avertissement de neige</a:t>
            </a:r>
            <a:endParaRPr lang="en-US" sz="2200" dirty="0"/>
          </a:p>
        </p:txBody>
      </p:sp>
      <p:sp>
        <p:nvSpPr>
          <p:cNvPr id="7" name="Text 4"/>
          <p:cNvSpPr txBox="1"/>
          <p:nvPr/>
        </p:nvSpPr>
        <p:spPr>
          <a:xfrm>
            <a:off x="1066800" y="2832100"/>
            <a:ext cx="2895600" cy="10160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De 15 à 20 cm cette nuit. L’auto hors de la rue, et du temps pour déneiger demain matin.</a:t>
            </a:r>
            <a:endParaRPr lang="en-US" sz="1400" dirty="0"/>
          </a:p>
        </p:txBody>
      </p:sp>
      <p:sp>
        <p:nvSpPr>
          <p:cNvPr id="8" name="Text 5"/>
          <p:cNvSpPr txBox="1"/>
          <p:nvPr/>
        </p:nvSpPr>
        <p:spPr>
          <a:xfrm>
            <a:off x="1066800" y="38989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Environnement Canada, en direct</a:t>
            </a:r>
            <a:endParaRPr lang="en-US" sz="1200" dirty="0"/>
          </a:p>
        </p:txBody>
      </p:sp>
      <p:sp>
        <p:nvSpPr>
          <p:cNvPr id="9" name="carte 2"/>
          <p:cNvSpPr/>
          <p:nvPr/>
        </p:nvSpPr>
        <p:spPr>
          <a:xfrm>
            <a:off x="4394200" y="1574800"/>
            <a:ext cx="3403600" cy="2794000"/>
          </a:xfrm>
          <a:prstGeom prst="roundRect">
            <a:avLst>
              <a:gd name="adj" fmla="val 7273"/>
            </a:avLst>
          </a:prstGeom>
          <a:solidFill>
            <a:srgbClr val="F1F2EF"/>
          </a:solidFill>
          <a:ln/>
        </p:spPr>
      </p:sp>
      <p:sp>
        <p:nvSpPr>
          <p:cNvPr id="10" name="Text 7"/>
          <p:cNvSpPr txBox="1"/>
          <p:nvPr/>
        </p:nvSpPr>
        <p:spPr>
          <a:xfrm>
            <a:off x="46482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B8336A"/>
                </a:solidFill>
              </a:rPr>
              <a:t>Électricité · demain</a:t>
            </a:r>
            <a:endParaRPr lang="en-US" sz="1200" dirty="0"/>
          </a:p>
        </p:txBody>
      </p:sp>
      <p:sp>
        <p:nvSpPr>
          <p:cNvPr id="11" name="Text 8"/>
          <p:cNvSpPr txBox="1"/>
          <p:nvPr/>
        </p:nvSpPr>
        <p:spPr>
          <a:xfrm>
            <a:off x="46482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Courant coupé de 9 h à 13 h</a:t>
            </a:r>
            <a:endParaRPr lang="en-US" sz="2200" dirty="0"/>
          </a:p>
        </p:txBody>
      </p:sp>
      <p:sp>
        <p:nvSpPr>
          <p:cNvPr id="12" name="Text 9"/>
          <p:cNvSpPr txBox="1"/>
          <p:nvPr/>
        </p:nvSpPr>
        <p:spPr>
          <a:xfrm>
            <a:off x="4648200" y="2832100"/>
            <a:ext cx="2895600" cy="10160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Travaux planifiés dans ton secteur. Un rappel arrive la veille, à 19 h.</a:t>
            </a:r>
            <a:endParaRPr lang="en-US" sz="1400" dirty="0"/>
          </a:p>
        </p:txBody>
      </p:sp>
      <p:sp>
        <p:nvSpPr>
          <p:cNvPr id="13" name="Text 10"/>
          <p:cNvSpPr txBox="1"/>
          <p:nvPr/>
        </p:nvSpPr>
        <p:spPr>
          <a:xfrm>
            <a:off x="4648200" y="38989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Hydro-Québec, en direct</a:t>
            </a:r>
            <a:endParaRPr lang="en-US" sz="1200" dirty="0"/>
          </a:p>
        </p:txBody>
      </p:sp>
      <p:sp>
        <p:nvSpPr>
          <p:cNvPr id="14" name="carte 3"/>
          <p:cNvSpPr/>
          <p:nvPr/>
        </p:nvSpPr>
        <p:spPr>
          <a:xfrm>
            <a:off x="7975600" y="1574800"/>
            <a:ext cx="3403600" cy="2794000"/>
          </a:xfrm>
          <a:prstGeom prst="roundRect">
            <a:avLst>
              <a:gd name="adj" fmla="val 7273"/>
            </a:avLst>
          </a:prstGeom>
          <a:solidFill>
            <a:srgbClr val="F1F2EF"/>
          </a:solidFill>
          <a:ln/>
        </p:spPr>
      </p:sp>
      <p:sp>
        <p:nvSpPr>
          <p:cNvPr id="15" name="Text 12"/>
          <p:cNvSpPr txBox="1"/>
          <p:nvPr/>
        </p:nvSpPr>
        <p:spPr>
          <a:xfrm>
            <a:off x="82296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157A4A"/>
                </a:solidFill>
              </a:rPr>
              <a:t>Ta semaine · dimanche, 18 h</a:t>
            </a:r>
            <a:endParaRPr lang="en-US" sz="1200" dirty="0"/>
          </a:p>
        </p:txBody>
      </p:sp>
      <p:sp>
        <p:nvSpPr>
          <p:cNvPr id="16" name="Text 13"/>
          <p:cNvSpPr txBox="1"/>
          <p:nvPr/>
        </p:nvSpPr>
        <p:spPr>
          <a:xfrm>
            <a:off x="82296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Recyclage mardi</a:t>
            </a:r>
            <a:endParaRPr lang="en-US" sz="2200" dirty="0"/>
          </a:p>
        </p:txBody>
      </p:sp>
      <p:sp>
        <p:nvSpPr>
          <p:cNvPr id="17" name="Text 14"/>
          <p:cNvSpPr txBox="1"/>
          <p:nvPr/>
        </p:nvSpPr>
        <p:spPr>
          <a:xfrm>
            <a:off x="8229600" y="2832100"/>
            <a:ext cx="2895600" cy="10160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Travaux sur ta rue jusqu’au 6 novembre. Toute la semaine en une notification.</a:t>
            </a:r>
            <a:endParaRPr lang="en-US" sz="1400" dirty="0"/>
          </a:p>
        </p:txBody>
      </p:sp>
      <p:sp>
        <p:nvSpPr>
          <p:cNvPr id="18" name="Text 15"/>
          <p:cNvSpPr txBox="1"/>
          <p:nvPr/>
        </p:nvSpPr>
        <p:spPr>
          <a:xfrm>
            <a:off x="8229600" y="38989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Calculé sur le téléphone</a:t>
            </a:r>
            <a:endParaRPr lang="en-US" sz="1200" dirty="0"/>
          </a:p>
        </p:txBody>
      </p:sp>
      <p:sp>
        <p:nvSpPr>
          <p:cNvPr id="19" name="Text 16"/>
          <p:cNvSpPr txBox="1"/>
          <p:nvPr/>
        </p:nvSpPr>
        <p:spPr>
          <a:xfrm>
            <a:off x="812800" y="4648200"/>
            <a:ext cx="10566400" cy="279400"/>
          </a:xfrm>
          <a:prstGeom prst="rect">
            <a:avLst/>
          </a:prstGeom>
          <a:noFill/>
          <a:ln/>
        </p:spPr>
        <p:txBody>
          <a:bodyPr wrap="square" lIns="0" tIns="0" rIns="0" bIns="0" rtlCol="0" anchor="t"/>
          <a:lstStyle/>
          <a:p>
            <a:pPr marL="0" indent="0" algn="l">
              <a:lnSpc>
                <a:spcPct val="120000"/>
              </a:lnSpc>
              <a:buNone/>
            </a:pPr>
            <a:r>
              <a:rPr lang="en-US" sz="1400" dirty="0">
                <a:solidFill>
                  <a:srgbClr val="4A5056"/>
                </a:solidFill>
              </a:rPr>
              <a:t>La tempête et la coupure sont des mises en situation. Les deux sources, elles, sont déjà branchées.</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Et quand tu as une question</a:t>
            </a:r>
            <a:endParaRPr lang="en-US" sz="3600" dirty="0"/>
          </a:p>
        </p:txBody>
      </p:sp>
      <p:sp>
        <p:nvSpPr>
          <p:cNvPr id="4" name="carte 1"/>
          <p:cNvSpPr/>
          <p:nvPr/>
        </p:nvSpPr>
        <p:spPr>
          <a:xfrm>
            <a:off x="812800" y="1574800"/>
            <a:ext cx="3403600" cy="2984500"/>
          </a:xfrm>
          <a:prstGeom prst="roundRect">
            <a:avLst>
              <a:gd name="adj" fmla="val 6809"/>
            </a:avLst>
          </a:prstGeom>
          <a:solidFill>
            <a:srgbClr val="F1F2EF"/>
          </a:solidFill>
          <a:ln/>
        </p:spPr>
      </p:sp>
      <p:sp>
        <p:nvSpPr>
          <p:cNvPr id="5" name="Text 2"/>
          <p:cNvSpPr txBox="1"/>
          <p:nvPr/>
        </p:nvSpPr>
        <p:spPr>
          <a:xfrm>
            <a:off x="10668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157A4A"/>
                </a:solidFill>
              </a:rPr>
              <a:t>Demande à l’app · sans réseau</a:t>
            </a:r>
            <a:endParaRPr lang="en-US" sz="1200" dirty="0"/>
          </a:p>
        </p:txBody>
      </p:sp>
      <p:sp>
        <p:nvSpPr>
          <p:cNvPr id="6" name="Text 3"/>
          <p:cNvSpPr txBox="1"/>
          <p:nvPr/>
        </p:nvSpPr>
        <p:spPr>
          <a:xfrm>
            <a:off x="10668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 Ça va où, une boîte de pizza ? »</a:t>
            </a:r>
            <a:endParaRPr lang="en-US" sz="2200" dirty="0"/>
          </a:p>
        </p:txBody>
      </p:sp>
      <p:sp>
        <p:nvSpPr>
          <p:cNvPr id="7" name="Text 4"/>
          <p:cNvSpPr txBox="1"/>
          <p:nvPr/>
        </p:nvSpPr>
        <p:spPr>
          <a:xfrm>
            <a:off x="1066800" y="2832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Le bac brun : carton sale non ciré. La réponse vient des pages de tri de la Ville.</a:t>
            </a:r>
            <a:endParaRPr lang="en-US" sz="1400" dirty="0"/>
          </a:p>
        </p:txBody>
      </p:sp>
      <p:sp>
        <p:nvSpPr>
          <p:cNvPr id="8" name="Text 5"/>
          <p:cNvSpPr txBox="1"/>
          <p:nvPr/>
        </p:nvSpPr>
        <p:spPr>
          <a:xfrm>
            <a:off x="1066800" y="40894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Calculé sur le téléphone</a:t>
            </a:r>
            <a:endParaRPr lang="en-US" sz="1200" dirty="0"/>
          </a:p>
        </p:txBody>
      </p:sp>
      <p:sp>
        <p:nvSpPr>
          <p:cNvPr id="9" name="carte 2"/>
          <p:cNvSpPr/>
          <p:nvPr/>
        </p:nvSpPr>
        <p:spPr>
          <a:xfrm>
            <a:off x="4394200" y="1574800"/>
            <a:ext cx="3403600" cy="2984500"/>
          </a:xfrm>
          <a:prstGeom prst="roundRect">
            <a:avLst>
              <a:gd name="adj" fmla="val 6809"/>
            </a:avLst>
          </a:prstGeom>
          <a:solidFill>
            <a:srgbClr val="F1F2EF"/>
          </a:solidFill>
          <a:ln/>
        </p:spPr>
      </p:sp>
      <p:sp>
        <p:nvSpPr>
          <p:cNvPr id="10" name="Text 7"/>
          <p:cNvSpPr txBox="1"/>
          <p:nvPr/>
        </p:nvSpPr>
        <p:spPr>
          <a:xfrm>
            <a:off x="46482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2F6BEB"/>
                </a:solidFill>
              </a:rPr>
              <a:t>En photo · assistant en ligne</a:t>
            </a:r>
            <a:endParaRPr lang="en-US" sz="1200" dirty="0"/>
          </a:p>
        </p:txBody>
      </p:sp>
      <p:sp>
        <p:nvSpPr>
          <p:cNvPr id="11" name="Text 8"/>
          <p:cNvSpPr txBox="1"/>
          <p:nvPr/>
        </p:nvSpPr>
        <p:spPr>
          <a:xfrm>
            <a:off x="46482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Une photo, et le bon bac</a:t>
            </a:r>
            <a:endParaRPr lang="en-US" sz="2200" dirty="0"/>
          </a:p>
        </p:txBody>
      </p:sp>
      <p:sp>
        <p:nvSpPr>
          <p:cNvPr id="12" name="Text 9"/>
          <p:cNvSpPr txBox="1"/>
          <p:nvPr/>
        </p:nvSpPr>
        <p:spPr>
          <a:xfrm>
            <a:off x="4648200" y="2832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Pour un objet que l’app ne connaît pas. L’assistant suit les règles de la Ville et dit quand il déduit.</a:t>
            </a:r>
            <a:endParaRPr lang="en-US" sz="1400" dirty="0"/>
          </a:p>
        </p:txBody>
      </p:sp>
      <p:sp>
        <p:nvSpPr>
          <p:cNvPr id="13" name="Text 10"/>
          <p:cNvSpPr txBox="1"/>
          <p:nvPr/>
        </p:nvSpPr>
        <p:spPr>
          <a:xfrm>
            <a:off x="4648200" y="40894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Il reçoit le secteur, jamais l’adresse</a:t>
            </a:r>
            <a:endParaRPr lang="en-US" sz="1200" dirty="0"/>
          </a:p>
        </p:txBody>
      </p:sp>
      <p:sp>
        <p:nvSpPr>
          <p:cNvPr id="14" name="carte 3"/>
          <p:cNvSpPr/>
          <p:nvPr/>
        </p:nvSpPr>
        <p:spPr>
          <a:xfrm>
            <a:off x="7975600" y="1574800"/>
            <a:ext cx="3403600" cy="2984500"/>
          </a:xfrm>
          <a:prstGeom prst="roundRect">
            <a:avLst>
              <a:gd name="adj" fmla="val 6809"/>
            </a:avLst>
          </a:prstGeom>
          <a:solidFill>
            <a:srgbClr val="F1F2EF"/>
          </a:solidFill>
          <a:ln/>
        </p:spPr>
      </p:sp>
      <p:sp>
        <p:nvSpPr>
          <p:cNvPr id="15" name="Text 12"/>
          <p:cNvSpPr txBox="1"/>
          <p:nvPr/>
        </p:nvSpPr>
        <p:spPr>
          <a:xfrm>
            <a:off x="82296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4E6A85"/>
                </a:solidFill>
              </a:rPr>
              <a:t>Communiqués · en mots simples</a:t>
            </a:r>
            <a:endParaRPr lang="en-US" sz="1200" dirty="0"/>
          </a:p>
        </p:txBody>
      </p:sp>
      <p:sp>
        <p:nvSpPr>
          <p:cNvPr id="16" name="Text 13"/>
          <p:cNvSpPr txBox="1"/>
          <p:nvPr/>
        </p:nvSpPr>
        <p:spPr>
          <a:xfrm>
            <a:off x="82296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Ce que ça change pour toi</a:t>
            </a:r>
            <a:endParaRPr lang="en-US" sz="2200" dirty="0"/>
          </a:p>
        </p:txBody>
      </p:sp>
      <p:sp>
        <p:nvSpPr>
          <p:cNvPr id="17" name="Text 14"/>
          <p:cNvSpPr txBox="1"/>
          <p:nvPr/>
        </p:nvSpPr>
        <p:spPr>
          <a:xfrm>
            <a:off x="8229600" y="2832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L’app lit les PDF de la salle des médias de la Ville et les résume en deux phrases.</a:t>
            </a:r>
            <a:endParaRPr lang="en-US" sz="1400" dirty="0"/>
          </a:p>
        </p:txBody>
      </p:sp>
      <p:sp>
        <p:nvSpPr>
          <p:cNvPr id="18" name="Text 15"/>
          <p:cNvSpPr txBox="1"/>
          <p:nvPr/>
        </p:nvSpPr>
        <p:spPr>
          <a:xfrm>
            <a:off x="8229600" y="40894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Les alertes météo aussi</a:t>
            </a:r>
            <a:endParaRPr lang="en-US" sz="1200" dirty="0"/>
          </a:p>
        </p:txBody>
      </p:sp>
      <p:sp>
        <p:nvSpPr>
          <p:cNvPr id="19" name="Text 16"/>
          <p:cNvSpPr txBox="1"/>
          <p:nvPr/>
        </p:nvSpPr>
        <p:spPr>
          <a:xfrm>
            <a:off x="812800" y="4826000"/>
            <a:ext cx="10566400" cy="5334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Aussi : le bus de l’arrêt le plus proche quand tu n’es pas chez toi, signaler un problème à la Ville, tes collectes dans ton calendrier et des heures calmes la nuit.</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Et pour ceux qu’on aime</a:t>
            </a:r>
            <a:endParaRPr lang="en-US" sz="3600" dirty="0"/>
          </a:p>
        </p:txBody>
      </p:sp>
      <p:sp>
        <p:nvSpPr>
          <p:cNvPr id="4" name="carte 1"/>
          <p:cNvSpPr/>
          <p:nvPr/>
        </p:nvSpPr>
        <p:spPr>
          <a:xfrm>
            <a:off x="812800" y="1574800"/>
            <a:ext cx="3403600" cy="2984500"/>
          </a:xfrm>
          <a:prstGeom prst="roundRect">
            <a:avLst>
              <a:gd name="adj" fmla="val 6809"/>
            </a:avLst>
          </a:prstGeom>
          <a:solidFill>
            <a:srgbClr val="F1F2EF"/>
          </a:solidFill>
          <a:ln/>
        </p:spPr>
      </p:sp>
      <p:sp>
        <p:nvSpPr>
          <p:cNvPr id="5" name="Text 2"/>
          <p:cNvSpPr txBox="1"/>
          <p:nvPr/>
        </p:nvSpPr>
        <p:spPr>
          <a:xfrm>
            <a:off x="10668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1A8FC4"/>
                </a:solidFill>
              </a:rPr>
              <a:t>Veiller sur un proche</a:t>
            </a:r>
            <a:endParaRPr lang="en-US" sz="1200" dirty="0"/>
          </a:p>
        </p:txBody>
      </p:sp>
      <p:sp>
        <p:nvSpPr>
          <p:cNvPr id="6" name="Text 3"/>
          <p:cNvSpPr txBox="1"/>
          <p:nvPr/>
        </p:nvSpPr>
        <p:spPr>
          <a:xfrm>
            <a:off x="10668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 Chez maman : avis d’ébullition »</a:t>
            </a:r>
            <a:endParaRPr lang="en-US" sz="2200" dirty="0"/>
          </a:p>
        </p:txBody>
      </p:sp>
      <p:sp>
        <p:nvSpPr>
          <p:cNvPr id="7" name="Text 4"/>
          <p:cNvSpPr txBox="1"/>
          <p:nvPr/>
        </p:nvSpPr>
        <p:spPr>
          <a:xfrm>
            <a:off x="1066800" y="2832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Chaque adresse gardée porte un nom. Son eau et ses pannes arrivent sous ce nom, sans rien ouvrir.</a:t>
            </a:r>
            <a:endParaRPr lang="en-US" sz="1400" dirty="0"/>
          </a:p>
        </p:txBody>
      </p:sp>
      <p:sp>
        <p:nvSpPr>
          <p:cNvPr id="8" name="Text 5"/>
          <p:cNvSpPr txBox="1"/>
          <p:nvPr/>
        </p:nvSpPr>
        <p:spPr>
          <a:xfrm>
            <a:off x="1066800" y="40894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Fait en arrière-plan, toutes les heures</a:t>
            </a:r>
            <a:endParaRPr lang="en-US" sz="1200" dirty="0"/>
          </a:p>
        </p:txBody>
      </p:sp>
      <p:sp>
        <p:nvSpPr>
          <p:cNvPr id="9" name="carte 2"/>
          <p:cNvSpPr/>
          <p:nvPr/>
        </p:nvSpPr>
        <p:spPr>
          <a:xfrm>
            <a:off x="4394200" y="1574800"/>
            <a:ext cx="3403600" cy="2984500"/>
          </a:xfrm>
          <a:prstGeom prst="roundRect">
            <a:avLst>
              <a:gd name="adj" fmla="val 6809"/>
            </a:avLst>
          </a:prstGeom>
          <a:solidFill>
            <a:srgbClr val="F1F2EF"/>
          </a:solidFill>
          <a:ln/>
        </p:spPr>
      </p:sp>
      <p:sp>
        <p:nvSpPr>
          <p:cNvPr id="10" name="Text 7"/>
          <p:cNvSpPr txBox="1"/>
          <p:nvPr/>
        </p:nvSpPr>
        <p:spPr>
          <a:xfrm>
            <a:off x="46482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157A4A"/>
                </a:solidFill>
              </a:rPr>
              <a:t>Partager, sans compte</a:t>
            </a:r>
            <a:endParaRPr lang="en-US" sz="1200" dirty="0"/>
          </a:p>
        </p:txBody>
      </p:sp>
      <p:sp>
        <p:nvSpPr>
          <p:cNvPr id="11" name="Text 8"/>
          <p:cNvSpPr txBox="1"/>
          <p:nvPr/>
        </p:nvSpPr>
        <p:spPr>
          <a:xfrm>
            <a:off x="46482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Un lien, et toute la maison suit</a:t>
            </a:r>
            <a:endParaRPr lang="en-US" sz="2200" dirty="0"/>
          </a:p>
        </p:txBody>
      </p:sp>
      <p:sp>
        <p:nvSpPr>
          <p:cNvPr id="12" name="Text 9"/>
          <p:cNvSpPr txBox="1"/>
          <p:nvPr/>
        </p:nvSpPr>
        <p:spPr>
          <a:xfrm>
            <a:off x="4648200" y="2832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On envoie l’adresse par texto. Chez l’autre, l’app demande avant de l’ajouter.</a:t>
            </a:r>
            <a:endParaRPr lang="en-US" sz="1400" dirty="0"/>
          </a:p>
        </p:txBody>
      </p:sp>
      <p:sp>
        <p:nvSpPr>
          <p:cNvPr id="13" name="Text 10"/>
          <p:cNvSpPr txBox="1"/>
          <p:nvPr/>
        </p:nvSpPr>
        <p:spPr>
          <a:xfrm>
            <a:off x="4648200" y="40894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Le nom donné reste chez soi</a:t>
            </a:r>
            <a:endParaRPr lang="en-US" sz="1200" dirty="0"/>
          </a:p>
        </p:txBody>
      </p:sp>
      <p:sp>
        <p:nvSpPr>
          <p:cNvPr id="14" name="carte 3"/>
          <p:cNvSpPr/>
          <p:nvPr/>
        </p:nvSpPr>
        <p:spPr>
          <a:xfrm>
            <a:off x="7975600" y="1574800"/>
            <a:ext cx="3403600" cy="2984500"/>
          </a:xfrm>
          <a:prstGeom prst="roundRect">
            <a:avLst>
              <a:gd name="adj" fmla="val 6809"/>
            </a:avLst>
          </a:prstGeom>
          <a:solidFill>
            <a:srgbClr val="F1F2EF"/>
          </a:solidFill>
          <a:ln/>
        </p:spPr>
      </p:sp>
      <p:sp>
        <p:nvSpPr>
          <p:cNvPr id="15" name="Text 12"/>
          <p:cNvSpPr txBox="1"/>
          <p:nvPr/>
        </p:nvSpPr>
        <p:spPr>
          <a:xfrm>
            <a:off x="8229600" y="1828800"/>
            <a:ext cx="2895600" cy="215900"/>
          </a:xfrm>
          <a:prstGeom prst="rect">
            <a:avLst/>
          </a:prstGeom>
          <a:noFill/>
          <a:ln/>
        </p:spPr>
        <p:txBody>
          <a:bodyPr wrap="square" lIns="0" tIns="0" rIns="0" bIns="0" rtlCol="0" anchor="t"/>
          <a:lstStyle/>
          <a:p>
            <a:pPr marL="0" indent="0" algn="l">
              <a:lnSpc>
                <a:spcPct val="120000"/>
              </a:lnSpc>
              <a:buNone/>
            </a:pPr>
            <a:r>
              <a:rPr lang="en-US" sz="1200" b="1" dirty="0">
                <a:solidFill>
                  <a:srgbClr val="B7791F"/>
                </a:solidFill>
              </a:rPr>
              <a:t>Sans téléphone intelligent</a:t>
            </a:r>
            <a:endParaRPr lang="en-US" sz="1200" dirty="0"/>
          </a:p>
        </p:txBody>
      </p:sp>
      <p:sp>
        <p:nvSpPr>
          <p:cNvPr id="16" name="Text 13"/>
          <p:cNvSpPr txBox="1"/>
          <p:nvPr/>
        </p:nvSpPr>
        <p:spPr>
          <a:xfrm>
            <a:off x="8229600" y="2120900"/>
            <a:ext cx="2895600" cy="635000"/>
          </a:xfrm>
          <a:prstGeom prst="rect">
            <a:avLst/>
          </a:prstGeom>
          <a:noFill/>
          <a:ln/>
        </p:spPr>
        <p:txBody>
          <a:bodyPr wrap="square" lIns="0" tIns="0" rIns="0" bIns="0" rtlCol="0" anchor="t"/>
          <a:lstStyle/>
          <a:p>
            <a:pPr marL="0" indent="0" algn="l">
              <a:lnSpc>
                <a:spcPct val="105000"/>
              </a:lnSpc>
              <a:buNone/>
            </a:pPr>
            <a:r>
              <a:rPr lang="en-US" sz="2200" b="1" dirty="0">
                <a:solidFill>
                  <a:srgbClr val="121417"/>
                </a:solidFill>
              </a:rPr>
              <a:t>Un texto, la journée en retour</a:t>
            </a:r>
            <a:endParaRPr lang="en-US" sz="2200" dirty="0"/>
          </a:p>
        </p:txBody>
      </p:sp>
      <p:sp>
        <p:nvSpPr>
          <p:cNvPr id="17" name="Text 14"/>
          <p:cNvSpPr txBox="1"/>
          <p:nvPr/>
        </p:nvSpPr>
        <p:spPr>
          <a:xfrm>
            <a:off x="8229600" y="2832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On écrit son adresse, ou on la dit au téléphone : l’eau, le stationnement, la collecte, une panne.</a:t>
            </a:r>
            <a:endParaRPr lang="en-US" sz="1400" dirty="0"/>
          </a:p>
        </p:txBody>
      </p:sp>
      <p:sp>
        <p:nvSpPr>
          <p:cNvPr id="18" name="Text 15"/>
          <p:cNvSpPr txBox="1"/>
          <p:nvPr/>
        </p:nvSpPr>
        <p:spPr>
          <a:xfrm>
            <a:off x="8229600" y="4089400"/>
            <a:ext cx="2895600" cy="2159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Ni le numéro ni l’adresse ne sont gardés</a:t>
            </a:r>
            <a:endParaRPr lang="en-US" sz="1200" dirty="0"/>
          </a:p>
        </p:txBody>
      </p:sp>
      <p:sp>
        <p:nvSpPr>
          <p:cNvPr id="19" name="Text 16"/>
          <p:cNvSpPr txBox="1"/>
          <p:nvPr/>
        </p:nvSpPr>
        <p:spPr>
          <a:xfrm>
            <a:off x="812800" y="4826000"/>
            <a:ext cx="10566400" cy="5334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En 2025, les appels automatisés de la Ville ont joint 64,7 % des résidences visées par un avis d’eau. Un avis doit aussi atteindre ceux qui ne sont pas à la maison.</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F1F2F3"/>
                </a:solidFill>
              </a:rPr>
              <a:t>Fiable, même sans réseau</a:t>
            </a:r>
            <a:endParaRPr lang="en-US" sz="3600" dirty="0"/>
          </a:p>
        </p:txBody>
      </p:sp>
      <p:sp>
        <p:nvSpPr>
          <p:cNvPr id="4" name="Text 1"/>
          <p:cNvSpPr txBox="1"/>
          <p:nvPr/>
        </p:nvSpPr>
        <p:spPr>
          <a:xfrm>
            <a:off x="812800" y="1600200"/>
            <a:ext cx="2997200" cy="254000"/>
          </a:xfrm>
          <a:prstGeom prst="rect">
            <a:avLst/>
          </a:prstGeom>
          <a:noFill/>
          <a:ln/>
        </p:spPr>
        <p:txBody>
          <a:bodyPr wrap="square" lIns="0" tIns="0" rIns="0" bIns="0" rtlCol="0" anchor="t"/>
          <a:lstStyle/>
          <a:p>
            <a:pPr marL="0" indent="0" algn="l">
              <a:lnSpc>
                <a:spcPct val="120000"/>
              </a:lnSpc>
              <a:buNone/>
            </a:pPr>
            <a:r>
              <a:rPr lang="en-US" sz="1600" b="1" dirty="0">
                <a:solidFill>
                  <a:srgbClr val="FFD02B"/>
                </a:solidFill>
              </a:rPr>
              <a:t>Marche sans réseau</a:t>
            </a:r>
            <a:endParaRPr lang="en-US" sz="1600" dirty="0"/>
          </a:p>
        </p:txBody>
      </p:sp>
      <p:sp>
        <p:nvSpPr>
          <p:cNvPr id="5" name="Text 2"/>
          <p:cNvSpPr txBox="1"/>
          <p:nvPr/>
        </p:nvSpPr>
        <p:spPr>
          <a:xfrm>
            <a:off x="812800" y="1955800"/>
            <a:ext cx="2997200" cy="2032000"/>
          </a:xfrm>
          <a:prstGeom prst="rect">
            <a:avLst/>
          </a:prstGeom>
          <a:noFill/>
          <a:ln/>
        </p:spPr>
        <p:txBody>
          <a:bodyPr wrap="square" lIns="0" tIns="0" rIns="0" bIns="0" rtlCol="0" anchor="t"/>
          <a:lstStyle/>
          <a:p>
            <a:pPr marL="228600" indent="-228600">
              <a:lnSpc>
                <a:spcPct val="125000"/>
              </a:lnSpc>
              <a:spcAft>
                <a:spcPts val="400"/>
              </a:spcAft>
              <a:buSzPct val="100000"/>
              <a:buChar char="•"/>
            </a:pPr>
            <a:r>
              <a:rPr lang="en-US" sz="1400" dirty="0">
                <a:solidFill>
                  <a:srgbClr val="D6DADE"/>
                </a:solidFill>
              </a:rPr>
              <a:t>Stationnement et collectes</a:t>
            </a:r>
            <a:endParaRPr lang="en-US" sz="1400" dirty="0"/>
          </a:p>
          <a:p>
            <a:pPr marL="228600" indent="-228600">
              <a:lnSpc>
                <a:spcPct val="125000"/>
              </a:lnSpc>
              <a:spcAft>
                <a:spcPts val="400"/>
              </a:spcAft>
              <a:buSzPct val="100000"/>
              <a:buChar char="•"/>
            </a:pPr>
            <a:r>
              <a:rPr lang="en-US" sz="1400" dirty="0">
                <a:solidFill>
                  <a:srgbClr val="D6DADE"/>
                </a:solidFill>
              </a:rPr>
              <a:t>Trois semaines d’horaire du bus</a:t>
            </a:r>
            <a:endParaRPr lang="en-US" sz="1400" dirty="0"/>
          </a:p>
          <a:p>
            <a:pPr marL="228600" indent="-228600">
              <a:lnSpc>
                <a:spcPct val="125000"/>
              </a:lnSpc>
              <a:spcAft>
                <a:spcPts val="400"/>
              </a:spcAft>
              <a:buSzPct val="100000"/>
              <a:buChar char="•"/>
            </a:pPr>
            <a:r>
              <a:rPr lang="en-US" sz="1400" dirty="0">
                <a:solidFill>
                  <a:srgbClr val="D6DADE"/>
                </a:solidFill>
              </a:rPr>
              <a:t>Avis et coupures déjà connus</a:t>
            </a:r>
            <a:endParaRPr lang="en-US" sz="1400" dirty="0"/>
          </a:p>
          <a:p>
            <a:pPr marL="228600" indent="-228600">
              <a:lnSpc>
                <a:spcPct val="125000"/>
              </a:lnSpc>
              <a:spcAft>
                <a:spcPts val="400"/>
              </a:spcAft>
              <a:buSzPct val="100000"/>
              <a:buChar char="•"/>
            </a:pPr>
            <a:r>
              <a:rPr lang="en-US" sz="1400" dirty="0">
                <a:solidFill>
                  <a:srgbClr val="D6DADE"/>
                </a:solidFill>
              </a:rPr>
              <a:t>Le widget, pour sept jours</a:t>
            </a:r>
            <a:endParaRPr lang="en-US" sz="1400" dirty="0"/>
          </a:p>
          <a:p>
            <a:pPr marL="228600" indent="-228600">
              <a:lnSpc>
                <a:spcPct val="125000"/>
              </a:lnSpc>
              <a:spcAft>
                <a:spcPts val="400"/>
              </a:spcAft>
              <a:buSzPct val="100000"/>
              <a:buChar char="•"/>
            </a:pPr>
            <a:r>
              <a:rPr lang="en-US" sz="1400" dirty="0">
                <a:solidFill>
                  <a:srgbClr val="D6DADE"/>
                </a:solidFill>
              </a:rPr>
              <a:t>Les rappels et les réponses de l’app</a:t>
            </a:r>
            <a:endParaRPr lang="en-US" sz="1400" dirty="0"/>
          </a:p>
        </p:txBody>
      </p:sp>
      <p:sp>
        <p:nvSpPr>
          <p:cNvPr id="6" name="Text 3"/>
          <p:cNvSpPr txBox="1"/>
          <p:nvPr/>
        </p:nvSpPr>
        <p:spPr>
          <a:xfrm>
            <a:off x="4064000" y="1600200"/>
            <a:ext cx="2997200" cy="254000"/>
          </a:xfrm>
          <a:prstGeom prst="rect">
            <a:avLst/>
          </a:prstGeom>
          <a:noFill/>
          <a:ln/>
        </p:spPr>
        <p:txBody>
          <a:bodyPr wrap="square" lIns="0" tIns="0" rIns="0" bIns="0" rtlCol="0" anchor="t"/>
          <a:lstStyle/>
          <a:p>
            <a:pPr marL="0" indent="0" algn="l">
              <a:lnSpc>
                <a:spcPct val="120000"/>
              </a:lnSpc>
              <a:buNone/>
            </a:pPr>
            <a:r>
              <a:rPr lang="en-US" sz="1600" b="1" dirty="0">
                <a:solidFill>
                  <a:srgbClr val="B3B9BF"/>
                </a:solidFill>
              </a:rPr>
              <a:t>A besoin du réseau</a:t>
            </a:r>
            <a:endParaRPr lang="en-US" sz="1600" dirty="0"/>
          </a:p>
        </p:txBody>
      </p:sp>
      <p:sp>
        <p:nvSpPr>
          <p:cNvPr id="7" name="Text 4"/>
          <p:cNvSpPr txBox="1"/>
          <p:nvPr/>
        </p:nvSpPr>
        <p:spPr>
          <a:xfrm>
            <a:off x="4064000" y="1955800"/>
            <a:ext cx="2997200" cy="1587500"/>
          </a:xfrm>
          <a:prstGeom prst="rect">
            <a:avLst/>
          </a:prstGeom>
          <a:noFill/>
          <a:ln/>
        </p:spPr>
        <p:txBody>
          <a:bodyPr wrap="square" lIns="0" tIns="0" rIns="0" bIns="0" rtlCol="0" anchor="t"/>
          <a:lstStyle/>
          <a:p>
            <a:pPr marL="228600" indent="-228600">
              <a:lnSpc>
                <a:spcPct val="125000"/>
              </a:lnSpc>
              <a:spcAft>
                <a:spcPts val="400"/>
              </a:spcAft>
              <a:buSzPct val="100000"/>
              <a:buChar char="•"/>
            </a:pPr>
            <a:r>
              <a:rPr lang="en-US" sz="1400" dirty="0">
                <a:solidFill>
                  <a:srgbClr val="D6DADE"/>
                </a:solidFill>
              </a:rPr>
              <a:t>Météo et alertes</a:t>
            </a:r>
            <a:endParaRPr lang="en-US" sz="1400" dirty="0"/>
          </a:p>
          <a:p>
            <a:pPr marL="228600" indent="-228600">
              <a:lnSpc>
                <a:spcPct val="125000"/>
              </a:lnSpc>
              <a:spcAft>
                <a:spcPts val="400"/>
              </a:spcAft>
              <a:buSzPct val="100000"/>
              <a:buChar char="•"/>
            </a:pPr>
            <a:r>
              <a:rPr lang="en-US" sz="1400" dirty="0">
                <a:solidFill>
                  <a:srgbClr val="D6DADE"/>
                </a:solidFill>
              </a:rPr>
              <a:t>Pannes, routes, urgences</a:t>
            </a:r>
            <a:endParaRPr lang="en-US" sz="1400" dirty="0"/>
          </a:p>
          <a:p>
            <a:pPr marL="228600" indent="-228600">
              <a:lnSpc>
                <a:spcPct val="125000"/>
              </a:lnSpc>
              <a:spcAft>
                <a:spcPts val="400"/>
              </a:spcAft>
              <a:buSzPct val="100000"/>
              <a:buChar char="•"/>
            </a:pPr>
            <a:r>
              <a:rPr lang="en-US" sz="1400" dirty="0">
                <a:solidFill>
                  <a:srgbClr val="D6DADE"/>
                </a:solidFill>
              </a:rPr>
              <a:t>Retards du bus</a:t>
            </a:r>
            <a:endParaRPr lang="en-US" sz="1400" dirty="0"/>
          </a:p>
          <a:p>
            <a:pPr marL="228600" indent="-228600">
              <a:lnSpc>
                <a:spcPct val="125000"/>
              </a:lnSpc>
              <a:spcAft>
                <a:spcPts val="400"/>
              </a:spcAft>
              <a:buSzPct val="100000"/>
              <a:buChar char="•"/>
            </a:pPr>
            <a:r>
              <a:rPr lang="en-US" sz="1400" dirty="0">
                <a:solidFill>
                  <a:srgbClr val="D6DADE"/>
                </a:solidFill>
              </a:rPr>
              <a:t>Assistant en ligne</a:t>
            </a:r>
            <a:endParaRPr lang="en-US" sz="1400" dirty="0"/>
          </a:p>
        </p:txBody>
      </p:sp>
      <p:sp>
        <p:nvSpPr>
          <p:cNvPr id="8" name="Text 5"/>
          <p:cNvSpPr txBox="1"/>
          <p:nvPr/>
        </p:nvSpPr>
        <p:spPr>
          <a:xfrm>
            <a:off x="4064000" y="3644900"/>
            <a:ext cx="2997200" cy="444500"/>
          </a:xfrm>
          <a:prstGeom prst="rect">
            <a:avLst/>
          </a:prstGeom>
          <a:noFill/>
          <a:ln/>
        </p:spPr>
        <p:txBody>
          <a:bodyPr wrap="square" lIns="0" tIns="0" rIns="0" bIns="0" rtlCol="0" anchor="t"/>
          <a:lstStyle/>
          <a:p>
            <a:pPr marL="0" indent="0" algn="l">
              <a:lnSpc>
                <a:spcPct val="135000"/>
              </a:lnSpc>
              <a:buNone/>
            </a:pPr>
            <a:r>
              <a:rPr lang="en-US" sz="1200" dirty="0">
                <a:solidFill>
                  <a:srgbClr val="B3B9BF"/>
                </a:solidFill>
              </a:rPr>
              <a:t>Sans réseau, l’app montre le dernier relevé et son heure.</a:t>
            </a:r>
            <a:endParaRPr lang="en-US" sz="1200" dirty="0"/>
          </a:p>
        </p:txBody>
      </p:sp>
      <p:sp>
        <p:nvSpPr>
          <p:cNvPr id="9" name="Text 6"/>
          <p:cNvSpPr txBox="1"/>
          <p:nvPr/>
        </p:nvSpPr>
        <p:spPr>
          <a:xfrm>
            <a:off x="7315200" y="1600200"/>
            <a:ext cx="4064000" cy="508000"/>
          </a:xfrm>
          <a:prstGeom prst="rect">
            <a:avLst/>
          </a:prstGeom>
          <a:noFill/>
          <a:ln/>
        </p:spPr>
        <p:txBody>
          <a:bodyPr wrap="square" lIns="0" tIns="0" rIns="0" bIns="0" rtlCol="0" anchor="t"/>
          <a:lstStyle/>
          <a:p>
            <a:pPr marL="0" indent="0" algn="l">
              <a:lnSpc>
                <a:spcPct val="100000"/>
              </a:lnSpc>
              <a:buNone/>
            </a:pPr>
            <a:r>
              <a:rPr lang="en-US" sz="3600" b="1" dirty="0">
                <a:solidFill>
                  <a:srgbClr val="FFD02B"/>
                </a:solidFill>
              </a:rPr>
              <a:t>347</a:t>
            </a:r>
            <a:endParaRPr lang="en-US" sz="3600" dirty="0"/>
          </a:p>
        </p:txBody>
      </p:sp>
      <p:sp>
        <p:nvSpPr>
          <p:cNvPr id="10" name="Text 7"/>
          <p:cNvSpPr txBox="1"/>
          <p:nvPr/>
        </p:nvSpPr>
        <p:spPr>
          <a:xfrm>
            <a:off x="7315200" y="2146300"/>
            <a:ext cx="4064000" cy="508000"/>
          </a:xfrm>
          <a:prstGeom prst="rect">
            <a:avLst/>
          </a:prstGeom>
          <a:noFill/>
          <a:ln/>
        </p:spPr>
        <p:txBody>
          <a:bodyPr wrap="square" lIns="0" tIns="0" rIns="0" bIns="0" rtlCol="0" anchor="t"/>
          <a:lstStyle/>
          <a:p>
            <a:pPr marL="0" indent="0" algn="l">
              <a:lnSpc>
                <a:spcPct val="130000"/>
              </a:lnSpc>
              <a:buNone/>
            </a:pPr>
            <a:r>
              <a:rPr lang="en-US" sz="1400" dirty="0">
                <a:solidFill>
                  <a:srgbClr val="D6DADE"/>
                </a:solidFill>
              </a:rPr>
              <a:t>tests automatiques, dont les vraies réponses de chaque source</a:t>
            </a:r>
            <a:endParaRPr lang="en-US" sz="1400" dirty="0"/>
          </a:p>
        </p:txBody>
      </p:sp>
      <p:sp>
        <p:nvSpPr>
          <p:cNvPr id="11" name="Text 8"/>
          <p:cNvSpPr txBox="1"/>
          <p:nvPr/>
        </p:nvSpPr>
        <p:spPr>
          <a:xfrm>
            <a:off x="7315200" y="2870200"/>
            <a:ext cx="4064000" cy="330200"/>
          </a:xfrm>
          <a:prstGeom prst="rect">
            <a:avLst/>
          </a:prstGeom>
          <a:noFill/>
          <a:ln/>
        </p:spPr>
        <p:txBody>
          <a:bodyPr wrap="square" lIns="0" tIns="0" rIns="0" bIns="0" rtlCol="0" anchor="t"/>
          <a:lstStyle/>
          <a:p>
            <a:pPr marL="0" indent="0" algn="l">
              <a:lnSpc>
                <a:spcPct val="100000"/>
              </a:lnSpc>
              <a:buNone/>
            </a:pPr>
            <a:r>
              <a:rPr lang="en-US" sz="2200" b="1" dirty="0">
                <a:solidFill>
                  <a:srgbClr val="F1F2F3"/>
                </a:solidFill>
              </a:rPr>
              <a:t>Vérifiée sur Android</a:t>
            </a:r>
            <a:endParaRPr lang="en-US" sz="2200" dirty="0"/>
          </a:p>
        </p:txBody>
      </p:sp>
      <p:sp>
        <p:nvSpPr>
          <p:cNvPr id="12" name="Text 9"/>
          <p:cNvSpPr txBox="1"/>
          <p:nvPr/>
        </p:nvSpPr>
        <p:spPr>
          <a:xfrm>
            <a:off x="7315200" y="3238500"/>
            <a:ext cx="4064000" cy="508000"/>
          </a:xfrm>
          <a:prstGeom prst="rect">
            <a:avLst/>
          </a:prstGeom>
          <a:noFill/>
          <a:ln/>
        </p:spPr>
        <p:txBody>
          <a:bodyPr wrap="square" lIns="0" tIns="0" rIns="0" bIns="0" rtlCol="0" anchor="t"/>
          <a:lstStyle/>
          <a:p>
            <a:pPr marL="0" indent="0" algn="l">
              <a:lnSpc>
                <a:spcPct val="130000"/>
              </a:lnSpc>
              <a:buNone/>
            </a:pPr>
            <a:r>
              <a:rPr lang="en-US" sz="1400" dirty="0">
                <a:solidFill>
                  <a:srgbClr val="D6DADE"/>
                </a:solidFill>
              </a:rPr>
              <a:t>en version finale : widget, alertes même app fermée</a:t>
            </a:r>
            <a:endParaRPr lang="en-US" sz="1400" dirty="0"/>
          </a:p>
        </p:txBody>
      </p:sp>
      <p:sp>
        <p:nvSpPr>
          <p:cNvPr id="13" name="Text 10"/>
          <p:cNvSpPr txBox="1"/>
          <p:nvPr/>
        </p:nvSpPr>
        <p:spPr>
          <a:xfrm>
            <a:off x="7315200" y="3911600"/>
            <a:ext cx="4064000" cy="330200"/>
          </a:xfrm>
          <a:prstGeom prst="rect">
            <a:avLst/>
          </a:prstGeom>
          <a:noFill/>
          <a:ln/>
        </p:spPr>
        <p:txBody>
          <a:bodyPr wrap="square" lIns="0" tIns="0" rIns="0" bIns="0" rtlCol="0" anchor="t"/>
          <a:lstStyle/>
          <a:p>
            <a:pPr marL="0" indent="0" algn="l">
              <a:lnSpc>
                <a:spcPct val="100000"/>
              </a:lnSpc>
              <a:buNone/>
            </a:pPr>
            <a:r>
              <a:rPr lang="en-US" sz="2200" b="1" dirty="0">
                <a:solidFill>
                  <a:srgbClr val="F1F2F3"/>
                </a:solidFill>
              </a:rPr>
              <a:t>Rien ne sort</a:t>
            </a:r>
            <a:endParaRPr lang="en-US" sz="2200" dirty="0"/>
          </a:p>
        </p:txBody>
      </p:sp>
      <p:sp>
        <p:nvSpPr>
          <p:cNvPr id="14" name="Text 11"/>
          <p:cNvSpPr txBox="1"/>
          <p:nvPr/>
        </p:nvSpPr>
        <p:spPr>
          <a:xfrm>
            <a:off x="7315200" y="4279900"/>
            <a:ext cx="4064000" cy="508000"/>
          </a:xfrm>
          <a:prstGeom prst="rect">
            <a:avLst/>
          </a:prstGeom>
          <a:noFill/>
          <a:ln/>
        </p:spPr>
        <p:txBody>
          <a:bodyPr wrap="square" lIns="0" tIns="0" rIns="0" bIns="0" rtlCol="0" anchor="t"/>
          <a:lstStyle/>
          <a:p>
            <a:pPr marL="0" indent="0" algn="l">
              <a:lnSpc>
                <a:spcPct val="130000"/>
              </a:lnSpc>
              <a:buNone/>
            </a:pPr>
            <a:r>
              <a:rPr lang="en-US" sz="1400" dirty="0">
                <a:solidFill>
                  <a:srgbClr val="D6DADE"/>
                </a:solidFill>
              </a:rPr>
              <a:t>l’adresse reste sur le téléphone, sans compte ni nuage</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A9198"/>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Tout est branché aujourd’hui</a:t>
            </a:r>
            <a:endParaRPr lang="en-US" sz="3600" dirty="0"/>
          </a:p>
        </p:txBody>
      </p:sp>
      <p:sp>
        <p:nvSpPr>
          <p:cNvPr id="4" name="publiable"/>
          <p:cNvSpPr/>
          <p:nvPr/>
        </p:nvSpPr>
        <p:spPr>
          <a:xfrm>
            <a:off x="812800" y="1574800"/>
            <a:ext cx="5194300" cy="2794000"/>
          </a:xfrm>
          <a:prstGeom prst="roundRect">
            <a:avLst>
              <a:gd name="adj" fmla="val 7273"/>
            </a:avLst>
          </a:prstGeom>
          <a:solidFill>
            <a:srgbClr val="FFFFFF"/>
          </a:solidFill>
          <a:ln/>
        </p:spPr>
      </p:sp>
      <p:sp>
        <p:nvSpPr>
          <p:cNvPr id="5" name="Text 2"/>
          <p:cNvSpPr txBox="1"/>
          <p:nvPr/>
        </p:nvSpPr>
        <p:spPr>
          <a:xfrm>
            <a:off x="1117600" y="1879600"/>
            <a:ext cx="4584700" cy="215900"/>
          </a:xfrm>
          <a:prstGeom prst="rect">
            <a:avLst/>
          </a:prstGeom>
          <a:noFill/>
          <a:ln/>
        </p:spPr>
        <p:txBody>
          <a:bodyPr wrap="square" lIns="0" tIns="0" rIns="0" bIns="0" rtlCol="0" anchor="t"/>
          <a:lstStyle/>
          <a:p>
            <a:pPr marL="0" indent="0" algn="l">
              <a:lnSpc>
                <a:spcPct val="120000"/>
              </a:lnSpc>
              <a:buNone/>
            </a:pPr>
            <a:r>
              <a:rPr lang="en-US" sz="1200" b="1" dirty="0">
                <a:solidFill>
                  <a:srgbClr val="167A4B"/>
                </a:solidFill>
              </a:rPr>
              <a:t>Données ouvertes, publiables dès maintenant</a:t>
            </a:r>
            <a:endParaRPr lang="en-US" sz="1200" dirty="0"/>
          </a:p>
        </p:txBody>
      </p:sp>
      <p:sp>
        <p:nvSpPr>
          <p:cNvPr id="6" name="Text 3"/>
          <p:cNvSpPr txBox="1"/>
          <p:nvPr/>
        </p:nvSpPr>
        <p:spPr>
          <a:xfrm>
            <a:off x="1117600" y="2286000"/>
            <a:ext cx="45847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Stationnement et travaux</a:t>
            </a:r>
            <a:endParaRPr lang="en-US" sz="1600" dirty="0"/>
          </a:p>
        </p:txBody>
      </p:sp>
      <p:sp>
        <p:nvSpPr>
          <p:cNvPr id="7" name="Text 4"/>
          <p:cNvSpPr txBox="1"/>
          <p:nvPr/>
        </p:nvSpPr>
        <p:spPr>
          <a:xfrm>
            <a:off x="1117600" y="2578100"/>
            <a:ext cx="4584700" cy="2286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Règlement et carte de circulation de la Ville</a:t>
            </a:r>
            <a:endParaRPr lang="en-US" sz="1200" dirty="0"/>
          </a:p>
        </p:txBody>
      </p:sp>
      <p:sp>
        <p:nvSpPr>
          <p:cNvPr id="8" name="Text 5"/>
          <p:cNvSpPr txBox="1"/>
          <p:nvPr/>
        </p:nvSpPr>
        <p:spPr>
          <a:xfrm>
            <a:off x="1117600" y="2921000"/>
            <a:ext cx="45847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Urgences et routes</a:t>
            </a:r>
            <a:endParaRPr lang="en-US" sz="1600" dirty="0"/>
          </a:p>
        </p:txBody>
      </p:sp>
      <p:sp>
        <p:nvSpPr>
          <p:cNvPr id="9" name="Text 6"/>
          <p:cNvSpPr txBox="1"/>
          <p:nvPr/>
        </p:nvSpPr>
        <p:spPr>
          <a:xfrm>
            <a:off x="1117600" y="3213100"/>
            <a:ext cx="4584700" cy="2286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Ministère de la Santé, Québec 511</a:t>
            </a:r>
            <a:endParaRPr lang="en-US" sz="1200" dirty="0"/>
          </a:p>
        </p:txBody>
      </p:sp>
      <p:sp>
        <p:nvSpPr>
          <p:cNvPr id="10" name="Text 7"/>
          <p:cNvSpPr txBox="1"/>
          <p:nvPr/>
        </p:nvSpPr>
        <p:spPr>
          <a:xfrm>
            <a:off x="1117600" y="3556000"/>
            <a:ext cx="45847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Météo, air et électricité</a:t>
            </a:r>
            <a:endParaRPr lang="en-US" sz="1600" dirty="0"/>
          </a:p>
        </p:txBody>
      </p:sp>
      <p:sp>
        <p:nvSpPr>
          <p:cNvPr id="11" name="Text 8"/>
          <p:cNvSpPr txBox="1"/>
          <p:nvPr/>
        </p:nvSpPr>
        <p:spPr>
          <a:xfrm>
            <a:off x="1117600" y="3848100"/>
            <a:ext cx="4584700" cy="2286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Environnement Canada, Hydro-Québec, qualité de l’air, feux</a:t>
            </a:r>
            <a:endParaRPr lang="en-US" sz="1200" dirty="0"/>
          </a:p>
        </p:txBody>
      </p:sp>
      <p:sp>
        <p:nvSpPr>
          <p:cNvPr id="12" name="à publier avec accord"/>
          <p:cNvSpPr/>
          <p:nvPr/>
        </p:nvSpPr>
        <p:spPr>
          <a:xfrm>
            <a:off x="6184900" y="1574800"/>
            <a:ext cx="5194300" cy="2794000"/>
          </a:xfrm>
          <a:prstGeom prst="roundRect">
            <a:avLst>
              <a:gd name="adj" fmla="val 7273"/>
            </a:avLst>
          </a:prstGeom>
          <a:solidFill>
            <a:srgbClr val="FFFFFF"/>
          </a:solidFill>
          <a:ln/>
        </p:spPr>
      </p:sp>
      <p:sp>
        <p:nvSpPr>
          <p:cNvPr id="13" name="Text 10"/>
          <p:cNvSpPr txBox="1"/>
          <p:nvPr/>
        </p:nvSpPr>
        <p:spPr>
          <a:xfrm>
            <a:off x="6489700" y="1879600"/>
            <a:ext cx="4584700" cy="215900"/>
          </a:xfrm>
          <a:prstGeom prst="rect">
            <a:avLst/>
          </a:prstGeom>
          <a:noFill/>
          <a:ln/>
        </p:spPr>
        <p:txBody>
          <a:bodyPr wrap="square" lIns="0" tIns="0" rIns="0" bIns="0" rtlCol="0" anchor="t"/>
          <a:lstStyle/>
          <a:p>
            <a:pPr marL="0" indent="0" algn="l">
              <a:lnSpc>
                <a:spcPct val="120000"/>
              </a:lnSpc>
              <a:buNone/>
            </a:pPr>
            <a:r>
              <a:rPr lang="en-US" sz="1200" b="1" dirty="0">
                <a:solidFill>
                  <a:srgbClr val="8F6200"/>
                </a:solidFill>
              </a:rPr>
              <a:t>Déjà branché, à publier avec votre accord</a:t>
            </a:r>
            <a:endParaRPr lang="en-US" sz="1200" dirty="0"/>
          </a:p>
        </p:txBody>
      </p:sp>
      <p:sp>
        <p:nvSpPr>
          <p:cNvPr id="14" name="Text 11"/>
          <p:cNvSpPr txBox="1"/>
          <p:nvPr/>
        </p:nvSpPr>
        <p:spPr>
          <a:xfrm>
            <a:off x="6489700" y="2286000"/>
            <a:ext cx="45847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Collectes</a:t>
            </a:r>
            <a:endParaRPr lang="en-US" sz="1600" dirty="0"/>
          </a:p>
        </p:txBody>
      </p:sp>
      <p:sp>
        <p:nvSpPr>
          <p:cNvPr id="15" name="Text 12"/>
          <p:cNvSpPr txBox="1"/>
          <p:nvPr/>
        </p:nvSpPr>
        <p:spPr>
          <a:xfrm>
            <a:off x="6489700" y="2578100"/>
            <a:ext cx="4584700" cy="2286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Le calendrier de la Ville, pour n’importe quelle adresse</a:t>
            </a:r>
            <a:endParaRPr lang="en-US" sz="1200" dirty="0"/>
          </a:p>
        </p:txBody>
      </p:sp>
      <p:sp>
        <p:nvSpPr>
          <p:cNvPr id="16" name="Text 13"/>
          <p:cNvSpPr txBox="1"/>
          <p:nvPr/>
        </p:nvSpPr>
        <p:spPr>
          <a:xfrm>
            <a:off x="6489700" y="2921000"/>
            <a:ext cx="45847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Avis d’aqueduc</a:t>
            </a:r>
            <a:endParaRPr lang="en-US" sz="1600" dirty="0"/>
          </a:p>
        </p:txBody>
      </p:sp>
      <p:sp>
        <p:nvSpPr>
          <p:cNvPr id="17" name="Text 14"/>
          <p:cNvSpPr txBox="1"/>
          <p:nvPr/>
        </p:nvSpPr>
        <p:spPr>
          <a:xfrm>
            <a:off x="6489700" y="3213100"/>
            <a:ext cx="4584700" cy="2286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La carte de la Ville, zone par zone</a:t>
            </a:r>
            <a:endParaRPr lang="en-US" sz="1200" dirty="0"/>
          </a:p>
        </p:txBody>
      </p:sp>
      <p:sp>
        <p:nvSpPr>
          <p:cNvPr id="18" name="Text 15"/>
          <p:cNvSpPr txBox="1"/>
          <p:nvPr/>
        </p:nvSpPr>
        <p:spPr>
          <a:xfrm>
            <a:off x="6489700" y="3556000"/>
            <a:ext cx="45847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Bus</a:t>
            </a:r>
            <a:endParaRPr lang="en-US" sz="1600" dirty="0"/>
          </a:p>
        </p:txBody>
      </p:sp>
      <p:sp>
        <p:nvSpPr>
          <p:cNvPr id="19" name="Text 16"/>
          <p:cNvSpPr txBox="1"/>
          <p:nvPr/>
        </p:nvSpPr>
        <p:spPr>
          <a:xfrm>
            <a:off x="6489700" y="3848100"/>
            <a:ext cx="4584700" cy="228600"/>
          </a:xfrm>
          <a:prstGeom prst="rect">
            <a:avLst/>
          </a:prstGeom>
          <a:noFill/>
          <a:ln/>
        </p:spPr>
        <p:txBody>
          <a:bodyPr wrap="square" lIns="0" tIns="0" rIns="0" bIns="0" rtlCol="0" anchor="t"/>
          <a:lstStyle/>
          <a:p>
            <a:pPr marL="0" indent="0" algn="l">
              <a:lnSpc>
                <a:spcPct val="120000"/>
              </a:lnSpc>
              <a:buNone/>
            </a:pPr>
            <a:r>
              <a:rPr lang="en-US" sz="1200" dirty="0">
                <a:solidFill>
                  <a:srgbClr val="4A5056"/>
                </a:solidFill>
              </a:rPr>
              <a:t>L’horaire et les retards en temps réel de la STS</a:t>
            </a:r>
            <a:endParaRPr lang="en-US" sz="1200" dirty="0"/>
          </a:p>
        </p:txBody>
      </p:sp>
      <p:sp>
        <p:nvSpPr>
          <p:cNvPr id="20" name="Text 17"/>
          <p:cNvSpPr txBox="1"/>
          <p:nvPr/>
        </p:nvSpPr>
        <p:spPr>
          <a:xfrm>
            <a:off x="812800" y="4648200"/>
            <a:ext cx="10566400" cy="5334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Pas encore possible : savoir quand la déneigeuse passe dans ta rue. Rien n’est public là-dessus pour l’instant.</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10922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Quand l’eau est touchée, prévenir tout le monde</a:t>
            </a:r>
            <a:endParaRPr lang="en-US" sz="3600" dirty="0"/>
          </a:p>
        </p:txBody>
      </p:sp>
      <p:sp>
        <p:nvSpPr>
          <p:cNvPr id="4" name="Text 1"/>
          <p:cNvSpPr txBox="1"/>
          <p:nvPr/>
        </p:nvSpPr>
        <p:spPr>
          <a:xfrm>
            <a:off x="812800" y="812800"/>
            <a:ext cx="10566400" cy="215900"/>
          </a:xfrm>
          <a:prstGeom prst="rect">
            <a:avLst/>
          </a:prstGeom>
          <a:noFill/>
          <a:ln/>
        </p:spPr>
        <p:txBody>
          <a:bodyPr wrap="square" lIns="0" tIns="0" rIns="0" bIns="0" rtlCol="0" anchor="t"/>
          <a:lstStyle/>
          <a:p>
            <a:pPr marL="0" indent="0" algn="l">
              <a:lnSpc>
                <a:spcPct val="120000"/>
              </a:lnSpc>
              <a:buNone/>
            </a:pPr>
            <a:r>
              <a:rPr lang="en-US" sz="1200" b="1" dirty="0">
                <a:solidFill>
                  <a:srgbClr val="4A5056"/>
                </a:solidFill>
              </a:rPr>
              <a:t>Pour la Ville de Saguenay</a:t>
            </a:r>
            <a:endParaRPr lang="en-US" sz="1200" dirty="0"/>
          </a:p>
        </p:txBody>
      </p:sp>
      <p:sp>
        <p:nvSpPr>
          <p:cNvPr id="5" name="Text 2"/>
          <p:cNvSpPr txBox="1"/>
          <p:nvPr/>
        </p:nvSpPr>
        <p:spPr>
          <a:xfrm>
            <a:off x="812800" y="1905000"/>
            <a:ext cx="6604000" cy="952500"/>
          </a:xfrm>
          <a:prstGeom prst="rect">
            <a:avLst/>
          </a:prstGeom>
          <a:noFill/>
          <a:ln/>
        </p:spPr>
        <p:txBody>
          <a:bodyPr wrap="square" lIns="0" tIns="0" rIns="0" bIns="0" rtlCol="0" anchor="t"/>
          <a:lstStyle/>
          <a:p>
            <a:pPr marL="0" indent="0" algn="l">
              <a:lnSpc>
                <a:spcPct val="140000"/>
              </a:lnSpc>
              <a:buNone/>
            </a:pPr>
            <a:r>
              <a:rPr lang="en-US" sz="1600" dirty="0">
                <a:solidFill>
                  <a:srgbClr val="4A5056"/>
                </a:solidFill>
              </a:rPr>
              <a:t>Vos avis d’aqueduc rejoignent les personnes inscrites aux appels automatisés. L’app les montrerait aussi à tous ceux qui ont entré leur adresse, dès que l’avis tombe.</a:t>
            </a:r>
            <a:endParaRPr lang="en-US" sz="1600" dirty="0"/>
          </a:p>
        </p:txBody>
      </p:sp>
      <p:sp>
        <p:nvSpPr>
          <p:cNvPr id="6" name="Text 3"/>
          <p:cNvSpPr txBox="1"/>
          <p:nvPr/>
        </p:nvSpPr>
        <p:spPr>
          <a:xfrm>
            <a:off x="812800" y="3200400"/>
            <a:ext cx="66040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Ce que je vous demande</a:t>
            </a:r>
            <a:endParaRPr lang="en-US" sz="1600" dirty="0"/>
          </a:p>
        </p:txBody>
      </p:sp>
      <p:sp>
        <p:nvSpPr>
          <p:cNvPr id="7" name="Text 4"/>
          <p:cNvSpPr txBox="1"/>
          <p:nvPr/>
        </p:nvSpPr>
        <p:spPr>
          <a:xfrm>
            <a:off x="812800" y="3581400"/>
            <a:ext cx="6604000" cy="1270000"/>
          </a:xfrm>
          <a:prstGeom prst="rect">
            <a:avLst/>
          </a:prstGeom>
          <a:noFill/>
          <a:ln/>
        </p:spPr>
        <p:txBody>
          <a:bodyPr wrap="square" lIns="0" tIns="0" rIns="0" bIns="0" rtlCol="0" anchor="t"/>
          <a:lstStyle/>
          <a:p>
            <a:pPr marL="279400" indent="-279400">
              <a:lnSpc>
                <a:spcPct val="125000"/>
              </a:lnSpc>
              <a:spcAft>
                <a:spcPts val="400"/>
              </a:spcAft>
              <a:buSzPct val="100000"/>
              <a:buFont typeface="+mj-lt"/>
              <a:buAutoNum type="arabicPeriod"/>
            </a:pPr>
            <a:r>
              <a:rPr lang="en-US" sz="1400" dirty="0">
                <a:solidFill>
                  <a:srgbClr val="121417"/>
                </a:solidFill>
              </a:rPr>
              <a:t>Votre accord écrit pour publier les collectes et les avis, déjà branchés.</a:t>
            </a:r>
            <a:endParaRPr lang="en-US" sz="1400" dirty="0"/>
          </a:p>
          <a:p>
            <a:pPr marL="279400" indent="-279400">
              <a:lnSpc>
                <a:spcPct val="125000"/>
              </a:lnSpc>
              <a:spcAft>
                <a:spcPts val="400"/>
              </a:spcAft>
              <a:buSzPct val="100000"/>
              <a:buFont typeface="+mj-lt"/>
              <a:buAutoNum type="arabicPeriod"/>
            </a:pPr>
            <a:r>
              <a:rPr lang="en-US" sz="1400" dirty="0">
                <a:solidFill>
                  <a:srgbClr val="121417"/>
                </a:solidFill>
              </a:rPr>
              <a:t>Si possible, les avis sur Données Québec, comme à Repentigny.</a:t>
            </a:r>
            <a:endParaRPr lang="en-US" sz="1400" dirty="0"/>
          </a:p>
          <a:p>
            <a:pPr marL="279400" indent="-279400">
              <a:lnSpc>
                <a:spcPct val="125000"/>
              </a:lnSpc>
              <a:spcAft>
                <a:spcPts val="400"/>
              </a:spcAft>
              <a:buSzPct val="100000"/>
              <a:buFont typeface="+mj-lt"/>
              <a:buAutoNum type="arabicPeriod"/>
            </a:pPr>
            <a:r>
              <a:rPr lang="en-US" sz="1400" dirty="0">
                <a:solidFill>
                  <a:srgbClr val="121417"/>
                </a:solidFill>
              </a:rPr>
              <a:t>Votre OK pour le nom, sans logo de la Ville.</a:t>
            </a:r>
            <a:endParaRPr lang="en-US" sz="1400" dirty="0"/>
          </a:p>
        </p:txBody>
      </p:sp>
      <p:sp>
        <p:nvSpPr>
          <p:cNvPr id="8" name="chiffre"/>
          <p:cNvSpPr/>
          <p:nvPr/>
        </p:nvSpPr>
        <p:spPr>
          <a:xfrm>
            <a:off x="7823200" y="1905000"/>
            <a:ext cx="3556000" cy="2603500"/>
          </a:xfrm>
          <a:prstGeom prst="roundRect">
            <a:avLst>
              <a:gd name="adj" fmla="val 7805"/>
            </a:avLst>
          </a:prstGeom>
          <a:solidFill>
            <a:srgbClr val="FFD02B"/>
          </a:solidFill>
          <a:ln/>
        </p:spPr>
      </p:sp>
      <p:sp>
        <p:nvSpPr>
          <p:cNvPr id="9" name="Text 6"/>
          <p:cNvSpPr txBox="1"/>
          <p:nvPr/>
        </p:nvSpPr>
        <p:spPr>
          <a:xfrm>
            <a:off x="8077200" y="2159000"/>
            <a:ext cx="3048000" cy="787400"/>
          </a:xfrm>
          <a:prstGeom prst="rect">
            <a:avLst/>
          </a:prstGeom>
          <a:noFill/>
          <a:ln/>
        </p:spPr>
        <p:txBody>
          <a:bodyPr wrap="square" lIns="0" tIns="0" rIns="0" bIns="0" rtlCol="0" anchor="t"/>
          <a:lstStyle/>
          <a:p>
            <a:pPr marL="0" indent="0" algn="l">
              <a:lnSpc>
                <a:spcPct val="100000"/>
              </a:lnSpc>
              <a:buNone/>
            </a:pPr>
            <a:r>
              <a:rPr lang="en-US" sz="6000" b="1" dirty="0">
                <a:solidFill>
                  <a:srgbClr val="1A1906"/>
                </a:solidFill>
              </a:rPr>
              <a:t>1 248</a:t>
            </a:r>
            <a:endParaRPr lang="en-US" sz="6000" dirty="0"/>
          </a:p>
        </p:txBody>
      </p:sp>
      <p:sp>
        <p:nvSpPr>
          <p:cNvPr id="10" name="Text 7"/>
          <p:cNvSpPr txBox="1"/>
          <p:nvPr/>
        </p:nvSpPr>
        <p:spPr>
          <a:xfrm>
            <a:off x="8077200" y="3009900"/>
            <a:ext cx="3048000" cy="787400"/>
          </a:xfrm>
          <a:prstGeom prst="rect">
            <a:avLst/>
          </a:prstGeom>
          <a:noFill/>
          <a:ln/>
        </p:spPr>
        <p:txBody>
          <a:bodyPr wrap="square" lIns="0" tIns="0" rIns="0" bIns="0" rtlCol="0" anchor="t"/>
          <a:lstStyle/>
          <a:p>
            <a:pPr marL="0" indent="0" algn="l">
              <a:lnSpc>
                <a:spcPct val="130000"/>
              </a:lnSpc>
              <a:buNone/>
            </a:pPr>
            <a:r>
              <a:rPr lang="en-US" sz="1400" dirty="0">
                <a:solidFill>
                  <a:srgbClr val="1A1906"/>
                </a:solidFill>
              </a:rPr>
              <a:t>résidences visées par les avis de ce matin n’avaient pas été jointes par téléphone.</a:t>
            </a:r>
            <a:endParaRPr lang="en-US" sz="1400" dirty="0"/>
          </a:p>
        </p:txBody>
      </p:sp>
      <p:sp>
        <p:nvSpPr>
          <p:cNvPr id="11" name="Text 8"/>
          <p:cNvSpPr txBox="1"/>
          <p:nvPr/>
        </p:nvSpPr>
        <p:spPr>
          <a:xfrm>
            <a:off x="8077200" y="3860800"/>
            <a:ext cx="3048000" cy="444500"/>
          </a:xfrm>
          <a:prstGeom prst="rect">
            <a:avLst/>
          </a:prstGeom>
          <a:noFill/>
          <a:ln/>
        </p:spPr>
        <p:txBody>
          <a:bodyPr wrap="square" lIns="0" tIns="0" rIns="0" bIns="0" rtlCol="0" anchor="t"/>
          <a:lstStyle/>
          <a:p>
            <a:pPr marL="0" indent="0" algn="l">
              <a:lnSpc>
                <a:spcPct val="130000"/>
              </a:lnSpc>
              <a:buNone/>
            </a:pPr>
            <a:r>
              <a:rPr lang="en-US" sz="1200" dirty="0">
                <a:solidFill>
                  <a:srgbClr val="1A1906"/>
                </a:solidFill>
              </a:rPr>
              <a:t>2 734 sur 3 982, selon votre carte des avis. À vérifier ensemble.</a:t>
            </a:r>
            <a:endParaRPr lang="en-US" sz="1200" dirty="0"/>
          </a:p>
        </p:txBody>
      </p:sp>
      <p:sp>
        <p:nvSpPr>
          <p:cNvPr id="12" name="Text 9"/>
          <p:cNvSpPr txBox="1"/>
          <p:nvPr/>
        </p:nvSpPr>
        <p:spPr>
          <a:xfrm>
            <a:off x="1041400" y="6286500"/>
            <a:ext cx="5080000" cy="190500"/>
          </a:xfrm>
          <a:prstGeom prst="rect">
            <a:avLst/>
          </a:prstGeom>
          <a:noFill/>
          <a:ln/>
        </p:spPr>
        <p:txBody>
          <a:bodyPr wrap="square" lIns="0" tIns="0" rIns="0" bIns="0" rtlCol="0" anchor="t"/>
          <a:lstStyle/>
          <a:p>
            <a:pPr marL="0" indent="0" algn="l">
              <a:lnSpc>
                <a:spcPct val="120000"/>
              </a:lnSpc>
              <a:buNone/>
            </a:pPr>
            <a:r>
              <a:rPr lang="en-US" sz="1200" dirty="0">
                <a:solidFill>
                  <a:srgbClr val="868C92"/>
                </a:solidFill>
              </a:rPr>
              <a:t>· donneesouvertes@ville.saguenay.qc.ca</a:t>
            </a:r>
            <a:endParaRPr lang="en-US" sz="12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10922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Le prochain départ, sur l’écran d’accueil</a:t>
            </a:r>
            <a:endParaRPr lang="en-US" sz="3600" dirty="0"/>
          </a:p>
        </p:txBody>
      </p:sp>
      <p:sp>
        <p:nvSpPr>
          <p:cNvPr id="4" name="Text 1"/>
          <p:cNvSpPr txBox="1"/>
          <p:nvPr/>
        </p:nvSpPr>
        <p:spPr>
          <a:xfrm>
            <a:off x="812800" y="812800"/>
            <a:ext cx="10566400" cy="215900"/>
          </a:xfrm>
          <a:prstGeom prst="rect">
            <a:avLst/>
          </a:prstGeom>
          <a:noFill/>
          <a:ln/>
        </p:spPr>
        <p:txBody>
          <a:bodyPr wrap="square" lIns="0" tIns="0" rIns="0" bIns="0" rtlCol="0" anchor="t"/>
          <a:lstStyle/>
          <a:p>
            <a:pPr marL="0" indent="0" algn="l">
              <a:lnSpc>
                <a:spcPct val="120000"/>
              </a:lnSpc>
              <a:buNone/>
            </a:pPr>
            <a:r>
              <a:rPr lang="en-US" sz="1200" b="1" dirty="0">
                <a:solidFill>
                  <a:srgbClr val="4A5056"/>
                </a:solidFill>
              </a:rPr>
              <a:t>Pour la Société de transport du Saguenay</a:t>
            </a:r>
            <a:endParaRPr lang="en-US" sz="1200" dirty="0"/>
          </a:p>
        </p:txBody>
      </p:sp>
      <p:sp>
        <p:nvSpPr>
          <p:cNvPr id="5" name="Text 2"/>
          <p:cNvSpPr txBox="1"/>
          <p:nvPr/>
        </p:nvSpPr>
        <p:spPr>
          <a:xfrm>
            <a:off x="812800" y="1905000"/>
            <a:ext cx="6350000" cy="1270000"/>
          </a:xfrm>
          <a:prstGeom prst="rect">
            <a:avLst/>
          </a:prstGeom>
          <a:noFill/>
          <a:ln/>
        </p:spPr>
        <p:txBody>
          <a:bodyPr wrap="square" lIns="0" tIns="0" rIns="0" bIns="0" rtlCol="0" anchor="t"/>
          <a:lstStyle/>
          <a:p>
            <a:pPr marL="0" indent="0" algn="l">
              <a:lnSpc>
                <a:spcPct val="140000"/>
              </a:lnSpc>
              <a:buNone/>
            </a:pPr>
            <a:r>
              <a:rPr lang="en-US" sz="1600" dirty="0">
                <a:solidFill>
                  <a:srgbClr val="4A5056"/>
                </a:solidFill>
              </a:rPr>
              <a:t>Votre nouveau système publie des horaires et du temps réel de très bonne qualité. L’app les lit déjà, retards compris. Il manque seulement une licence pour la publier. Pour planifier un trajet, l’app renvoie vers Transit.</a:t>
            </a:r>
            <a:endParaRPr lang="en-US" sz="1600" dirty="0"/>
          </a:p>
        </p:txBody>
      </p:sp>
      <p:sp>
        <p:nvSpPr>
          <p:cNvPr id="6" name="Text 3"/>
          <p:cNvSpPr txBox="1"/>
          <p:nvPr/>
        </p:nvSpPr>
        <p:spPr>
          <a:xfrm>
            <a:off x="812800" y="3556000"/>
            <a:ext cx="6350000" cy="2667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Ce que je vous demande</a:t>
            </a:r>
            <a:endParaRPr lang="en-US" sz="1600" dirty="0"/>
          </a:p>
        </p:txBody>
      </p:sp>
      <p:sp>
        <p:nvSpPr>
          <p:cNvPr id="7" name="Text 4"/>
          <p:cNvSpPr txBox="1"/>
          <p:nvPr/>
        </p:nvSpPr>
        <p:spPr>
          <a:xfrm>
            <a:off x="812800" y="3937000"/>
            <a:ext cx="6350000" cy="1079500"/>
          </a:xfrm>
          <a:prstGeom prst="rect">
            <a:avLst/>
          </a:prstGeom>
          <a:noFill/>
          <a:ln/>
        </p:spPr>
        <p:txBody>
          <a:bodyPr wrap="square" lIns="0" tIns="0" rIns="0" bIns="0" rtlCol="0" anchor="t"/>
          <a:lstStyle/>
          <a:p>
            <a:pPr marL="279400" indent="-279400">
              <a:lnSpc>
                <a:spcPct val="125000"/>
              </a:lnSpc>
              <a:spcAft>
                <a:spcPts val="400"/>
              </a:spcAft>
              <a:buSzPct val="100000"/>
              <a:buFont typeface="+mj-lt"/>
              <a:buAutoNum type="arabicPeriod"/>
            </a:pPr>
            <a:r>
              <a:rPr lang="en-US" sz="1400" dirty="0">
                <a:solidFill>
                  <a:srgbClr val="121417"/>
                </a:solidFill>
              </a:rPr>
              <a:t>Une licence CC BY 4.0, comme la STM et la STL.</a:t>
            </a:r>
            <a:endParaRPr lang="en-US" sz="1400" dirty="0"/>
          </a:p>
          <a:p>
            <a:pPr marL="279400" indent="-279400">
              <a:lnSpc>
                <a:spcPct val="125000"/>
              </a:lnSpc>
              <a:spcAft>
                <a:spcPts val="400"/>
              </a:spcAft>
              <a:buSzPct val="100000"/>
              <a:buFont typeface="+mj-lt"/>
              <a:buAutoNum type="arabicPeriod"/>
            </a:pPr>
            <a:r>
              <a:rPr lang="en-US" sz="1400" dirty="0">
                <a:solidFill>
                  <a:srgbClr val="121417"/>
                </a:solidFill>
              </a:rPr>
              <a:t>Une adresse de flux qui ne change pas sans avertissement.</a:t>
            </a:r>
            <a:endParaRPr lang="en-US" sz="1400" dirty="0"/>
          </a:p>
          <a:p>
            <a:pPr marL="279400" indent="-279400">
              <a:lnSpc>
                <a:spcPct val="125000"/>
              </a:lnSpc>
              <a:spcAft>
                <a:spcPts val="400"/>
              </a:spcAft>
              <a:buSzPct val="100000"/>
              <a:buFont typeface="+mj-lt"/>
              <a:buAutoNum type="arabicPeriod"/>
            </a:pPr>
            <a:r>
              <a:rPr lang="en-US" sz="1400" dirty="0">
                <a:solidFill>
                  <a:srgbClr val="121417"/>
                </a:solidFill>
              </a:rPr>
              <a:t>Le lien entre vos numéros d’arrêt (SMS au 22237) et le flux.</a:t>
            </a:r>
            <a:endParaRPr lang="en-US" sz="1400" dirty="0"/>
          </a:p>
        </p:txBody>
      </p:sp>
      <p:sp>
        <p:nvSpPr>
          <p:cNvPr id="8" name="horaire"/>
          <p:cNvSpPr/>
          <p:nvPr/>
        </p:nvSpPr>
        <p:spPr>
          <a:xfrm>
            <a:off x="7569200" y="1905000"/>
            <a:ext cx="3810000" cy="2476500"/>
          </a:xfrm>
          <a:prstGeom prst="roundRect">
            <a:avLst>
              <a:gd name="adj" fmla="val 8205"/>
            </a:avLst>
          </a:prstGeom>
          <a:solidFill>
            <a:srgbClr val="FFFFFF"/>
          </a:solidFill>
          <a:ln/>
        </p:spPr>
      </p:sp>
      <p:sp>
        <p:nvSpPr>
          <p:cNvPr id="9" name="Text 6"/>
          <p:cNvSpPr txBox="1"/>
          <p:nvPr/>
        </p:nvSpPr>
        <p:spPr>
          <a:xfrm>
            <a:off x="7823200" y="2159000"/>
            <a:ext cx="3302000" cy="215900"/>
          </a:xfrm>
          <a:prstGeom prst="rect">
            <a:avLst/>
          </a:prstGeom>
          <a:noFill/>
          <a:ln/>
        </p:spPr>
        <p:txBody>
          <a:bodyPr wrap="square" lIns="0" tIns="0" rIns="0" bIns="0" rtlCol="0" anchor="t"/>
          <a:lstStyle/>
          <a:p>
            <a:pPr marL="0" indent="0" algn="l">
              <a:lnSpc>
                <a:spcPct val="120000"/>
              </a:lnSpc>
              <a:buNone/>
            </a:pPr>
            <a:r>
              <a:rPr lang="en-US" sz="1200" b="1" dirty="0">
                <a:solidFill>
                  <a:srgbClr val="868C92"/>
                </a:solidFill>
              </a:rPr>
              <a:t>Arrêt 150, Racine Est</a:t>
            </a:r>
            <a:endParaRPr lang="en-US" sz="1200" dirty="0"/>
          </a:p>
        </p:txBody>
      </p:sp>
      <p:sp>
        <p:nvSpPr>
          <p:cNvPr id="10" name="Shape 7"/>
          <p:cNvSpPr/>
          <p:nvPr/>
        </p:nvSpPr>
        <p:spPr>
          <a:xfrm>
            <a:off x="7823200" y="2540000"/>
            <a:ext cx="457200" cy="241300"/>
          </a:xfrm>
          <a:prstGeom prst="roundRect">
            <a:avLst>
              <a:gd name="adj" fmla="val 26316"/>
            </a:avLst>
          </a:prstGeom>
          <a:solidFill>
            <a:srgbClr val="2F6BEB"/>
          </a:solidFill>
          <a:ln/>
        </p:spPr>
      </p:sp>
      <p:sp>
        <p:nvSpPr>
          <p:cNvPr id="11" name="Text 8"/>
          <p:cNvSpPr txBox="1"/>
          <p:nvPr/>
        </p:nvSpPr>
        <p:spPr>
          <a:xfrm>
            <a:off x="7823200" y="2540000"/>
            <a:ext cx="457200" cy="241300"/>
          </a:xfrm>
          <a:prstGeom prst="rect">
            <a:avLst/>
          </a:prstGeom>
          <a:noFill/>
          <a:ln/>
        </p:spPr>
        <p:txBody>
          <a:bodyPr wrap="square" lIns="0" tIns="0" rIns="0" bIns="0" rtlCol="0" anchor="ctr"/>
          <a:lstStyle/>
          <a:p>
            <a:pPr marL="0" indent="0" algn="ctr">
              <a:lnSpc>
                <a:spcPct val="120000"/>
              </a:lnSpc>
              <a:buNone/>
            </a:pPr>
            <a:r>
              <a:rPr lang="en-US" sz="1200" b="1" dirty="0">
                <a:solidFill>
                  <a:srgbClr val="FFFFFF"/>
                </a:solidFill>
              </a:rPr>
              <a:t>105</a:t>
            </a:r>
            <a:endParaRPr lang="en-US" sz="1200" dirty="0"/>
          </a:p>
        </p:txBody>
      </p:sp>
      <p:sp>
        <p:nvSpPr>
          <p:cNvPr id="12" name="Text 9"/>
          <p:cNvSpPr txBox="1"/>
          <p:nvPr/>
        </p:nvSpPr>
        <p:spPr>
          <a:xfrm>
            <a:off x="8394700" y="2514600"/>
            <a:ext cx="1905000" cy="292100"/>
          </a:xfrm>
          <a:prstGeom prst="rect">
            <a:avLst/>
          </a:prstGeom>
          <a:noFill/>
          <a:ln/>
        </p:spPr>
        <p:txBody>
          <a:bodyPr wrap="square" lIns="0" tIns="0" rIns="0" bIns="0" rtlCol="0" anchor="ctr"/>
          <a:lstStyle/>
          <a:p>
            <a:pPr marL="0" indent="0" algn="l">
              <a:lnSpc>
                <a:spcPct val="120000"/>
              </a:lnSpc>
              <a:buNone/>
            </a:pPr>
            <a:r>
              <a:rPr lang="en-US" sz="1200" dirty="0">
                <a:solidFill>
                  <a:srgbClr val="121417"/>
                </a:solidFill>
              </a:rPr>
              <a:t>La Baie</a:t>
            </a:r>
            <a:endParaRPr lang="en-US" sz="1200" dirty="0"/>
          </a:p>
        </p:txBody>
      </p:sp>
      <p:sp>
        <p:nvSpPr>
          <p:cNvPr id="13" name="Text 10"/>
          <p:cNvSpPr txBox="1"/>
          <p:nvPr/>
        </p:nvSpPr>
        <p:spPr>
          <a:xfrm>
            <a:off x="10236200" y="2514600"/>
            <a:ext cx="889000" cy="292100"/>
          </a:xfrm>
          <a:prstGeom prst="rect">
            <a:avLst/>
          </a:prstGeom>
          <a:noFill/>
          <a:ln/>
        </p:spPr>
        <p:txBody>
          <a:bodyPr wrap="square" lIns="0" tIns="0" rIns="0" bIns="0" rtlCol="0" anchor="ctr"/>
          <a:lstStyle/>
          <a:p>
            <a:pPr marL="0" indent="0" algn="r">
              <a:lnSpc>
                <a:spcPct val="120000"/>
              </a:lnSpc>
              <a:buNone/>
            </a:pPr>
            <a:r>
              <a:rPr lang="en-US" sz="1600" b="1" dirty="0">
                <a:solidFill>
                  <a:srgbClr val="121417"/>
                </a:solidFill>
              </a:rPr>
              <a:t>7 h 46</a:t>
            </a:r>
            <a:endParaRPr lang="en-US" sz="1600" dirty="0"/>
          </a:p>
        </p:txBody>
      </p:sp>
      <p:sp>
        <p:nvSpPr>
          <p:cNvPr id="14" name="Shape 11"/>
          <p:cNvSpPr/>
          <p:nvPr/>
        </p:nvSpPr>
        <p:spPr>
          <a:xfrm>
            <a:off x="7823200" y="2933700"/>
            <a:ext cx="457200" cy="241300"/>
          </a:xfrm>
          <a:prstGeom prst="roundRect">
            <a:avLst>
              <a:gd name="adj" fmla="val 26316"/>
            </a:avLst>
          </a:prstGeom>
          <a:solidFill>
            <a:srgbClr val="2F6BEB"/>
          </a:solidFill>
          <a:ln/>
        </p:spPr>
      </p:sp>
      <p:sp>
        <p:nvSpPr>
          <p:cNvPr id="15" name="Text 12"/>
          <p:cNvSpPr txBox="1"/>
          <p:nvPr/>
        </p:nvSpPr>
        <p:spPr>
          <a:xfrm>
            <a:off x="7823200" y="2933700"/>
            <a:ext cx="457200" cy="241300"/>
          </a:xfrm>
          <a:prstGeom prst="rect">
            <a:avLst/>
          </a:prstGeom>
          <a:noFill/>
          <a:ln/>
        </p:spPr>
        <p:txBody>
          <a:bodyPr wrap="square" lIns="0" tIns="0" rIns="0" bIns="0" rtlCol="0" anchor="ctr"/>
          <a:lstStyle/>
          <a:p>
            <a:pPr marL="0" indent="0" algn="ctr">
              <a:lnSpc>
                <a:spcPct val="120000"/>
              </a:lnSpc>
              <a:buNone/>
            </a:pPr>
            <a:r>
              <a:rPr lang="en-US" sz="1200" b="1" dirty="0">
                <a:solidFill>
                  <a:srgbClr val="FFFFFF"/>
                </a:solidFill>
              </a:rPr>
              <a:t>10</a:t>
            </a:r>
            <a:endParaRPr lang="en-US" sz="1200" dirty="0"/>
          </a:p>
        </p:txBody>
      </p:sp>
      <p:sp>
        <p:nvSpPr>
          <p:cNvPr id="16" name="Text 13"/>
          <p:cNvSpPr txBox="1"/>
          <p:nvPr/>
        </p:nvSpPr>
        <p:spPr>
          <a:xfrm>
            <a:off x="8394700" y="2908300"/>
            <a:ext cx="1905000" cy="292100"/>
          </a:xfrm>
          <a:prstGeom prst="rect">
            <a:avLst/>
          </a:prstGeom>
          <a:noFill/>
          <a:ln/>
        </p:spPr>
        <p:txBody>
          <a:bodyPr wrap="square" lIns="0" tIns="0" rIns="0" bIns="0" rtlCol="0" anchor="ctr"/>
          <a:lstStyle/>
          <a:p>
            <a:pPr marL="0" indent="0" algn="l">
              <a:lnSpc>
                <a:spcPct val="120000"/>
              </a:lnSpc>
              <a:buNone/>
            </a:pPr>
            <a:r>
              <a:rPr lang="en-US" sz="1200" dirty="0">
                <a:solidFill>
                  <a:srgbClr val="121417"/>
                </a:solidFill>
              </a:rPr>
              <a:t>UQAC</a:t>
            </a:r>
            <a:endParaRPr lang="en-US" sz="1200" dirty="0"/>
          </a:p>
        </p:txBody>
      </p:sp>
      <p:sp>
        <p:nvSpPr>
          <p:cNvPr id="17" name="Text 14"/>
          <p:cNvSpPr txBox="1"/>
          <p:nvPr/>
        </p:nvSpPr>
        <p:spPr>
          <a:xfrm>
            <a:off x="10236200" y="2908300"/>
            <a:ext cx="889000" cy="292100"/>
          </a:xfrm>
          <a:prstGeom prst="rect">
            <a:avLst/>
          </a:prstGeom>
          <a:noFill/>
          <a:ln/>
        </p:spPr>
        <p:txBody>
          <a:bodyPr wrap="square" lIns="0" tIns="0" rIns="0" bIns="0" rtlCol="0" anchor="ctr"/>
          <a:lstStyle/>
          <a:p>
            <a:pPr marL="0" indent="0" algn="r">
              <a:lnSpc>
                <a:spcPct val="120000"/>
              </a:lnSpc>
              <a:buNone/>
            </a:pPr>
            <a:r>
              <a:rPr lang="en-US" sz="1600" b="1" dirty="0">
                <a:solidFill>
                  <a:srgbClr val="121417"/>
                </a:solidFill>
              </a:rPr>
              <a:t>7 h 47</a:t>
            </a:r>
            <a:endParaRPr lang="en-US" sz="1600" dirty="0"/>
          </a:p>
        </p:txBody>
      </p:sp>
      <p:sp>
        <p:nvSpPr>
          <p:cNvPr id="18" name="Shape 15"/>
          <p:cNvSpPr/>
          <p:nvPr/>
        </p:nvSpPr>
        <p:spPr>
          <a:xfrm>
            <a:off x="7823200" y="3327400"/>
            <a:ext cx="457200" cy="241300"/>
          </a:xfrm>
          <a:prstGeom prst="roundRect">
            <a:avLst>
              <a:gd name="adj" fmla="val 26316"/>
            </a:avLst>
          </a:prstGeom>
          <a:solidFill>
            <a:srgbClr val="2F6BEB"/>
          </a:solidFill>
          <a:ln/>
        </p:spPr>
      </p:sp>
      <p:sp>
        <p:nvSpPr>
          <p:cNvPr id="19" name="Text 16"/>
          <p:cNvSpPr txBox="1"/>
          <p:nvPr/>
        </p:nvSpPr>
        <p:spPr>
          <a:xfrm>
            <a:off x="7823200" y="3327400"/>
            <a:ext cx="457200" cy="241300"/>
          </a:xfrm>
          <a:prstGeom prst="rect">
            <a:avLst/>
          </a:prstGeom>
          <a:noFill/>
          <a:ln/>
        </p:spPr>
        <p:txBody>
          <a:bodyPr wrap="square" lIns="0" tIns="0" rIns="0" bIns="0" rtlCol="0" anchor="ctr"/>
          <a:lstStyle/>
          <a:p>
            <a:pPr marL="0" indent="0" algn="ctr">
              <a:lnSpc>
                <a:spcPct val="120000"/>
              </a:lnSpc>
              <a:buNone/>
            </a:pPr>
            <a:r>
              <a:rPr lang="en-US" sz="1200" b="1" dirty="0">
                <a:solidFill>
                  <a:srgbClr val="FFFFFF"/>
                </a:solidFill>
              </a:rPr>
              <a:t>106</a:t>
            </a:r>
            <a:endParaRPr lang="en-US" sz="1200" dirty="0"/>
          </a:p>
        </p:txBody>
      </p:sp>
      <p:sp>
        <p:nvSpPr>
          <p:cNvPr id="20" name="Text 17"/>
          <p:cNvSpPr txBox="1"/>
          <p:nvPr/>
        </p:nvSpPr>
        <p:spPr>
          <a:xfrm>
            <a:off x="8394700" y="3302000"/>
            <a:ext cx="1905000" cy="292100"/>
          </a:xfrm>
          <a:prstGeom prst="rect">
            <a:avLst/>
          </a:prstGeom>
          <a:noFill/>
          <a:ln/>
        </p:spPr>
        <p:txBody>
          <a:bodyPr wrap="square" lIns="0" tIns="0" rIns="0" bIns="0" rtlCol="0" anchor="ctr"/>
          <a:lstStyle/>
          <a:p>
            <a:pPr marL="0" indent="0" algn="l">
              <a:lnSpc>
                <a:spcPct val="120000"/>
              </a:lnSpc>
              <a:buNone/>
            </a:pPr>
            <a:r>
              <a:rPr lang="en-US" sz="1200" dirty="0">
                <a:solidFill>
                  <a:srgbClr val="121417"/>
                </a:solidFill>
              </a:rPr>
              <a:t>La Baie par Bagotville</a:t>
            </a:r>
            <a:endParaRPr lang="en-US" sz="1200" dirty="0"/>
          </a:p>
        </p:txBody>
      </p:sp>
      <p:sp>
        <p:nvSpPr>
          <p:cNvPr id="21" name="Text 18"/>
          <p:cNvSpPr txBox="1"/>
          <p:nvPr/>
        </p:nvSpPr>
        <p:spPr>
          <a:xfrm>
            <a:off x="10236200" y="3302000"/>
            <a:ext cx="889000" cy="292100"/>
          </a:xfrm>
          <a:prstGeom prst="rect">
            <a:avLst/>
          </a:prstGeom>
          <a:noFill/>
          <a:ln/>
        </p:spPr>
        <p:txBody>
          <a:bodyPr wrap="square" lIns="0" tIns="0" rIns="0" bIns="0" rtlCol="0" anchor="ctr"/>
          <a:lstStyle/>
          <a:p>
            <a:pPr marL="0" indent="0" algn="r">
              <a:lnSpc>
                <a:spcPct val="120000"/>
              </a:lnSpc>
              <a:buNone/>
            </a:pPr>
            <a:r>
              <a:rPr lang="en-US" sz="1600" b="1" dirty="0">
                <a:solidFill>
                  <a:srgbClr val="121417"/>
                </a:solidFill>
              </a:rPr>
              <a:t>8 h 16</a:t>
            </a:r>
            <a:endParaRPr lang="en-US" sz="1600" dirty="0"/>
          </a:p>
        </p:txBody>
      </p:sp>
      <p:sp>
        <p:nvSpPr>
          <p:cNvPr id="22" name="Text 19"/>
          <p:cNvSpPr txBox="1"/>
          <p:nvPr/>
        </p:nvSpPr>
        <p:spPr>
          <a:xfrm>
            <a:off x="7823200" y="3810000"/>
            <a:ext cx="3302000" cy="381000"/>
          </a:xfrm>
          <a:prstGeom prst="rect">
            <a:avLst/>
          </a:prstGeom>
          <a:noFill/>
          <a:ln/>
        </p:spPr>
        <p:txBody>
          <a:bodyPr wrap="square" lIns="0" tIns="0" rIns="0" bIns="0" rtlCol="0" anchor="t"/>
          <a:lstStyle/>
          <a:p>
            <a:pPr marL="0" indent="0" algn="l">
              <a:lnSpc>
                <a:spcPct val="130000"/>
              </a:lnSpc>
              <a:buNone/>
            </a:pPr>
            <a:r>
              <a:rPr lang="en-US" sz="1200" dirty="0">
                <a:solidFill>
                  <a:srgbClr val="868C92"/>
                </a:solidFill>
              </a:rPr>
              <a:t>Mercredi 18 novembre. Heures tirées de votre flux public.</a:t>
            </a:r>
            <a:endParaRPr lang="en-US" sz="1200" dirty="0"/>
          </a:p>
        </p:txBody>
      </p:sp>
      <p:sp>
        <p:nvSpPr>
          <p:cNvPr id="23" name="Text 20"/>
          <p:cNvSpPr txBox="1"/>
          <p:nvPr/>
        </p:nvSpPr>
        <p:spPr>
          <a:xfrm>
            <a:off x="1041400" y="6286500"/>
            <a:ext cx="5080000" cy="190500"/>
          </a:xfrm>
          <a:prstGeom prst="rect">
            <a:avLst/>
          </a:prstGeom>
          <a:noFill/>
          <a:ln/>
        </p:spPr>
        <p:txBody>
          <a:bodyPr wrap="square" lIns="0" tIns="0" rIns="0" bIns="0" rtlCol="0" anchor="t"/>
          <a:lstStyle/>
          <a:p>
            <a:pPr marL="0" indent="0" algn="l">
              <a:lnSpc>
                <a:spcPct val="120000"/>
              </a:lnSpc>
              <a:buNone/>
            </a:pPr>
            <a:r>
              <a:rPr lang="en-US" sz="1200" dirty="0">
                <a:solidFill>
                  <a:srgbClr val="868C92"/>
                </a:solidFill>
              </a:rPr>
              <a:t>· sts@stsaguenay.com</a:t>
            </a:r>
            <a:endParaRPr lang="en-US" sz="12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D’autres coups de main</a:t>
            </a:r>
            <a:endParaRPr lang="en-US" sz="3600" dirty="0"/>
          </a:p>
        </p:txBody>
      </p:sp>
      <p:sp>
        <p:nvSpPr>
          <p:cNvPr id="4" name="Promotion Saguenay"/>
          <p:cNvSpPr/>
          <p:nvPr/>
        </p:nvSpPr>
        <p:spPr>
          <a:xfrm>
            <a:off x="812800" y="1574800"/>
            <a:ext cx="3403600" cy="2032000"/>
          </a:xfrm>
          <a:prstGeom prst="roundRect">
            <a:avLst>
              <a:gd name="adj" fmla="val 10000"/>
            </a:avLst>
          </a:prstGeom>
          <a:solidFill>
            <a:srgbClr val="F1F2EF"/>
          </a:solidFill>
          <a:ln/>
        </p:spPr>
      </p:sp>
      <p:sp>
        <p:nvSpPr>
          <p:cNvPr id="5" name="Text 2"/>
          <p:cNvSpPr txBox="1"/>
          <p:nvPr/>
        </p:nvSpPr>
        <p:spPr>
          <a:xfrm>
            <a:off x="1066800" y="1828800"/>
            <a:ext cx="2895600" cy="2794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Promotion Saguenay</a:t>
            </a:r>
            <a:endParaRPr lang="en-US" sz="1600" dirty="0"/>
          </a:p>
        </p:txBody>
      </p:sp>
      <p:sp>
        <p:nvSpPr>
          <p:cNvPr id="6" name="Text 3"/>
          <p:cNvSpPr txBox="1"/>
          <p:nvPr/>
        </p:nvSpPr>
        <p:spPr>
          <a:xfrm>
            <a:off x="1066800" y="2197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Ses fonds numériques pourraient payer le développement et des tests avec des citoyens. L’admissibilité reste à vérifier.</a:t>
            </a:r>
            <a:endParaRPr lang="en-US" sz="1400" dirty="0"/>
          </a:p>
        </p:txBody>
      </p:sp>
      <p:sp>
        <p:nvSpPr>
          <p:cNvPr id="7" name="UQAC et cégeps"/>
          <p:cNvSpPr/>
          <p:nvPr/>
        </p:nvSpPr>
        <p:spPr>
          <a:xfrm>
            <a:off x="4394200" y="1574800"/>
            <a:ext cx="3403600" cy="2032000"/>
          </a:xfrm>
          <a:prstGeom prst="roundRect">
            <a:avLst>
              <a:gd name="adj" fmla="val 10000"/>
            </a:avLst>
          </a:prstGeom>
          <a:solidFill>
            <a:srgbClr val="F1F2EF"/>
          </a:solidFill>
          <a:ln/>
        </p:spPr>
      </p:sp>
      <p:sp>
        <p:nvSpPr>
          <p:cNvPr id="8" name="Text 5"/>
          <p:cNvSpPr txBox="1"/>
          <p:nvPr/>
        </p:nvSpPr>
        <p:spPr>
          <a:xfrm>
            <a:off x="4648200" y="1828800"/>
            <a:ext cx="2895600" cy="2794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UQAC et cégeps</a:t>
            </a:r>
            <a:endParaRPr lang="en-US" sz="1600" dirty="0"/>
          </a:p>
        </p:txBody>
      </p:sp>
      <p:sp>
        <p:nvSpPr>
          <p:cNvPr id="9" name="Text 6"/>
          <p:cNvSpPr txBox="1"/>
          <p:nvPr/>
        </p:nvSpPr>
        <p:spPr>
          <a:xfrm>
            <a:off x="4648200" y="2197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Des projets étudiants : tests d’accessibilité, qualité des données, essais avec de vrais usagers.</a:t>
            </a:r>
            <a:endParaRPr lang="en-US" sz="1400" dirty="0"/>
          </a:p>
        </p:txBody>
      </p:sp>
      <p:sp>
        <p:nvSpPr>
          <p:cNvPr id="10" name="SaguenayCollecte"/>
          <p:cNvSpPr/>
          <p:nvPr/>
        </p:nvSpPr>
        <p:spPr>
          <a:xfrm>
            <a:off x="7975600" y="1574800"/>
            <a:ext cx="3403600" cy="2032000"/>
          </a:xfrm>
          <a:prstGeom prst="roundRect">
            <a:avLst>
              <a:gd name="adj" fmla="val 10000"/>
            </a:avLst>
          </a:prstGeom>
          <a:solidFill>
            <a:srgbClr val="F1F2EF"/>
          </a:solidFill>
          <a:ln/>
        </p:spPr>
      </p:sp>
      <p:sp>
        <p:nvSpPr>
          <p:cNvPr id="11" name="Text 8"/>
          <p:cNvSpPr txBox="1"/>
          <p:nvPr/>
        </p:nvSpPr>
        <p:spPr>
          <a:xfrm>
            <a:off x="8229600" y="1828800"/>
            <a:ext cx="2895600" cy="279400"/>
          </a:xfrm>
          <a:prstGeom prst="rect">
            <a:avLst/>
          </a:prstGeom>
          <a:noFill/>
          <a:ln/>
        </p:spPr>
        <p:txBody>
          <a:bodyPr wrap="square" lIns="0" tIns="0" rIns="0" bIns="0" rtlCol="0" anchor="t"/>
          <a:lstStyle/>
          <a:p>
            <a:pPr marL="0" indent="0" algn="l">
              <a:lnSpc>
                <a:spcPct val="120000"/>
              </a:lnSpc>
              <a:buNone/>
            </a:pPr>
            <a:r>
              <a:rPr lang="en-US" sz="1600" b="1" dirty="0">
                <a:solidFill>
                  <a:srgbClr val="121417"/>
                </a:solidFill>
              </a:rPr>
              <a:t>SaguenayCollecte</a:t>
            </a:r>
            <a:endParaRPr lang="en-US" sz="1600" dirty="0"/>
          </a:p>
        </p:txBody>
      </p:sp>
      <p:sp>
        <p:nvSpPr>
          <p:cNvPr id="12" name="Text 9"/>
          <p:cNvSpPr txBox="1"/>
          <p:nvPr/>
        </p:nvSpPr>
        <p:spPr>
          <a:xfrm>
            <a:off x="8229600" y="2197100"/>
            <a:ext cx="2895600" cy="12065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Leur app fait déjà très bien les collectes. On se renvoie les usagers au lieu de se faire concurrence.</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762000"/>
            <a:ext cx="10566400" cy="635000"/>
          </a:xfrm>
          <a:prstGeom prst="rect">
            <a:avLst/>
          </a:prstGeom>
          <a:noFill/>
          <a:ln/>
        </p:spPr>
        <p:txBody>
          <a:bodyPr wrap="square" lIns="0" tIns="0" rIns="0" bIns="0" rtlCol="0" anchor="t"/>
          <a:lstStyle/>
          <a:p>
            <a:pPr marL="0" indent="0" algn="l">
              <a:lnSpc>
                <a:spcPct val="102000"/>
              </a:lnSpc>
              <a:buNone/>
            </a:pPr>
            <a:r>
              <a:rPr lang="en-US" sz="3600" b="1" dirty="0">
                <a:solidFill>
                  <a:srgbClr val="121417"/>
                </a:solidFill>
              </a:rPr>
              <a:t>La suite</a:t>
            </a:r>
            <a:endParaRPr lang="en-US" sz="3600" dirty="0"/>
          </a:p>
        </p:txBody>
      </p:sp>
      <p:sp>
        <p:nvSpPr>
          <p:cNvPr id="4" name="repère 1"/>
          <p:cNvSpPr/>
          <p:nvPr/>
        </p:nvSpPr>
        <p:spPr>
          <a:xfrm>
            <a:off x="812800" y="1651000"/>
            <a:ext cx="2489200" cy="38100"/>
          </a:xfrm>
          <a:prstGeom prst="rect">
            <a:avLst/>
          </a:prstGeom>
          <a:solidFill>
            <a:srgbClr val="FFD02B"/>
          </a:solidFill>
          <a:ln/>
        </p:spPr>
      </p:sp>
      <p:sp>
        <p:nvSpPr>
          <p:cNvPr id="5" name="Text 2"/>
          <p:cNvSpPr txBox="1"/>
          <p:nvPr/>
        </p:nvSpPr>
        <p:spPr>
          <a:xfrm>
            <a:off x="812800" y="1841500"/>
            <a:ext cx="2489200" cy="355600"/>
          </a:xfrm>
          <a:prstGeom prst="rect">
            <a:avLst/>
          </a:prstGeom>
          <a:noFill/>
          <a:ln/>
        </p:spPr>
        <p:txBody>
          <a:bodyPr wrap="square" lIns="0" tIns="0" rIns="0" bIns="0" rtlCol="0" anchor="t"/>
          <a:lstStyle/>
          <a:p>
            <a:pPr marL="0" indent="0" algn="l">
              <a:lnSpc>
                <a:spcPct val="120000"/>
              </a:lnSpc>
              <a:buNone/>
            </a:pPr>
            <a:r>
              <a:rPr lang="en-US" sz="2200" b="1" dirty="0">
                <a:solidFill>
                  <a:srgbClr val="121417"/>
                </a:solidFill>
              </a:rPr>
              <a:t>Fin octobre</a:t>
            </a:r>
            <a:endParaRPr lang="en-US" sz="2200" dirty="0"/>
          </a:p>
        </p:txBody>
      </p:sp>
      <p:sp>
        <p:nvSpPr>
          <p:cNvPr id="6" name="Text 3"/>
          <p:cNvSpPr txBox="1"/>
          <p:nvPr/>
        </p:nvSpPr>
        <p:spPr>
          <a:xfrm>
            <a:off x="812800" y="2260600"/>
            <a:ext cx="2489200" cy="12700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Je présente le projet et j’envoie les demandes.</a:t>
            </a:r>
            <a:endParaRPr lang="en-US" sz="1400" dirty="0"/>
          </a:p>
        </p:txBody>
      </p:sp>
      <p:sp>
        <p:nvSpPr>
          <p:cNvPr id="7" name="repère 2"/>
          <p:cNvSpPr/>
          <p:nvPr/>
        </p:nvSpPr>
        <p:spPr>
          <a:xfrm>
            <a:off x="3505200" y="1651000"/>
            <a:ext cx="2489200" cy="38100"/>
          </a:xfrm>
          <a:prstGeom prst="rect">
            <a:avLst/>
          </a:prstGeom>
          <a:solidFill>
            <a:srgbClr val="121417"/>
          </a:solidFill>
          <a:ln/>
        </p:spPr>
      </p:sp>
      <p:sp>
        <p:nvSpPr>
          <p:cNvPr id="8" name="Text 5"/>
          <p:cNvSpPr txBox="1"/>
          <p:nvPr/>
        </p:nvSpPr>
        <p:spPr>
          <a:xfrm>
            <a:off x="3505200" y="1841500"/>
            <a:ext cx="2489200" cy="355600"/>
          </a:xfrm>
          <a:prstGeom prst="rect">
            <a:avLst/>
          </a:prstGeom>
          <a:noFill/>
          <a:ln/>
        </p:spPr>
        <p:txBody>
          <a:bodyPr wrap="square" lIns="0" tIns="0" rIns="0" bIns="0" rtlCol="0" anchor="t"/>
          <a:lstStyle/>
          <a:p>
            <a:pPr marL="0" indent="0" algn="l">
              <a:lnSpc>
                <a:spcPct val="120000"/>
              </a:lnSpc>
              <a:buNone/>
            </a:pPr>
            <a:r>
              <a:rPr lang="en-US" sz="2200" b="1" dirty="0">
                <a:solidFill>
                  <a:srgbClr val="121417"/>
                </a:solidFill>
              </a:rPr>
              <a:t>Mi-décembre</a:t>
            </a:r>
            <a:endParaRPr lang="en-US" sz="2200" dirty="0"/>
          </a:p>
        </p:txBody>
      </p:sp>
      <p:sp>
        <p:nvSpPr>
          <p:cNvPr id="9" name="Text 6"/>
          <p:cNvSpPr txBox="1"/>
          <p:nvPr/>
        </p:nvSpPr>
        <p:spPr>
          <a:xfrm>
            <a:off x="3505200" y="2260600"/>
            <a:ext cx="2489200" cy="12700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Première version publique, avec les sources ouvertes et celles que vous aurez acceptées.</a:t>
            </a:r>
            <a:endParaRPr lang="en-US" sz="1400" dirty="0"/>
          </a:p>
        </p:txBody>
      </p:sp>
      <p:sp>
        <p:nvSpPr>
          <p:cNvPr id="10" name="repère 3"/>
          <p:cNvSpPr/>
          <p:nvPr/>
        </p:nvSpPr>
        <p:spPr>
          <a:xfrm>
            <a:off x="6197600" y="1651000"/>
            <a:ext cx="2489200" cy="38100"/>
          </a:xfrm>
          <a:prstGeom prst="rect">
            <a:avLst/>
          </a:prstGeom>
          <a:solidFill>
            <a:srgbClr val="121417"/>
          </a:solidFill>
          <a:ln/>
        </p:spPr>
      </p:sp>
      <p:sp>
        <p:nvSpPr>
          <p:cNvPr id="11" name="Text 8"/>
          <p:cNvSpPr txBox="1"/>
          <p:nvPr/>
        </p:nvSpPr>
        <p:spPr>
          <a:xfrm>
            <a:off x="6197600" y="1841500"/>
            <a:ext cx="2489200" cy="355600"/>
          </a:xfrm>
          <a:prstGeom prst="rect">
            <a:avLst/>
          </a:prstGeom>
          <a:noFill/>
          <a:ln/>
        </p:spPr>
        <p:txBody>
          <a:bodyPr wrap="square" lIns="0" tIns="0" rIns="0" bIns="0" rtlCol="0" anchor="t"/>
          <a:lstStyle/>
          <a:p>
            <a:pPr marL="0" indent="0" algn="l">
              <a:lnSpc>
                <a:spcPct val="120000"/>
              </a:lnSpc>
              <a:buNone/>
            </a:pPr>
            <a:r>
              <a:rPr lang="en-US" sz="2200" b="1" dirty="0">
                <a:solidFill>
                  <a:srgbClr val="121417"/>
                </a:solidFill>
              </a:rPr>
              <a:t>Janvier</a:t>
            </a:r>
            <a:endParaRPr lang="en-US" sz="2200" dirty="0"/>
          </a:p>
        </p:txBody>
      </p:sp>
      <p:sp>
        <p:nvSpPr>
          <p:cNvPr id="12" name="Text 9"/>
          <p:cNvSpPr txBox="1"/>
          <p:nvPr/>
        </p:nvSpPr>
        <p:spPr>
          <a:xfrm>
            <a:off x="6197600" y="2260600"/>
            <a:ext cx="2489200" cy="12700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Le reste dès les accords, et la version web.</a:t>
            </a:r>
            <a:endParaRPr lang="en-US" sz="1400" dirty="0"/>
          </a:p>
        </p:txBody>
      </p:sp>
      <p:sp>
        <p:nvSpPr>
          <p:cNvPr id="13" name="repère 4"/>
          <p:cNvSpPr/>
          <p:nvPr/>
        </p:nvSpPr>
        <p:spPr>
          <a:xfrm>
            <a:off x="8890000" y="1651000"/>
            <a:ext cx="2489200" cy="38100"/>
          </a:xfrm>
          <a:prstGeom prst="rect">
            <a:avLst/>
          </a:prstGeom>
          <a:solidFill>
            <a:srgbClr val="121417"/>
          </a:solidFill>
          <a:ln/>
        </p:spPr>
      </p:sp>
      <p:sp>
        <p:nvSpPr>
          <p:cNvPr id="14" name="Text 11"/>
          <p:cNvSpPr txBox="1"/>
          <p:nvPr/>
        </p:nvSpPr>
        <p:spPr>
          <a:xfrm>
            <a:off x="8890000" y="1841500"/>
            <a:ext cx="2489200" cy="355600"/>
          </a:xfrm>
          <a:prstGeom prst="rect">
            <a:avLst/>
          </a:prstGeom>
          <a:noFill/>
          <a:ln/>
        </p:spPr>
        <p:txBody>
          <a:bodyPr wrap="square" lIns="0" tIns="0" rIns="0" bIns="0" rtlCol="0" anchor="t"/>
          <a:lstStyle/>
          <a:p>
            <a:pPr marL="0" indent="0" algn="l">
              <a:lnSpc>
                <a:spcPct val="120000"/>
              </a:lnSpc>
              <a:buNone/>
            </a:pPr>
            <a:r>
              <a:rPr lang="en-US" sz="2200" b="1" dirty="0">
                <a:solidFill>
                  <a:srgbClr val="121417"/>
                </a:solidFill>
              </a:rPr>
              <a:t>Avril</a:t>
            </a:r>
            <a:endParaRPr lang="en-US" sz="2200" dirty="0"/>
          </a:p>
        </p:txBody>
      </p:sp>
      <p:sp>
        <p:nvSpPr>
          <p:cNvPr id="15" name="Text 12"/>
          <p:cNvSpPr txBox="1"/>
          <p:nvPr/>
        </p:nvSpPr>
        <p:spPr>
          <a:xfrm>
            <a:off x="8890000" y="2260600"/>
            <a:ext cx="2489200" cy="1270000"/>
          </a:xfrm>
          <a:prstGeom prst="rect">
            <a:avLst/>
          </a:prstGeom>
          <a:noFill/>
          <a:ln/>
        </p:spPr>
        <p:txBody>
          <a:bodyPr wrap="square" lIns="0" tIns="0" rIns="0" bIns="0" rtlCol="0" anchor="t"/>
          <a:lstStyle/>
          <a:p>
            <a:pPr marL="0" indent="0" algn="l">
              <a:lnSpc>
                <a:spcPct val="135000"/>
              </a:lnSpc>
              <a:buNone/>
            </a:pPr>
            <a:r>
              <a:rPr lang="en-US" sz="1400" dirty="0">
                <a:solidFill>
                  <a:srgbClr val="4A5056"/>
                </a:solidFill>
              </a:rPr>
              <a:t>Bilan de l’hiver, partagé avec la Ville.</a:t>
            </a:r>
            <a:endParaRPr lang="en-US" sz="1400" dirty="0"/>
          </a:p>
        </p:txBody>
      </p:sp>
      <p:sp>
        <p:nvSpPr>
          <p:cNvPr id="25" name="Slide Number Placeholder 0"/>
          <p:cNvSpPr>
            <a:spLocks noGrp="1"/>
          </p:cNvSpPr>
          <p:nvPr>
            <p:ph type="sldNum" sz="quarter" idx="4294967295"/>
          </p:nvPr>
        </p:nvSpPr>
        <p:spPr>
          <a:xfrm>
            <a:off x="812800" y="6286500"/>
            <a:ext cx="762000" cy="19050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rgbClr val="868C92"/>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12800" y="2425700"/>
            <a:ext cx="10566400" cy="825500"/>
          </a:xfrm>
          <a:prstGeom prst="rect">
            <a:avLst/>
          </a:prstGeom>
          <a:noFill/>
          <a:ln/>
        </p:spPr>
        <p:txBody>
          <a:bodyPr wrap="square" lIns="0" tIns="0" rIns="0" bIns="0" rtlCol="0" anchor="t"/>
          <a:lstStyle/>
          <a:p>
            <a:pPr marL="0" indent="0" algn="l">
              <a:lnSpc>
                <a:spcPct val="102000"/>
              </a:lnSpc>
              <a:buNone/>
            </a:pPr>
            <a:r>
              <a:rPr lang="en-US" sz="6000" b="1" dirty="0">
                <a:solidFill>
                  <a:srgbClr val="1A1906"/>
                </a:solidFill>
              </a:rPr>
              <a:t>Merci.</a:t>
            </a:r>
            <a:endParaRPr lang="en-US" sz="6000" dirty="0"/>
          </a:p>
        </p:txBody>
      </p:sp>
      <p:sp>
        <p:nvSpPr>
          <p:cNvPr id="4" name="Text 1"/>
          <p:cNvSpPr txBox="1"/>
          <p:nvPr/>
        </p:nvSpPr>
        <p:spPr>
          <a:xfrm>
            <a:off x="812800" y="3454400"/>
            <a:ext cx="10566400" cy="381000"/>
          </a:xfrm>
          <a:prstGeom prst="rect">
            <a:avLst/>
          </a:prstGeom>
          <a:noFill/>
          <a:ln/>
        </p:spPr>
        <p:txBody>
          <a:bodyPr wrap="square" lIns="0" tIns="0" rIns="0" bIns="0" rtlCol="0" anchor="t"/>
          <a:lstStyle/>
          <a:p>
            <a:pPr marL="0" indent="0" algn="l">
              <a:lnSpc>
                <a:spcPct val="120000"/>
              </a:lnSpc>
              <a:buNone/>
            </a:pPr>
            <a:r>
              <a:rPr lang="en-US" sz="2200" dirty="0">
                <a:solidFill>
                  <a:srgbClr val="1A1906"/>
                </a:solidFill>
              </a:rPr>
              <a:t>On essaie la démo ensemble ?</a:t>
            </a:r>
            <a:endParaRPr lang="en-US" sz="2200" dirty="0"/>
          </a:p>
        </p:txBody>
      </p:sp>
      <p:sp>
        <p:nvSpPr>
          <p:cNvPr id="5" name="Text 2"/>
          <p:cNvSpPr txBox="1"/>
          <p:nvPr/>
        </p:nvSpPr>
        <p:spPr>
          <a:xfrm>
            <a:off x="812800" y="4038600"/>
            <a:ext cx="10566400" cy="292100"/>
          </a:xfrm>
          <a:prstGeom prst="rect">
            <a:avLst/>
          </a:prstGeom>
          <a:noFill/>
          <a:ln/>
        </p:spPr>
        <p:txBody>
          <a:bodyPr wrap="square" lIns="0" tIns="0" rIns="0" bIns="0" rtlCol="0" anchor="t"/>
          <a:lstStyle/>
          <a:p>
            <a:pPr marL="0" indent="0" algn="l">
              <a:lnSpc>
                <a:spcPct val="120000"/>
              </a:lnSpc>
              <a:buNone/>
            </a:pPr>
            <a:r>
              <a:rPr lang="en-US" sz="1600" dirty="0">
                <a:solidFill>
                  <a:srgbClr val="1A1906"/>
                </a:solidFill>
              </a:rPr>
              <a:t>saguenay-aujourdhui.netlify.app</a:t>
            </a:r>
            <a:endParaRPr lang="en-US" sz="1600" dirty="0"/>
          </a:p>
        </p:txBody>
      </p:sp>
      <p:sp>
        <p:nvSpPr>
          <p:cNvPr id="6" name="Text 3"/>
          <p:cNvSpPr txBox="1"/>
          <p:nvPr/>
        </p:nvSpPr>
        <p:spPr>
          <a:xfrm>
            <a:off x="812800" y="6286500"/>
            <a:ext cx="10566400" cy="215900"/>
          </a:xfrm>
          <a:prstGeom prst="rect">
            <a:avLst/>
          </a:prstGeom>
          <a:noFill/>
          <a:ln/>
        </p:spPr>
        <p:txBody>
          <a:bodyPr wrap="square" lIns="0" tIns="0" rIns="0" bIns="0" rtlCol="0" anchor="t"/>
          <a:lstStyle/>
          <a:p>
            <a:pPr marL="0" indent="0" algn="l">
              <a:lnSpc>
                <a:spcPct val="120000"/>
              </a:lnSpc>
              <a:buNone/>
            </a:pPr>
            <a:r>
              <a:rPr lang="en-US" sz="1200" dirty="0">
                <a:solidFill>
                  <a:srgbClr val="1A1906"/>
                </a:solidFill>
              </a:rPr>
              <a:t>Florent Akpa · Saguenay</a:t>
            </a:r>
            <a:endParaRPr lang="en-US" sz="1200" dirty="0"/>
          </a:p>
        </p:txBody>
      </p:sp>
    </p:spTree>
  </p:cSld>
  <p:clrMapOvr>
    <a:masterClrMapping/>
  </p:clrMapOvr>
</p:sld>
</file>

<file path=ppt/theme/theme1.xml><?xml version="1.0" encoding="utf-8"?>
<a:theme xmlns:a="http://schemas.openxmlformats.org/drawingml/2006/main" name="Saguenay Aujourd'hui">
  <a:themeElements>
    <a:clrScheme name="Saguenay Aujourd'hui">
      <a:dk1>
        <a:srgbClr val="121417"/>
      </a:dk1>
      <a:lt1>
        <a:srgbClr val="FFFFFF"/>
      </a:lt1>
      <a:dk2>
        <a:srgbClr val="1A1906"/>
      </a:dk2>
      <a:lt2>
        <a:srgbClr val="F1F2EF"/>
      </a:lt2>
      <a:accent1>
        <a:srgbClr val="FFD02B"/>
      </a:accent1>
      <a:accent2>
        <a:srgbClr val="157A4A"/>
      </a:accent2>
      <a:accent3>
        <a:srgbClr val="2F6BEB"/>
      </a:accent3>
      <a:accent4>
        <a:srgbClr val="C93630"/>
      </a:accent4>
      <a:accent5>
        <a:srgbClr val="4E6A85"/>
      </a:accent5>
      <a:accent6>
        <a:srgbClr val="B8336A"/>
      </a:accent6>
      <a:hlink>
        <a:srgbClr val="2F6BEB"/>
      </a:hlink>
      <a:folHlink>
        <a:srgbClr val="6B55C9"/>
      </a:folHlink>
    </a:clrScheme>
    <a:fontScheme name="Saguenay Aujourd'hu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3817</Words>
  <Application>Microsoft Office PowerPoint</Application>
  <PresentationFormat>Grand écran</PresentationFormat>
  <Paragraphs>272</Paragraphs>
  <Slides>18</Slides>
  <Notes>18</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18</vt:i4>
      </vt:variant>
    </vt:vector>
  </HeadingPairs>
  <TitlesOfParts>
    <vt:vector size="20" baseType="lpstr">
      <vt:lpstr>Arial</vt:lpstr>
      <vt:lpstr>Saguenay Aujourd'hui</vt:lpstr>
      <vt:lpstr>Saguenay Aujourd’hui</vt:lpstr>
      <vt:lpstr>Le bac est encore dans l’entrée, l’auto est dans la rue, et tu ne sais plus si l’avis d’ébullition est levé.</vt:lpstr>
      <vt:lpstr>Une maison pour chaque geste</vt:lpstr>
      <vt:lpstr>Une seule maison, qui te prévient</vt:lpstr>
      <vt:lpstr>Une seule place, qui fait le tri pour toi</vt:lpstr>
      <vt:lpstr>Douze sources, une seule app</vt:lpstr>
      <vt:lpstr>Elle change selon l’heure</vt:lpstr>
      <vt:lpstr>Le widget change tout seul</vt:lpstr>
      <vt:lpstr>Elle voit venir la semaine</vt:lpstr>
      <vt:lpstr>Et quand tu as une question</vt:lpstr>
      <vt:lpstr>Et pour ceux qu’on aime</vt:lpstr>
      <vt:lpstr>Fiable, même sans réseau</vt:lpstr>
      <vt:lpstr>Tout est branché aujourd’hui</vt:lpstr>
      <vt:lpstr>Quand l’eau est touchée, prévenir tout le monde</vt:lpstr>
      <vt:lpstr>Le prochain départ, sur l’écran d’accueil</vt:lpstr>
      <vt:lpstr>D’autres coups de main</vt:lpstr>
      <vt:lpstr>La suite</vt:lpstr>
      <vt:lpstr>Merci.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Saguenay Aujourd'hui</dc:title>
  <dc:subject>Présentation aux partenaires</dc:subject>
  <dc:creator>Florent Akpa</dc:creator>
  <cp:lastModifiedBy>Florent GOTLIEBE</cp:lastModifiedBy>
  <cp:revision>2</cp:revision>
  <dcterms:created xsi:type="dcterms:W3CDTF">2026-10-30T08:38:31Z</dcterms:created>
  <dcterms:modified xsi:type="dcterms:W3CDTF">2026-10-30T08:38:48Z</dcterms:modified>
</cp:coreProperties>
</file>