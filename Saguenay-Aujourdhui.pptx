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ssentiel" id="{DB9EB7CC-4385-C37F-A27A-B125DCC55EA6}">
          <p14:sldIdLst>
            <p14:sldId id="256"/>
            <p14:sldId id="257"/>
          </p14:sldIdLst>
        </p14:section>
        <p14:section name="Pourquoi" id="{144D111B-161C-5455-6A87-7AED2A603CC6}">
          <p14:sldIdLst>
            <p14:sldId id="258"/>
            <p14:sldId id="259"/>
            <p14:sldId id="260"/>
          </p14:sldIdLst>
        </p14:section>
        <p14:section name="Ce qui est nouveau" id="{90551886-24AB-359B-CEF4-098D7FE254F6}">
          <p14:sldIdLst>
            <p14:sldId id="261"/>
            <p14:sldId id="262"/>
          </p14:sldIdLst>
        </p14:section>
        <p14:section name="Au quotidien" id="{9E425B32-FF2E-2390-D223-443FDA19E83F}">
          <p14:sldIdLst>
            <p14:sldId id="263"/>
            <p14:sldId id="264"/>
            <p14:sldId id="265"/>
            <p14:sldId id="266"/>
            <p14:sldId id="267"/>
            <p14:sldId id="268"/>
            <p14:sldId id="269"/>
            <p14:sldId id="270"/>
            <p14:sldId id="271"/>
          </p14:sldIdLst>
        </p14:section>
        <p14:section name="Sa vraie utilité" id="{C5F9AC34-A367-4121-9233-F10B678A4312}">
          <p14:sldIdLst>
            <p14:sldId id="272"/>
            <p14:sldId id="273"/>
          </p14:sldIdLst>
        </p14:section>
        <p14:section name="Le projet" id="{9A291226-1A38-C938-5640-733FACF4FCAA}">
          <p14:sldIdLst>
            <p14:sldId id="274"/>
            <p14:sldId id="275"/>
            <p14:sldId id="276"/>
            <p14:sldId id="277"/>
          </p14:sldIdLst>
        </p14:section>
        <p14:section name="La suite" id="{52CE82A5-7DD2-45AF-5CC8-0A11B230BF74}">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93338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FFD0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3143250"/>
            <a:ext cx="7620000" cy="825500"/>
          </a:xfrm>
          <a:prstGeom prst="rect">
            <a:avLst/>
          </a:prstGeom>
          <a:noFill/>
          <a:ln/>
        </p:spPr>
        <p:txBody>
          <a:bodyPr wrap="square" rtlCol="0"/>
          <a:lstStyle>
            <a:lvl1pPr marL="0" indent="0" algn="l">
              <a:lnSpc>
                <a:spcPct val="102000"/>
              </a:lnSpc>
              <a:buNone/>
              <a:defRPr lang="en-US" sz="5000" b="1" dirty="0">
                <a:solidFill>
                  <a:srgbClr val="1A1906"/>
                </a:solidFill>
              </a:defRPr>
            </a:lvl1pPr>
          </a:lstStyle>
          <a:p>
            <a:pPr marL="0" indent="0" algn="l">
              <a:lnSpc>
                <a:spcPct val="102000"/>
              </a:lnSpc>
              <a:buNone/>
            </a:pPr>
            <a:r>
              <a:rPr lang="en-US" sz="5000" b="1" dirty="0">
                <a:solidFill>
                  <a:srgbClr val="1A1906"/>
                </a:solidFill>
              </a:rPr>
              <a:t>Titre</a:t>
            </a:r>
            <a:endParaRPr lang="en-US" sz="5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RCI">
    <p:bg>
      <p:bgPr>
        <a:solidFill>
          <a:srgbClr val="FFD0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425700"/>
            <a:ext cx="10566400" cy="825500"/>
          </a:xfrm>
          <a:prstGeom prst="rect">
            <a:avLst/>
          </a:prstGeom>
          <a:noFill/>
          <a:ln/>
        </p:spPr>
        <p:txBody>
          <a:bodyPr wrap="square" rtlCol="0"/>
          <a:lstStyle>
            <a:lvl1pPr marL="0" indent="0" algn="l">
              <a:lnSpc>
                <a:spcPct val="102000"/>
              </a:lnSpc>
              <a:buNone/>
              <a:defRPr lang="en-US" sz="6000" b="1" dirty="0">
                <a:solidFill>
                  <a:srgbClr val="1A1906"/>
                </a:solidFill>
              </a:defRPr>
            </a:lvl1pPr>
          </a:lstStyle>
          <a:p>
            <a:pPr marL="0" indent="0" algn="l">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ENE">
    <p:bg>
      <p:bgPr>
        <a:solidFill>
          <a:srgbClr val="121417"/>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101850"/>
            <a:ext cx="9525000" cy="1587500"/>
          </a:xfrm>
          <a:prstGeom prst="rect">
            <a:avLst/>
          </a:prstGeom>
          <a:noFill/>
          <a:ln/>
        </p:spPr>
        <p:txBody>
          <a:bodyPr wrap="square" rtlCol="0"/>
          <a:lstStyle>
            <a:lvl1pPr marL="0" indent="0" algn="l">
              <a:lnSpc>
                <a:spcPct val="102000"/>
              </a:lnSpc>
              <a:buNone/>
              <a:defRPr lang="en-US" sz="3600" b="1" dirty="0">
                <a:solidFill>
                  <a:srgbClr val="F1F2F3"/>
                </a:solidFill>
              </a:defRPr>
            </a:lvl1pPr>
          </a:lstStyle>
          <a:p>
            <a:pPr marL="0" indent="0" algn="l">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7D848B"/>
                </a:solidFill>
              </a:defRPr>
            </a:lvl1pPr>
          </a:lstStyle>
          <a:p>
            <a:pPr algn="l"/>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DEE">
    <p:bg>
      <p:bgPr>
        <a:solidFill>
          <a:srgbClr val="F1F2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797050"/>
            <a:ext cx="6350000" cy="104775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PIER">
    <p:bg>
      <p:bgPr>
        <a:solidFill>
          <a:srgbClr val="FBFBF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PIER_PARTENAIRE">
    <p:bg>
      <p:bgPr>
        <a:solidFill>
          <a:srgbClr val="FBFBF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AIR">
    <p:bg>
      <p:bgPr>
        <a:solidFill>
          <a:srgbClr val="F1F2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AIR_PARTENAIRE">
    <p:bg>
      <p:bgPr>
        <a:solidFill>
          <a:srgbClr val="F1F2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OMBRE">
    <p:bg>
      <p:bgPr>
        <a:solidFill>
          <a:srgbClr val="121417"/>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rtlCol="0"/>
          <a:lstStyle>
            <a:lvl1pPr marL="0" indent="0" algn="l">
              <a:lnSpc>
                <a:spcPct val="102000"/>
              </a:lnSpc>
              <a:buNone/>
              <a:defRPr lang="en-US" sz="3600" b="1" dirty="0">
                <a:solidFill>
                  <a:srgbClr val="F1F2F3"/>
                </a:solidFill>
              </a:defRPr>
            </a:lvl1pPr>
          </a:lstStyle>
          <a:p>
            <a:pPr marL="0" indent="0" algn="l">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A9198"/>
                </a:solidFill>
              </a:defRPr>
            </a:lvl1pPr>
          </a:lstStyle>
          <a:p>
            <a:pPr algn="l"/>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7D848B"/>
                </a:solidFill>
              </a:defRPr>
            </a:lvl1pPr>
          </a:lstStyle>
          <a:p>
            <a:pPr algn="l"/>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6.svg"/><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4.xml"/><Relationship Id="rId1" Type="http://schemas.openxmlformats.org/officeDocument/2006/relationships/slideLayout" Target="../slideLayouts/slideLayout6.xml"/><Relationship Id="rId5" Type="http://schemas.openxmlformats.org/officeDocument/2006/relationships/image" Target="../media/image8.svg"/><Relationship Id="rId4" Type="http://schemas.openxmlformats.org/officeDocument/2006/relationships/image" Target="../media/image7.svg"/></Relationships>
</file>

<file path=ppt/slides/_rels/slide5.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8.xml"/><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3143250"/>
            <a:ext cx="7620000" cy="825500"/>
          </a:xfrm>
          <a:prstGeom prst="rect">
            <a:avLst/>
          </a:prstGeom>
          <a:noFill/>
          <a:ln/>
        </p:spPr>
        <p:txBody>
          <a:bodyPr wrap="square" lIns="0" tIns="0" rIns="0" bIns="0" rtlCol="0" anchor="t"/>
          <a:lstStyle/>
          <a:p>
            <a:pPr marL="0" indent="0" algn="l">
              <a:lnSpc>
                <a:spcPct val="102000"/>
              </a:lnSpc>
              <a:buNone/>
            </a:pPr>
            <a:r>
              <a:rPr lang="en-US" sz="5000" b="1" dirty="0">
                <a:solidFill>
                  <a:srgbClr val="1A1906"/>
                </a:solidFill>
              </a:rPr>
              <a:t>Saguenay Aujourd’hui</a:t>
            </a:r>
            <a:endParaRPr lang="en-US" sz="5000" dirty="0"/>
          </a:p>
        </p:txBody>
      </p:sp>
      <p:pic>
        <p:nvPicPr>
          <p:cNvPr id="3" name="Image 0" descr="Logo de Saguenay Aujourd’hui"/>
          <p:cNvPicPr>
            <a:picLocks noChangeAspect="1"/>
          </p:cNvPicPr>
          <p:nvPr/>
        </p:nvPicPr>
        <p:blipFill>
          <a:blip r:embed="rId3"/>
          <a:stretch>
            <a:fillRect/>
          </a:stretch>
        </p:blipFill>
        <p:spPr>
          <a:xfrm>
            <a:off x="812800" y="2025650"/>
            <a:ext cx="889000" cy="889000"/>
          </a:xfrm>
          <a:prstGeom prst="rect">
            <a:avLst/>
          </a:prstGeom>
        </p:spPr>
      </p:pic>
      <p:sp>
        <p:nvSpPr>
          <p:cNvPr id="4" name="Text 1"/>
          <p:cNvSpPr txBox="1"/>
          <p:nvPr/>
        </p:nvSpPr>
        <p:spPr>
          <a:xfrm>
            <a:off x="812800" y="4133850"/>
            <a:ext cx="7112000" cy="762000"/>
          </a:xfrm>
          <a:prstGeom prst="rect">
            <a:avLst/>
          </a:prstGeom>
          <a:noFill/>
          <a:ln/>
        </p:spPr>
        <p:txBody>
          <a:bodyPr wrap="square" lIns="0" tIns="0" rIns="0" bIns="0" rtlCol="0" anchor="t"/>
          <a:lstStyle/>
          <a:p>
            <a:pPr marL="0" indent="0" algn="l">
              <a:lnSpc>
                <a:spcPct val="120000"/>
              </a:lnSpc>
              <a:buNone/>
            </a:pPr>
            <a:r>
              <a:rPr lang="en-US" sz="2200" dirty="0">
                <a:solidFill>
                  <a:srgbClr val="1A1906"/>
                </a:solidFill>
              </a:rPr>
              <a:t>Tout ce qui touche ton adresse, au même endroit. C’est l’information qui vient à toi.</a:t>
            </a:r>
            <a:endParaRPr lang="en-US" sz="2200" dirty="0"/>
          </a:p>
        </p:txBody>
      </p:sp>
      <p:sp>
        <p:nvSpPr>
          <p:cNvPr id="5" name="Text 2"/>
          <p:cNvSpPr txBox="1"/>
          <p:nvPr/>
        </p:nvSpPr>
        <p:spPr>
          <a:xfrm>
            <a:off x="812800" y="6286500"/>
            <a:ext cx="7620000" cy="215900"/>
          </a:xfrm>
          <a:prstGeom prst="rect">
            <a:avLst/>
          </a:prstGeom>
          <a:noFill/>
          <a:ln/>
        </p:spPr>
        <p:txBody>
          <a:bodyPr wrap="square" lIns="0" tIns="0" rIns="0" bIns="0" rtlCol="0" anchor="t"/>
          <a:lstStyle/>
          <a:p>
            <a:pPr marL="0" indent="0" algn="l">
              <a:lnSpc>
                <a:spcPct val="120000"/>
              </a:lnSpc>
              <a:buNone/>
            </a:pPr>
            <a:r>
              <a:rPr lang="en-US" sz="1200" dirty="0">
                <a:solidFill>
                  <a:srgbClr val="1A1906"/>
                </a:solidFill>
              </a:rPr>
              <a:t>Florent Akpa · Présenté à la Ville de Saguenay · automne 2026</a:t>
            </a:r>
            <a:endParaRPr lang="en-US" sz="1200" dirty="0"/>
          </a:p>
        </p:txBody>
      </p:sp>
      <p:sp>
        <p:nvSpPr>
          <p:cNvPr id="6" name="cadre p_accueil"/>
          <p:cNvSpPr/>
          <p:nvPr/>
        </p:nvSpPr>
        <p:spPr>
          <a:xfrm>
            <a:off x="8636000" y="381000"/>
            <a:ext cx="2813050" cy="6096000"/>
          </a:xfrm>
          <a:prstGeom prst="roundRect">
            <a:avLst>
              <a:gd name="adj" fmla="val 7675"/>
            </a:avLst>
          </a:prstGeom>
          <a:solidFill>
            <a:srgbClr val="121417"/>
          </a:solidFill>
          <a:ln/>
        </p:spPr>
        <p:txBody>
          <a:bodyPr/>
          <a:lstStyle/>
          <a:p>
            <a:endParaRPr lang="fr-CA"/>
          </a:p>
        </p:txBody>
      </p:sp>
      <p:pic>
        <p:nvPicPr>
          <p:cNvPr id="7" name="Image 1" descr="Capture de l’app : p_accueil"/>
          <p:cNvPicPr>
            <a:picLocks noChangeAspect="1"/>
          </p:cNvPicPr>
          <p:nvPr/>
        </p:nvPicPr>
        <p:blipFill>
          <a:blip r:embed="rId4"/>
          <a:stretch>
            <a:fillRect/>
          </a:stretch>
        </p:blipFill>
        <p:spPr>
          <a:xfrm>
            <a:off x="8699500" y="444500"/>
            <a:ext cx="2686050" cy="5969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L’essentiel en 30 secondes</a:t>
            </a:r>
            <a:endParaRPr lang="en-US" sz="3600" dirty="0"/>
          </a:p>
        </p:txBody>
      </p:sp>
      <p:sp>
        <p:nvSpPr>
          <p:cNvPr id="3" name="LE PROBLÈME"/>
          <p:cNvSpPr/>
          <p:nvPr/>
        </p:nvSpPr>
        <p:spPr>
          <a:xfrm>
            <a:off x="812800" y="1587500"/>
            <a:ext cx="7175500" cy="1270000"/>
          </a:xfrm>
          <a:prstGeom prst="roundRect">
            <a:avLst>
              <a:gd name="adj" fmla="val 14000"/>
            </a:avLst>
          </a:prstGeom>
          <a:solidFill>
            <a:srgbClr val="F1F2EF"/>
          </a:solidFill>
          <a:ln/>
        </p:spPr>
        <p:txBody>
          <a:bodyPr/>
          <a:lstStyle/>
          <a:p>
            <a:endParaRPr lang="fr-CA"/>
          </a:p>
        </p:txBody>
      </p:sp>
      <p:sp>
        <p:nvSpPr>
          <p:cNvPr id="4" name="Text 2"/>
          <p:cNvSpPr txBox="1"/>
          <p:nvPr/>
        </p:nvSpPr>
        <p:spPr>
          <a:xfrm>
            <a:off x="1041400" y="1739900"/>
            <a:ext cx="6731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C93630"/>
                </a:solidFill>
              </a:rPr>
              <a:t>LE PROBLÈME</a:t>
            </a:r>
            <a:endParaRPr lang="en-US" sz="1200" dirty="0"/>
          </a:p>
        </p:txBody>
      </p:sp>
      <p:sp>
        <p:nvSpPr>
          <p:cNvPr id="5" name="Text 3"/>
          <p:cNvSpPr txBox="1"/>
          <p:nvPr/>
        </p:nvSpPr>
        <p:spPr>
          <a:xfrm>
            <a:off x="1041400" y="1981200"/>
            <a:ext cx="6731000" cy="800100"/>
          </a:xfrm>
          <a:prstGeom prst="rect">
            <a:avLst/>
          </a:prstGeom>
          <a:noFill/>
          <a:ln/>
        </p:spPr>
        <p:txBody>
          <a:bodyPr wrap="square" lIns="0" tIns="0" rIns="0" bIns="0" rtlCol="0" anchor="t"/>
          <a:lstStyle/>
          <a:p>
            <a:pPr marL="0" indent="0" algn="l">
              <a:lnSpc>
                <a:spcPct val="126000"/>
              </a:lnSpc>
              <a:buNone/>
            </a:pPr>
            <a:r>
              <a:rPr lang="en-US" sz="1600" dirty="0">
                <a:solidFill>
                  <a:srgbClr val="121417"/>
                </a:solidFill>
              </a:rPr>
              <a:t>À Saguenay, savoir ce qui te touche aujourd’hui oblige à fouiller une douzaine de sites. Et le jour où tu n’y passes pas, tu manques l’avis.</a:t>
            </a:r>
            <a:endParaRPr lang="en-US" sz="1600" dirty="0"/>
          </a:p>
        </p:txBody>
      </p:sp>
      <p:sp>
        <p:nvSpPr>
          <p:cNvPr id="6" name="LA SOLUTION"/>
          <p:cNvSpPr/>
          <p:nvPr/>
        </p:nvSpPr>
        <p:spPr>
          <a:xfrm>
            <a:off x="812800" y="2984500"/>
            <a:ext cx="7175500" cy="1079500"/>
          </a:xfrm>
          <a:prstGeom prst="roundRect">
            <a:avLst>
              <a:gd name="adj" fmla="val 16471"/>
            </a:avLst>
          </a:prstGeom>
          <a:solidFill>
            <a:srgbClr val="F1F2EF"/>
          </a:solidFill>
          <a:ln/>
        </p:spPr>
        <p:txBody>
          <a:bodyPr/>
          <a:lstStyle/>
          <a:p>
            <a:endParaRPr lang="fr-CA"/>
          </a:p>
        </p:txBody>
      </p:sp>
      <p:sp>
        <p:nvSpPr>
          <p:cNvPr id="7" name="Text 5"/>
          <p:cNvSpPr txBox="1"/>
          <p:nvPr/>
        </p:nvSpPr>
        <p:spPr>
          <a:xfrm>
            <a:off x="1041400" y="3136900"/>
            <a:ext cx="6731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57A4A"/>
                </a:solidFill>
              </a:rPr>
              <a:t>LA SOLUTION</a:t>
            </a:r>
            <a:endParaRPr lang="en-US" sz="1200" dirty="0"/>
          </a:p>
        </p:txBody>
      </p:sp>
      <p:sp>
        <p:nvSpPr>
          <p:cNvPr id="8" name="Text 6"/>
          <p:cNvSpPr txBox="1"/>
          <p:nvPr/>
        </p:nvSpPr>
        <p:spPr>
          <a:xfrm>
            <a:off x="1041400" y="3378200"/>
            <a:ext cx="6731000" cy="609600"/>
          </a:xfrm>
          <a:prstGeom prst="rect">
            <a:avLst/>
          </a:prstGeom>
          <a:noFill/>
          <a:ln/>
        </p:spPr>
        <p:txBody>
          <a:bodyPr wrap="square" lIns="0" tIns="0" rIns="0" bIns="0" rtlCol="0" anchor="t"/>
          <a:lstStyle/>
          <a:p>
            <a:pPr marL="0" indent="0" algn="l">
              <a:lnSpc>
                <a:spcPct val="126000"/>
              </a:lnSpc>
              <a:buNone/>
            </a:pPr>
            <a:r>
              <a:rPr lang="en-US" sz="1600" dirty="0">
                <a:solidFill>
                  <a:srgbClr val="121417"/>
                </a:solidFill>
              </a:rPr>
              <a:t>Une app gratuite et un widget : tout ce qui concerne ton adresse, au même endroit, trié par importance.</a:t>
            </a:r>
            <a:endParaRPr lang="en-US" sz="1600" dirty="0"/>
          </a:p>
        </p:txBody>
      </p:sp>
      <p:sp>
        <p:nvSpPr>
          <p:cNvPr id="9" name="CE QUI CHANGE"/>
          <p:cNvSpPr/>
          <p:nvPr/>
        </p:nvSpPr>
        <p:spPr>
          <a:xfrm>
            <a:off x="812800" y="4191000"/>
            <a:ext cx="7175500" cy="1079500"/>
          </a:xfrm>
          <a:prstGeom prst="roundRect">
            <a:avLst>
              <a:gd name="adj" fmla="val 16471"/>
            </a:avLst>
          </a:prstGeom>
          <a:solidFill>
            <a:srgbClr val="F1F2EF"/>
          </a:solidFill>
          <a:ln/>
        </p:spPr>
        <p:txBody>
          <a:bodyPr/>
          <a:lstStyle/>
          <a:p>
            <a:endParaRPr lang="fr-CA"/>
          </a:p>
        </p:txBody>
      </p:sp>
      <p:sp>
        <p:nvSpPr>
          <p:cNvPr id="10" name="Text 8"/>
          <p:cNvSpPr txBox="1"/>
          <p:nvPr/>
        </p:nvSpPr>
        <p:spPr>
          <a:xfrm>
            <a:off x="1041400" y="4343400"/>
            <a:ext cx="6731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2F6BEB"/>
                </a:solidFill>
              </a:rPr>
              <a:t>CE QUI CHANGE</a:t>
            </a:r>
            <a:endParaRPr lang="en-US" sz="1200" dirty="0"/>
          </a:p>
        </p:txBody>
      </p:sp>
      <p:sp>
        <p:nvSpPr>
          <p:cNvPr id="11" name="Text 9"/>
          <p:cNvSpPr txBox="1"/>
          <p:nvPr/>
        </p:nvSpPr>
        <p:spPr>
          <a:xfrm>
            <a:off x="1041400" y="4584700"/>
            <a:ext cx="6731000" cy="609600"/>
          </a:xfrm>
          <a:prstGeom prst="rect">
            <a:avLst/>
          </a:prstGeom>
          <a:noFill/>
          <a:ln/>
        </p:spPr>
        <p:txBody>
          <a:bodyPr wrap="square" lIns="0" tIns="0" rIns="0" bIns="0" rtlCol="0" anchor="t"/>
          <a:lstStyle/>
          <a:p>
            <a:pPr marL="0" indent="0" algn="l">
              <a:lnSpc>
                <a:spcPct val="126000"/>
              </a:lnSpc>
              <a:buNone/>
            </a:pPr>
            <a:r>
              <a:rPr lang="en-US" sz="1600" dirty="0">
                <a:solidFill>
                  <a:srgbClr val="121417"/>
                </a:solidFill>
              </a:rPr>
              <a:t>Tu n’as plus à chercher. L’app te dit quoi faire et quand, même fermée.</a:t>
            </a:r>
            <a:endParaRPr lang="en-US" sz="1600" dirty="0"/>
          </a:p>
        </p:txBody>
      </p:sp>
      <p:sp>
        <p:nvSpPr>
          <p:cNvPr id="12" name="Gratuit"/>
          <p:cNvSpPr/>
          <p:nvPr/>
        </p:nvSpPr>
        <p:spPr>
          <a:xfrm>
            <a:off x="812800" y="5588000"/>
            <a:ext cx="839470" cy="355600"/>
          </a:xfrm>
          <a:prstGeom prst="roundRect">
            <a:avLst>
              <a:gd name="adj" fmla="val 50000"/>
            </a:avLst>
          </a:prstGeom>
          <a:solidFill>
            <a:srgbClr val="FFD02B"/>
          </a:solidFill>
          <a:ln/>
        </p:spPr>
        <p:txBody>
          <a:bodyPr/>
          <a:lstStyle/>
          <a:p>
            <a:endParaRPr lang="fr-CA"/>
          </a:p>
        </p:txBody>
      </p:sp>
      <p:sp>
        <p:nvSpPr>
          <p:cNvPr id="13" name="Text 11"/>
          <p:cNvSpPr txBox="1"/>
          <p:nvPr/>
        </p:nvSpPr>
        <p:spPr>
          <a:xfrm>
            <a:off x="812800" y="5588000"/>
            <a:ext cx="83947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Gratuit</a:t>
            </a:r>
            <a:endParaRPr lang="en-US" sz="1200" dirty="0"/>
          </a:p>
        </p:txBody>
      </p:sp>
      <p:sp>
        <p:nvSpPr>
          <p:cNvPr id="14" name="Sans pub"/>
          <p:cNvSpPr/>
          <p:nvPr/>
        </p:nvSpPr>
        <p:spPr>
          <a:xfrm>
            <a:off x="1728470" y="5588000"/>
            <a:ext cx="919480" cy="355600"/>
          </a:xfrm>
          <a:prstGeom prst="roundRect">
            <a:avLst>
              <a:gd name="adj" fmla="val 50000"/>
            </a:avLst>
          </a:prstGeom>
          <a:solidFill>
            <a:srgbClr val="FFD02B"/>
          </a:solidFill>
          <a:ln/>
        </p:spPr>
        <p:txBody>
          <a:bodyPr/>
          <a:lstStyle/>
          <a:p>
            <a:endParaRPr lang="fr-CA"/>
          </a:p>
        </p:txBody>
      </p:sp>
      <p:sp>
        <p:nvSpPr>
          <p:cNvPr id="15" name="Text 13"/>
          <p:cNvSpPr txBox="1"/>
          <p:nvPr/>
        </p:nvSpPr>
        <p:spPr>
          <a:xfrm>
            <a:off x="1728470" y="5588000"/>
            <a:ext cx="91948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Sans pub</a:t>
            </a:r>
            <a:endParaRPr lang="en-US" sz="1200" dirty="0"/>
          </a:p>
        </p:txBody>
      </p:sp>
      <p:sp>
        <p:nvSpPr>
          <p:cNvPr id="16" name="Sans compte"/>
          <p:cNvSpPr/>
          <p:nvPr/>
        </p:nvSpPr>
        <p:spPr>
          <a:xfrm>
            <a:off x="2724150" y="5588000"/>
            <a:ext cx="1159510" cy="355600"/>
          </a:xfrm>
          <a:prstGeom prst="roundRect">
            <a:avLst>
              <a:gd name="adj" fmla="val 50000"/>
            </a:avLst>
          </a:prstGeom>
          <a:solidFill>
            <a:srgbClr val="FFD02B"/>
          </a:solidFill>
          <a:ln/>
        </p:spPr>
        <p:txBody>
          <a:bodyPr/>
          <a:lstStyle/>
          <a:p>
            <a:endParaRPr lang="fr-CA"/>
          </a:p>
        </p:txBody>
      </p:sp>
      <p:sp>
        <p:nvSpPr>
          <p:cNvPr id="17" name="Text 15"/>
          <p:cNvSpPr txBox="1"/>
          <p:nvPr/>
        </p:nvSpPr>
        <p:spPr>
          <a:xfrm>
            <a:off x="2724150" y="5588000"/>
            <a:ext cx="115951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Sans compte</a:t>
            </a:r>
            <a:endParaRPr lang="en-US" sz="1200" dirty="0"/>
          </a:p>
        </p:txBody>
      </p:sp>
      <p:sp>
        <p:nvSpPr>
          <p:cNvPr id="18" name="L’adresse reste sur le téléphone"/>
          <p:cNvSpPr/>
          <p:nvPr/>
        </p:nvSpPr>
        <p:spPr>
          <a:xfrm>
            <a:off x="3959860" y="5588000"/>
            <a:ext cx="2839720" cy="355600"/>
          </a:xfrm>
          <a:prstGeom prst="roundRect">
            <a:avLst>
              <a:gd name="adj" fmla="val 50000"/>
            </a:avLst>
          </a:prstGeom>
          <a:solidFill>
            <a:srgbClr val="FFD02B"/>
          </a:solidFill>
          <a:ln/>
        </p:spPr>
        <p:txBody>
          <a:bodyPr/>
          <a:lstStyle/>
          <a:p>
            <a:endParaRPr lang="fr-CA"/>
          </a:p>
        </p:txBody>
      </p:sp>
      <p:sp>
        <p:nvSpPr>
          <p:cNvPr id="19" name="Text 17"/>
          <p:cNvSpPr txBox="1"/>
          <p:nvPr/>
        </p:nvSpPr>
        <p:spPr>
          <a:xfrm>
            <a:off x="3959860" y="5588000"/>
            <a:ext cx="283972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L’adresse reste sur le téléphone</a:t>
            </a:r>
            <a:endParaRPr lang="en-US" sz="1200" dirty="0"/>
          </a:p>
        </p:txBody>
      </p:sp>
      <p:sp>
        <p:nvSpPr>
          <p:cNvPr id="20" name="Marche sans réseau"/>
          <p:cNvSpPr/>
          <p:nvPr/>
        </p:nvSpPr>
        <p:spPr>
          <a:xfrm>
            <a:off x="6875780" y="5588000"/>
            <a:ext cx="1719580" cy="355600"/>
          </a:xfrm>
          <a:prstGeom prst="roundRect">
            <a:avLst>
              <a:gd name="adj" fmla="val 50000"/>
            </a:avLst>
          </a:prstGeom>
          <a:solidFill>
            <a:srgbClr val="FFD02B"/>
          </a:solidFill>
          <a:ln/>
        </p:spPr>
        <p:txBody>
          <a:bodyPr/>
          <a:lstStyle/>
          <a:p>
            <a:endParaRPr lang="fr-CA"/>
          </a:p>
        </p:txBody>
      </p:sp>
      <p:sp>
        <p:nvSpPr>
          <p:cNvPr id="21" name="Text 19"/>
          <p:cNvSpPr txBox="1"/>
          <p:nvPr/>
        </p:nvSpPr>
        <p:spPr>
          <a:xfrm>
            <a:off x="6875780" y="5588000"/>
            <a:ext cx="171958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Marche sans réseau</a:t>
            </a:r>
            <a:endParaRPr lang="en-US" sz="1200" dirty="0"/>
          </a:p>
        </p:txBody>
      </p:sp>
      <p:sp>
        <p:nvSpPr>
          <p:cNvPr id="22" name="cadre p_widget"/>
          <p:cNvSpPr/>
          <p:nvPr/>
        </p:nvSpPr>
        <p:spPr>
          <a:xfrm>
            <a:off x="8915400" y="647700"/>
            <a:ext cx="2413000" cy="5207000"/>
          </a:xfrm>
          <a:prstGeom prst="roundRect">
            <a:avLst>
              <a:gd name="adj" fmla="val 8947"/>
            </a:avLst>
          </a:prstGeom>
          <a:solidFill>
            <a:srgbClr val="121417"/>
          </a:solidFill>
          <a:ln/>
        </p:spPr>
        <p:txBody>
          <a:bodyPr/>
          <a:lstStyle/>
          <a:p>
            <a:endParaRPr lang="fr-CA"/>
          </a:p>
        </p:txBody>
      </p:sp>
      <p:pic>
        <p:nvPicPr>
          <p:cNvPr id="23" name="Image 0" descr="Capture de l’app : p_widget"/>
          <p:cNvPicPr>
            <a:picLocks noChangeAspect="1"/>
          </p:cNvPicPr>
          <p:nvPr/>
        </p:nvPicPr>
        <p:blipFill>
          <a:blip r:embed="rId3"/>
          <a:stretch>
            <a:fillRect/>
          </a:stretch>
        </p:blipFill>
        <p:spPr>
          <a:xfrm>
            <a:off x="8978900" y="711200"/>
            <a:ext cx="2286000" cy="5080000"/>
          </a:xfrm>
          <a:prstGeom prst="rect">
            <a:avLst/>
          </a:prstGeom>
        </p:spPr>
      </p:pic>
      <p:sp>
        <p:nvSpPr>
          <p:cNvPr id="24" name="Text 21"/>
          <p:cNvSpPr txBox="1"/>
          <p:nvPr/>
        </p:nvSpPr>
        <p:spPr>
          <a:xfrm>
            <a:off x="8636000" y="5905500"/>
            <a:ext cx="2743200" cy="215900"/>
          </a:xfrm>
          <a:prstGeom prst="rect">
            <a:avLst/>
          </a:prstGeom>
          <a:noFill/>
          <a:ln/>
        </p:spPr>
        <p:txBody>
          <a:bodyPr wrap="square" lIns="0" tIns="0" rIns="0" bIns="0" rtlCol="0" anchor="t"/>
          <a:lstStyle/>
          <a:p>
            <a:pPr marL="0" indent="0" algn="ctr">
              <a:lnSpc>
                <a:spcPct val="120000"/>
              </a:lnSpc>
              <a:buNone/>
            </a:pPr>
            <a:r>
              <a:rPr lang="en-US" sz="1200" b="1" dirty="0">
                <a:solidFill>
                  <a:srgbClr val="121417"/>
                </a:solidFill>
              </a:rPr>
              <a:t>Le widget, sur l’écran d’accueil</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Imagine : une maison pour chaque geste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La douche ici, la cuisine là-bas, le lit plus loin : personne ne vivrait comme ça.</a:t>
            </a:r>
            <a:endParaRPr lang="en-US" sz="1600" dirty="0"/>
          </a:p>
        </p:txBody>
      </p:sp>
      <p:sp>
        <p:nvSpPr>
          <p:cNvPr id="4" name="Text 2"/>
          <p:cNvSpPr txBox="1"/>
          <p:nvPr/>
        </p:nvSpPr>
        <p:spPr>
          <a:xfrm>
            <a:off x="812800" y="55499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Chaque geste devient un déplacement, et un jour on oublie d’y passer.</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3</a:t>
            </a:fld>
            <a:endParaRPr lang="en-US"/>
          </a:p>
        </p:txBody>
      </p:sp>
      <p:pic>
        <p:nvPicPr>
          <p:cNvPr id="6" name="m_base">
            <a:extLst>
              <a:ext uri="{FF2B5EF4-FFF2-40B4-BE49-F238E27FC236}">
                <a16:creationId xmlns:a16="http://schemas.microsoft.com/office/drawing/2014/main" id="{92D649B8-13DA-2E03-CCDE-AD2D3646AE85}"/>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12800" y="1841500"/>
            <a:ext cx="9245600" cy="3556000"/>
          </a:xfrm>
          <a:prstGeom prst="rect">
            <a:avLst/>
          </a:prstGeom>
        </p:spPr>
      </p:pic>
      <p:pic>
        <p:nvPicPr>
          <p:cNvPr id="8" name="m_gestes">
            <a:extLst>
              <a:ext uri="{FF2B5EF4-FFF2-40B4-BE49-F238E27FC236}">
                <a16:creationId xmlns:a16="http://schemas.microsoft.com/office/drawing/2014/main" id="{935CA041-6958-3D05-8837-A4A22AEA305E}"/>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12800" y="1841500"/>
            <a:ext cx="9245600" cy="3556000"/>
          </a:xfrm>
          <a:prstGeom prst="rect">
            <a:avLst/>
          </a:prstGeom>
        </p:spPr>
      </p:pic>
      <p:pic>
        <p:nvPicPr>
          <p:cNvPr id="10" name="m_personne">
            <a:extLst>
              <a:ext uri="{FF2B5EF4-FFF2-40B4-BE49-F238E27FC236}">
                <a16:creationId xmlns:a16="http://schemas.microsoft.com/office/drawing/2014/main" id="{90003276-354F-E155-6219-739CAFD3462B}"/>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812800" y="1841500"/>
            <a:ext cx="92456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4" presetClass="path" presetSubtype="0" accel="50000" decel="50000" fill="hold" nodeType="afterEffect">
                                  <p:stCondLst>
                                    <p:cond delay="600"/>
                                  </p:stCondLst>
                                  <p:childTnLst>
                                    <p:animMotion origin="layout" path="M 0 0 C 0.0473 0.0156 0.0610 -0.1788 0.1408 -0.2183 C 0.1567 -0.0897 0.2023 0.0318 0.2770 -0.0216 C 0.3344 -0.0654 0.3344 -0.2274 0.3944 -0.2557 C 0.4256 -0.1464 0.4483 -0.0087 0.5175 -0.0546 C 0.5760 -0.0897 0.5668 -0.2274 0.6098 -0.2591 E" pathEditMode="relative" ptsTypes="">
                                      <p:cBhvr>
                                        <p:cTn id="6" dur="7000" fill="hold"/>
                                        <p:tgtEl>
                                          <p:spTgt spid="1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C’est pourtant comme ça qu’on s’informe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Une adresse par besoin. Et le jour où on n’y passe pas, on manque l’avis.</a:t>
            </a:r>
            <a:endParaRPr lang="en-US" sz="1600" dirty="0"/>
          </a:p>
        </p:txBody>
      </p:sp>
      <p:sp>
        <p:nvSpPr>
          <p:cNvPr id="4" name="Text 2"/>
          <p:cNvSpPr txBox="1"/>
          <p:nvPr/>
        </p:nvSpPr>
        <p:spPr>
          <a:xfrm>
            <a:off x="812800" y="55499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Lors d’un relevé d’octobre 2026, 31 % des résidences visées par les avis d’eau n’avaient pas été jointes par l’appel automatisé.</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4</a:t>
            </a:fld>
            <a:endParaRPr lang="en-US"/>
          </a:p>
        </p:txBody>
      </p:sp>
      <p:pic>
        <p:nvPicPr>
          <p:cNvPr id="6" name="m_base">
            <a:extLst>
              <a:ext uri="{FF2B5EF4-FFF2-40B4-BE49-F238E27FC236}">
                <a16:creationId xmlns:a16="http://schemas.microsoft.com/office/drawing/2014/main" id="{81BD8DBB-0A5D-A8CA-3930-D2944D3124BC}"/>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12800" y="1841500"/>
            <a:ext cx="9245600" cy="3556000"/>
          </a:xfrm>
          <a:prstGeom prst="rect">
            <a:avLst/>
          </a:prstGeom>
        </p:spPr>
      </p:pic>
      <p:pic>
        <p:nvPicPr>
          <p:cNvPr id="8" name="m_sources">
            <a:extLst>
              <a:ext uri="{FF2B5EF4-FFF2-40B4-BE49-F238E27FC236}">
                <a16:creationId xmlns:a16="http://schemas.microsoft.com/office/drawing/2014/main" id="{DC0494BA-3432-A778-F2FD-6905C4E90ABE}"/>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12800" y="1841500"/>
            <a:ext cx="9245600" cy="3556000"/>
          </a:xfrm>
          <a:prstGeom prst="rect">
            <a:avLst/>
          </a:prstGeom>
        </p:spPr>
      </p:pic>
      <p:pic>
        <p:nvPicPr>
          <p:cNvPr id="10" name="m_alerte">
            <a:extLst>
              <a:ext uri="{FF2B5EF4-FFF2-40B4-BE49-F238E27FC236}">
                <a16:creationId xmlns:a16="http://schemas.microsoft.com/office/drawing/2014/main" id="{EC69039F-9A39-643D-F424-510BBB63EA0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812800" y="1841500"/>
            <a:ext cx="92456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20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Avec l’app : une seule maison, qui te prévient</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Elle va chercher l’information à la source, pour ton adresse, et te fait signe au bon moment.</a:t>
            </a:r>
            <a:endParaRPr lang="en-US" sz="1600" dirty="0"/>
          </a:p>
        </p:txBody>
      </p:sp>
      <p:sp>
        <p:nvSpPr>
          <p:cNvPr id="4" name="Text 2"/>
          <p:cNvSpPr txBox="1"/>
          <p:nvPr/>
        </p:nvSpPr>
        <p:spPr>
          <a:xfrm>
            <a:off x="812800" y="55499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Rien à aller chercher : l’information vient à toi, même quand tu n’ouvres pas l’app.</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5</a:t>
            </a:fld>
            <a:endParaRPr lang="en-US"/>
          </a:p>
        </p:txBody>
      </p:sp>
      <p:pic>
        <p:nvPicPr>
          <p:cNvPr id="6" name="u_fond">
            <a:extLst>
              <a:ext uri="{FF2B5EF4-FFF2-40B4-BE49-F238E27FC236}">
                <a16:creationId xmlns:a16="http://schemas.microsoft.com/office/drawing/2014/main" id="{C2A9A439-5159-8A79-62C6-9A2068D8CCA2}"/>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12800" y="1841500"/>
            <a:ext cx="9245600" cy="3556000"/>
          </a:xfrm>
          <a:prstGeom prst="rect">
            <a:avLst/>
          </a:prstGeom>
        </p:spPr>
      </p:pic>
      <p:pic>
        <p:nvPicPr>
          <p:cNvPr id="8" name="u_flux">
            <a:extLst>
              <a:ext uri="{FF2B5EF4-FFF2-40B4-BE49-F238E27FC236}">
                <a16:creationId xmlns:a16="http://schemas.microsoft.com/office/drawing/2014/main" id="{0FB9B737-FBC5-11D7-5732-48CC31DAC775}"/>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12800" y="1841500"/>
            <a:ext cx="9245600" cy="3556000"/>
          </a:xfrm>
          <a:prstGeom prst="rect">
            <a:avLst/>
          </a:prstGeom>
        </p:spPr>
      </p:pic>
      <p:pic>
        <p:nvPicPr>
          <p:cNvPr id="10" name="u_sources">
            <a:extLst>
              <a:ext uri="{FF2B5EF4-FFF2-40B4-BE49-F238E27FC236}">
                <a16:creationId xmlns:a16="http://schemas.microsoft.com/office/drawing/2014/main" id="{42330500-A1BB-0299-081B-5247AA32D90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812800" y="1841500"/>
            <a:ext cx="9245600" cy="3556000"/>
          </a:xfrm>
          <a:prstGeom prst="rect">
            <a:avLst/>
          </a:prstGeom>
        </p:spPr>
      </p:pic>
      <p:pic>
        <p:nvPicPr>
          <p:cNvPr id="12" name="u_maison">
            <a:extLst>
              <a:ext uri="{FF2B5EF4-FFF2-40B4-BE49-F238E27FC236}">
                <a16:creationId xmlns:a16="http://schemas.microsoft.com/office/drawing/2014/main" id="{6D638D33-ABE2-BEA5-AC89-3217DDDC982C}"/>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812800" y="1841500"/>
            <a:ext cx="9245600" cy="3556000"/>
          </a:xfrm>
          <a:prstGeom prst="rect">
            <a:avLst/>
          </a:prstGeom>
        </p:spPr>
      </p:pic>
      <p:pic>
        <p:nvPicPr>
          <p:cNvPr id="14" name="u_personne">
            <a:extLst>
              <a:ext uri="{FF2B5EF4-FFF2-40B4-BE49-F238E27FC236}">
                <a16:creationId xmlns:a16="http://schemas.microsoft.com/office/drawing/2014/main" id="{E5486404-BBC0-4AFE-DF0C-11CAE74FF9B7}"/>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812800" y="1841500"/>
            <a:ext cx="9245600" cy="3556000"/>
          </a:xfrm>
          <a:prstGeom prst="rect">
            <a:avLst/>
          </a:prstGeom>
        </p:spPr>
      </p:pic>
      <p:pic>
        <p:nvPicPr>
          <p:cNvPr id="16" name="u_bulle0">
            <a:extLst>
              <a:ext uri="{FF2B5EF4-FFF2-40B4-BE49-F238E27FC236}">
                <a16:creationId xmlns:a16="http://schemas.microsoft.com/office/drawing/2014/main" id="{A36267B5-1663-7D04-78AE-9B804037CB49}"/>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812800" y="1841500"/>
            <a:ext cx="9245600" cy="3556000"/>
          </a:xfrm>
          <a:prstGeom prst="rect">
            <a:avLst/>
          </a:prstGeom>
        </p:spPr>
      </p:pic>
      <p:pic>
        <p:nvPicPr>
          <p:cNvPr id="18" name="u_bulle1">
            <a:extLst>
              <a:ext uri="{FF2B5EF4-FFF2-40B4-BE49-F238E27FC236}">
                <a16:creationId xmlns:a16="http://schemas.microsoft.com/office/drawing/2014/main" id="{99BA7136-5013-12F6-3406-9BBA97A7BA53}"/>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812800" y="1841500"/>
            <a:ext cx="9245600" cy="3556000"/>
          </a:xfrm>
          <a:prstGeom prst="rect">
            <a:avLst/>
          </a:prstGeom>
        </p:spPr>
      </p:pic>
      <p:pic>
        <p:nvPicPr>
          <p:cNvPr id="20" name="u_bulle2">
            <a:extLst>
              <a:ext uri="{FF2B5EF4-FFF2-40B4-BE49-F238E27FC236}">
                <a16:creationId xmlns:a16="http://schemas.microsoft.com/office/drawing/2014/main" id="{327F4134-8793-CFA5-A8C0-8A5D5C075FE2}"/>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812800" y="1841500"/>
            <a:ext cx="92456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0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par>
                          <p:cTn id="8" fill="hold">
                            <p:stCondLst>
                              <p:cond delay="900"/>
                            </p:stCondLst>
                            <p:childTnLst>
                              <p:par>
                                <p:cTn id="9" presetID="22" presetClass="entr" presetSubtype="8"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left)">
                                      <p:cBhvr>
                                        <p:cTn id="11" dur="1200"/>
                                        <p:tgtEl>
                                          <p:spTgt spid="8"/>
                                        </p:tgtEl>
                                      </p:cBhvr>
                                    </p:animEffect>
                                  </p:childTnLst>
                                </p:cTn>
                              </p:par>
                            </p:childTnLst>
                          </p:cTn>
                        </p:par>
                        <p:par>
                          <p:cTn id="12" fill="hold">
                            <p:stCondLst>
                              <p:cond delay="2100"/>
                            </p:stCondLst>
                            <p:childTnLst>
                              <p:par>
                                <p:cTn id="13" presetID="10" presetClass="entr" presetSubtype="0" fill="hold" nodeType="afterEffect">
                                  <p:stCondLst>
                                    <p:cond delay="50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childTnLst>
                          </p:cTn>
                        </p:par>
                        <p:par>
                          <p:cTn id="16" fill="hold">
                            <p:stCondLst>
                              <p:cond delay="3000"/>
                            </p:stCondLst>
                            <p:childTnLst>
                              <p:par>
                                <p:cTn id="17" presetID="10" presetClass="entr" presetSubtype="0" fill="hold" nodeType="afterEffect">
                                  <p:stCondLst>
                                    <p:cond delay="50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00"/>
                                        <p:tgtEl>
                                          <p:spTgt spid="18"/>
                                        </p:tgtEl>
                                      </p:cBhvr>
                                    </p:animEffect>
                                  </p:childTnLst>
                                </p:cTn>
                              </p:par>
                            </p:childTnLst>
                          </p:cTn>
                        </p:par>
                        <p:par>
                          <p:cTn id="20" fill="hold">
                            <p:stCondLst>
                              <p:cond delay="3900"/>
                            </p:stCondLst>
                            <p:childTnLst>
                              <p:par>
                                <p:cTn id="21" presetID="10" presetClass="entr" presetSubtype="0" fill="hold" nodeType="afterEffect">
                                  <p:stCondLst>
                                    <p:cond delay="5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F1F2F3"/>
                </a:solidFill>
              </a:rPr>
              <a:t>La révolution : c’est l’information qui te trouve</a:t>
            </a:r>
            <a:endParaRPr lang="en-US" sz="3600" dirty="0"/>
          </a:p>
        </p:txBody>
      </p:sp>
      <p:sp>
        <p:nvSpPr>
          <p:cNvPr id="3" name="Text 1"/>
          <p:cNvSpPr txBox="1"/>
          <p:nvPr/>
        </p:nvSpPr>
        <p:spPr>
          <a:xfrm>
            <a:off x="812800" y="1587500"/>
            <a:ext cx="4826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8A9198"/>
                </a:solidFill>
              </a:rPr>
              <a:t>AVANT</a:t>
            </a:r>
            <a:endParaRPr lang="en-US" sz="1200" dirty="0"/>
          </a:p>
        </p:txBody>
      </p:sp>
      <p:sp>
        <p:nvSpPr>
          <p:cNvPr id="4" name="Text 2"/>
          <p:cNvSpPr txBox="1"/>
          <p:nvPr/>
        </p:nvSpPr>
        <p:spPr>
          <a:xfrm>
            <a:off x="6096000" y="1587500"/>
            <a:ext cx="5270500" cy="215900"/>
          </a:xfrm>
          <a:prstGeom prst="rect">
            <a:avLst/>
          </a:prstGeom>
          <a:noFill/>
          <a:ln/>
        </p:spPr>
        <p:txBody>
          <a:bodyPr wrap="square" lIns="0" tIns="0" rIns="0" bIns="0" rtlCol="0" anchor="t"/>
          <a:lstStyle/>
          <a:p>
            <a:pPr marL="0" indent="0" algn="l">
              <a:lnSpc>
                <a:spcPct val="120000"/>
              </a:lnSpc>
              <a:buNone/>
            </a:pPr>
            <a:r>
              <a:rPr lang="en-US" sz="1200" b="1" dirty="0">
                <a:solidFill>
                  <a:srgbClr val="FFD02B"/>
                </a:solidFill>
              </a:rPr>
              <a:t>AVEC SAGUENAY AUJOURD’HUI</a:t>
            </a:r>
            <a:endParaRPr lang="en-US" sz="1200" dirty="0"/>
          </a:p>
        </p:txBody>
      </p:sp>
      <p:sp>
        <p:nvSpPr>
          <p:cNvPr id="5" name="avant 1"/>
          <p:cNvSpPr/>
          <p:nvPr/>
        </p:nvSpPr>
        <p:spPr>
          <a:xfrm>
            <a:off x="812800" y="1892300"/>
            <a:ext cx="4953000" cy="533400"/>
          </a:xfrm>
          <a:prstGeom prst="roundRect">
            <a:avLst>
              <a:gd name="adj" fmla="val 23810"/>
            </a:avLst>
          </a:prstGeom>
          <a:solidFill>
            <a:srgbClr val="1E2126"/>
          </a:solidFill>
          <a:ln/>
        </p:spPr>
      </p:sp>
      <p:sp>
        <p:nvSpPr>
          <p:cNvPr id="6" name="Text 4"/>
          <p:cNvSpPr txBox="1"/>
          <p:nvPr/>
        </p:nvSpPr>
        <p:spPr>
          <a:xfrm>
            <a:off x="1016000" y="18923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Tu vas chercher l’information</a:t>
            </a:r>
            <a:endParaRPr lang="en-US" sz="1600" dirty="0"/>
          </a:p>
        </p:txBody>
      </p:sp>
      <p:sp>
        <p:nvSpPr>
          <p:cNvPr id="7" name="Text 5"/>
          <p:cNvSpPr txBox="1"/>
          <p:nvPr/>
        </p:nvSpPr>
        <p:spPr>
          <a:xfrm>
            <a:off x="5765800" y="18923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8" name="après 1"/>
          <p:cNvSpPr/>
          <p:nvPr/>
        </p:nvSpPr>
        <p:spPr>
          <a:xfrm>
            <a:off x="6096000" y="1892300"/>
            <a:ext cx="5283200" cy="533400"/>
          </a:xfrm>
          <a:prstGeom prst="roundRect">
            <a:avLst>
              <a:gd name="adj" fmla="val 23810"/>
            </a:avLst>
          </a:prstGeom>
          <a:solidFill>
            <a:srgbClr val="FFD02B"/>
          </a:solidFill>
          <a:ln/>
        </p:spPr>
      </p:sp>
      <p:sp>
        <p:nvSpPr>
          <p:cNvPr id="9" name="Text 7"/>
          <p:cNvSpPr txBox="1"/>
          <p:nvPr/>
        </p:nvSpPr>
        <p:spPr>
          <a:xfrm>
            <a:off x="6299200" y="18923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L’information vient à toi</a:t>
            </a:r>
            <a:endParaRPr lang="en-US" sz="1600" dirty="0"/>
          </a:p>
        </p:txBody>
      </p:sp>
      <p:sp>
        <p:nvSpPr>
          <p:cNvPr id="10" name="avant 2"/>
          <p:cNvSpPr/>
          <p:nvPr/>
        </p:nvSpPr>
        <p:spPr>
          <a:xfrm>
            <a:off x="812800" y="2514600"/>
            <a:ext cx="4953000" cy="533400"/>
          </a:xfrm>
          <a:prstGeom prst="roundRect">
            <a:avLst>
              <a:gd name="adj" fmla="val 23810"/>
            </a:avLst>
          </a:prstGeom>
          <a:solidFill>
            <a:srgbClr val="1E2126"/>
          </a:solidFill>
          <a:ln/>
        </p:spPr>
      </p:sp>
      <p:sp>
        <p:nvSpPr>
          <p:cNvPr id="11" name="Text 9"/>
          <p:cNvSpPr txBox="1"/>
          <p:nvPr/>
        </p:nvSpPr>
        <p:spPr>
          <a:xfrm>
            <a:off x="1016000" y="25146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Un site par sujet</a:t>
            </a:r>
            <a:endParaRPr lang="en-US" sz="1600" dirty="0"/>
          </a:p>
        </p:txBody>
      </p:sp>
      <p:sp>
        <p:nvSpPr>
          <p:cNvPr id="12" name="Text 10"/>
          <p:cNvSpPr txBox="1"/>
          <p:nvPr/>
        </p:nvSpPr>
        <p:spPr>
          <a:xfrm>
            <a:off x="5765800" y="25146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13" name="après 2"/>
          <p:cNvSpPr/>
          <p:nvPr/>
        </p:nvSpPr>
        <p:spPr>
          <a:xfrm>
            <a:off x="6096000" y="2514600"/>
            <a:ext cx="5283200" cy="533400"/>
          </a:xfrm>
          <a:prstGeom prst="roundRect">
            <a:avLst>
              <a:gd name="adj" fmla="val 23810"/>
            </a:avLst>
          </a:prstGeom>
          <a:solidFill>
            <a:srgbClr val="FFD02B"/>
          </a:solidFill>
          <a:ln/>
        </p:spPr>
      </p:sp>
      <p:sp>
        <p:nvSpPr>
          <p:cNvPr id="14" name="Text 12"/>
          <p:cNvSpPr txBox="1"/>
          <p:nvPr/>
        </p:nvSpPr>
        <p:spPr>
          <a:xfrm>
            <a:off x="6299200" y="25146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Un seul écran, douze sources</a:t>
            </a:r>
            <a:endParaRPr lang="en-US" sz="1600" dirty="0"/>
          </a:p>
        </p:txBody>
      </p:sp>
      <p:sp>
        <p:nvSpPr>
          <p:cNvPr id="15" name="avant 3"/>
          <p:cNvSpPr/>
          <p:nvPr/>
        </p:nvSpPr>
        <p:spPr>
          <a:xfrm>
            <a:off x="812800" y="3136900"/>
            <a:ext cx="4953000" cy="533400"/>
          </a:xfrm>
          <a:prstGeom prst="roundRect">
            <a:avLst>
              <a:gd name="adj" fmla="val 23810"/>
            </a:avLst>
          </a:prstGeom>
          <a:solidFill>
            <a:srgbClr val="1E2126"/>
          </a:solidFill>
          <a:ln/>
        </p:spPr>
      </p:sp>
      <p:sp>
        <p:nvSpPr>
          <p:cNvPr id="16" name="Text 14"/>
          <p:cNvSpPr txBox="1"/>
          <p:nvPr/>
        </p:nvSpPr>
        <p:spPr>
          <a:xfrm>
            <a:off x="1016000" y="31369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Des avis pour toute la ville</a:t>
            </a:r>
            <a:endParaRPr lang="en-US" sz="1600" dirty="0"/>
          </a:p>
        </p:txBody>
      </p:sp>
      <p:sp>
        <p:nvSpPr>
          <p:cNvPr id="17" name="Text 15"/>
          <p:cNvSpPr txBox="1"/>
          <p:nvPr/>
        </p:nvSpPr>
        <p:spPr>
          <a:xfrm>
            <a:off x="5765800" y="31369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18" name="après 3"/>
          <p:cNvSpPr/>
          <p:nvPr/>
        </p:nvSpPr>
        <p:spPr>
          <a:xfrm>
            <a:off x="6096000" y="3136900"/>
            <a:ext cx="5283200" cy="533400"/>
          </a:xfrm>
          <a:prstGeom prst="roundRect">
            <a:avLst>
              <a:gd name="adj" fmla="val 23810"/>
            </a:avLst>
          </a:prstGeom>
          <a:solidFill>
            <a:srgbClr val="FFD02B"/>
          </a:solidFill>
          <a:ln/>
        </p:spPr>
      </p:sp>
      <p:sp>
        <p:nvSpPr>
          <p:cNvPr id="19" name="Text 17"/>
          <p:cNvSpPr txBox="1"/>
          <p:nvPr/>
        </p:nvSpPr>
        <p:spPr>
          <a:xfrm>
            <a:off x="6299200" y="31369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Seulement ce qui touche ton adresse</a:t>
            </a:r>
            <a:endParaRPr lang="en-US" sz="1600" dirty="0"/>
          </a:p>
        </p:txBody>
      </p:sp>
      <p:sp>
        <p:nvSpPr>
          <p:cNvPr id="20" name="avant 4"/>
          <p:cNvSpPr/>
          <p:nvPr/>
        </p:nvSpPr>
        <p:spPr>
          <a:xfrm>
            <a:off x="812800" y="3759200"/>
            <a:ext cx="4953000" cy="533400"/>
          </a:xfrm>
          <a:prstGeom prst="roundRect">
            <a:avLst>
              <a:gd name="adj" fmla="val 23810"/>
            </a:avLst>
          </a:prstGeom>
          <a:solidFill>
            <a:srgbClr val="1E2126"/>
          </a:solidFill>
          <a:ln/>
        </p:spPr>
      </p:sp>
      <p:sp>
        <p:nvSpPr>
          <p:cNvPr id="21" name="Text 19"/>
          <p:cNvSpPr txBox="1"/>
          <p:nvPr/>
        </p:nvSpPr>
        <p:spPr>
          <a:xfrm>
            <a:off x="1016000" y="37592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Des données à interpréter</a:t>
            </a:r>
            <a:endParaRPr lang="en-US" sz="1600" dirty="0"/>
          </a:p>
        </p:txBody>
      </p:sp>
      <p:sp>
        <p:nvSpPr>
          <p:cNvPr id="22" name="Text 20"/>
          <p:cNvSpPr txBox="1"/>
          <p:nvPr/>
        </p:nvSpPr>
        <p:spPr>
          <a:xfrm>
            <a:off x="5765800" y="37592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23" name="après 4"/>
          <p:cNvSpPr/>
          <p:nvPr/>
        </p:nvSpPr>
        <p:spPr>
          <a:xfrm>
            <a:off x="6096000" y="3759200"/>
            <a:ext cx="5283200" cy="533400"/>
          </a:xfrm>
          <a:prstGeom prst="roundRect">
            <a:avLst>
              <a:gd name="adj" fmla="val 23810"/>
            </a:avLst>
          </a:prstGeom>
          <a:solidFill>
            <a:srgbClr val="FFD02B"/>
          </a:solidFill>
          <a:ln/>
        </p:spPr>
      </p:sp>
      <p:sp>
        <p:nvSpPr>
          <p:cNvPr id="24" name="Text 22"/>
          <p:cNvSpPr txBox="1"/>
          <p:nvPr/>
        </p:nvSpPr>
        <p:spPr>
          <a:xfrm>
            <a:off x="6299200" y="37592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Une phrase claire : quoi faire, et quand</a:t>
            </a:r>
            <a:endParaRPr lang="en-US" sz="1600" dirty="0"/>
          </a:p>
        </p:txBody>
      </p:sp>
      <p:sp>
        <p:nvSpPr>
          <p:cNvPr id="25" name="avant 5"/>
          <p:cNvSpPr/>
          <p:nvPr/>
        </p:nvSpPr>
        <p:spPr>
          <a:xfrm>
            <a:off x="812800" y="4381500"/>
            <a:ext cx="4953000" cy="533400"/>
          </a:xfrm>
          <a:prstGeom prst="roundRect">
            <a:avLst>
              <a:gd name="adj" fmla="val 23810"/>
            </a:avLst>
          </a:prstGeom>
          <a:solidFill>
            <a:srgbClr val="1E2126"/>
          </a:solidFill>
          <a:ln/>
        </p:spPr>
      </p:sp>
      <p:sp>
        <p:nvSpPr>
          <p:cNvPr id="26" name="Text 24"/>
          <p:cNvSpPr txBox="1"/>
          <p:nvPr/>
        </p:nvSpPr>
        <p:spPr>
          <a:xfrm>
            <a:off x="1016000" y="4381500"/>
            <a:ext cx="4572000" cy="533400"/>
          </a:xfrm>
          <a:prstGeom prst="rect">
            <a:avLst/>
          </a:prstGeom>
          <a:noFill/>
          <a:ln/>
        </p:spPr>
        <p:txBody>
          <a:bodyPr wrap="square" lIns="0" tIns="0" rIns="0" bIns="0" rtlCol="0" anchor="ctr"/>
          <a:lstStyle/>
          <a:p>
            <a:pPr marL="0" indent="0" algn="l">
              <a:lnSpc>
                <a:spcPct val="120000"/>
              </a:lnSpc>
              <a:buNone/>
            </a:pPr>
            <a:r>
              <a:rPr lang="en-US" sz="1600" dirty="0">
                <a:solidFill>
                  <a:srgbClr val="B3B9BF"/>
                </a:solidFill>
              </a:rPr>
              <a:t>Tu l’apprends après coup</a:t>
            </a:r>
            <a:endParaRPr lang="en-US" sz="1600" dirty="0"/>
          </a:p>
        </p:txBody>
      </p:sp>
      <p:sp>
        <p:nvSpPr>
          <p:cNvPr id="27" name="Text 25"/>
          <p:cNvSpPr txBox="1"/>
          <p:nvPr/>
        </p:nvSpPr>
        <p:spPr>
          <a:xfrm>
            <a:off x="5765800" y="4381500"/>
            <a:ext cx="330200" cy="533400"/>
          </a:xfrm>
          <a:prstGeom prst="rect">
            <a:avLst/>
          </a:prstGeom>
          <a:noFill/>
          <a:ln/>
        </p:spPr>
        <p:txBody>
          <a:bodyPr wrap="square" lIns="0" tIns="0" rIns="0" bIns="0" rtlCol="0" anchor="ctr"/>
          <a:lstStyle/>
          <a:p>
            <a:pPr marL="0" indent="0" algn="ctr">
              <a:lnSpc>
                <a:spcPct val="120000"/>
              </a:lnSpc>
              <a:buNone/>
            </a:pPr>
            <a:r>
              <a:rPr lang="en-US" sz="1800" b="1" dirty="0">
                <a:solidFill>
                  <a:srgbClr val="FFD02B"/>
                </a:solidFill>
              </a:rPr>
              <a:t>→</a:t>
            </a:r>
            <a:endParaRPr lang="en-US" sz="1800" dirty="0"/>
          </a:p>
        </p:txBody>
      </p:sp>
      <p:sp>
        <p:nvSpPr>
          <p:cNvPr id="28" name="après 5"/>
          <p:cNvSpPr/>
          <p:nvPr/>
        </p:nvSpPr>
        <p:spPr>
          <a:xfrm>
            <a:off x="6096000" y="4381500"/>
            <a:ext cx="5283200" cy="533400"/>
          </a:xfrm>
          <a:prstGeom prst="roundRect">
            <a:avLst>
              <a:gd name="adj" fmla="val 23810"/>
            </a:avLst>
          </a:prstGeom>
          <a:solidFill>
            <a:srgbClr val="FFD02B"/>
          </a:solidFill>
          <a:ln/>
        </p:spPr>
      </p:sp>
      <p:sp>
        <p:nvSpPr>
          <p:cNvPr id="29" name="Text 27"/>
          <p:cNvSpPr txBox="1"/>
          <p:nvPr/>
        </p:nvSpPr>
        <p:spPr>
          <a:xfrm>
            <a:off x="6299200" y="4381500"/>
            <a:ext cx="4889500" cy="533400"/>
          </a:xfrm>
          <a:prstGeom prst="rect">
            <a:avLst/>
          </a:prstGeom>
          <a:noFill/>
          <a:ln/>
        </p:spPr>
        <p:txBody>
          <a:bodyPr wrap="square" lIns="0" tIns="0" rIns="0" bIns="0" rtlCol="0" anchor="ctr"/>
          <a:lstStyle/>
          <a:p>
            <a:pPr marL="0" indent="0" algn="l">
              <a:lnSpc>
                <a:spcPct val="120000"/>
              </a:lnSpc>
              <a:buNone/>
            </a:pPr>
            <a:r>
              <a:rPr lang="en-US" sz="1600" b="1" dirty="0">
                <a:solidFill>
                  <a:srgbClr val="1A1906"/>
                </a:solidFill>
              </a:rPr>
              <a:t>Tu le sais avant, même app fermée</a:t>
            </a:r>
            <a:endParaRPr lang="en-US" sz="1600" dirty="0"/>
          </a:p>
        </p:txBody>
      </p:sp>
      <p:sp>
        <p:nvSpPr>
          <p:cNvPr id="30" name="Text 28"/>
          <p:cNvSpPr txBox="1"/>
          <p:nvPr/>
        </p:nvSpPr>
        <p:spPr>
          <a:xfrm>
            <a:off x="812800" y="5118100"/>
            <a:ext cx="10566400" cy="571500"/>
          </a:xfrm>
          <a:prstGeom prst="rect">
            <a:avLst/>
          </a:prstGeom>
          <a:noFill/>
          <a:ln/>
        </p:spPr>
        <p:txBody>
          <a:bodyPr wrap="square" lIns="0" tIns="0" rIns="0" bIns="0" rtlCol="0" anchor="t"/>
          <a:lstStyle/>
          <a:p>
            <a:pPr marL="0" indent="0" algn="l">
              <a:lnSpc>
                <a:spcPct val="130000"/>
              </a:lnSpc>
              <a:buNone/>
            </a:pPr>
            <a:r>
              <a:rPr lang="en-US" sz="1400" dirty="0">
                <a:solidFill>
                  <a:srgbClr val="D6DADE"/>
                </a:solidFill>
              </a:rPr>
              <a:t>Le cœur de l’app : un moteur qui classe tout selon ton adresse et l’heure. Des règles simples, qu’on peut expliquer à n’importe qui.</a:t>
            </a:r>
            <a:endParaRPr lang="en-US" sz="1400" dirty="0"/>
          </a:p>
        </p:txBody>
      </p:sp>
      <p:sp>
        <p:nvSpPr>
          <p:cNvPr id="31"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A9198"/>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Douze sources en direct, sur un seul écran</a:t>
            </a:r>
            <a:endParaRPr lang="en-US" sz="3600" dirty="0"/>
          </a:p>
        </p:txBody>
      </p:sp>
      <p:sp>
        <p:nvSpPr>
          <p:cNvPr id="3" name="Collectes"/>
          <p:cNvSpPr/>
          <p:nvPr/>
        </p:nvSpPr>
        <p:spPr>
          <a:xfrm>
            <a:off x="812800" y="1549400"/>
            <a:ext cx="2508250" cy="1358900"/>
          </a:xfrm>
          <a:prstGeom prst="roundRect">
            <a:avLst>
              <a:gd name="adj" fmla="val 11215"/>
            </a:avLst>
          </a:prstGeom>
          <a:solidFill>
            <a:srgbClr val="F1F2EF"/>
          </a:solidFill>
          <a:ln/>
        </p:spPr>
      </p:sp>
      <p:sp>
        <p:nvSpPr>
          <p:cNvPr id="4" name="Shape 2"/>
          <p:cNvSpPr/>
          <p:nvPr/>
        </p:nvSpPr>
        <p:spPr>
          <a:xfrm>
            <a:off x="965200" y="1714500"/>
            <a:ext cx="63500" cy="254000"/>
          </a:xfrm>
          <a:prstGeom prst="roundRect">
            <a:avLst>
              <a:gd name="adj" fmla="val 50000"/>
            </a:avLst>
          </a:prstGeom>
          <a:solidFill>
            <a:srgbClr val="157A4A"/>
          </a:solidFill>
          <a:ln/>
        </p:spPr>
      </p:sp>
      <p:sp>
        <p:nvSpPr>
          <p:cNvPr id="5" name="Text 3"/>
          <p:cNvSpPr txBox="1"/>
          <p:nvPr/>
        </p:nvSpPr>
        <p:spPr>
          <a:xfrm>
            <a:off x="1104900" y="16637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Collectes</a:t>
            </a:r>
            <a:endParaRPr lang="en-US" sz="1400" dirty="0"/>
          </a:p>
        </p:txBody>
      </p:sp>
      <p:sp>
        <p:nvSpPr>
          <p:cNvPr id="6" name="Text 4"/>
          <p:cNvSpPr txBox="1"/>
          <p:nvPr/>
        </p:nvSpPr>
        <p:spPr>
          <a:xfrm>
            <a:off x="965200" y="20828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Quel bac, quel jour, à ton adresse</a:t>
            </a:r>
            <a:endParaRPr lang="en-US" sz="1200" dirty="0"/>
          </a:p>
        </p:txBody>
      </p:sp>
      <p:sp>
        <p:nvSpPr>
          <p:cNvPr id="7" name="Text 5"/>
          <p:cNvSpPr txBox="1"/>
          <p:nvPr/>
        </p:nvSpPr>
        <p:spPr>
          <a:xfrm>
            <a:off x="965200" y="26162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Ville de Saguenay</a:t>
            </a:r>
            <a:endParaRPr lang="en-US" sz="1200" dirty="0"/>
          </a:p>
        </p:txBody>
      </p:sp>
      <p:sp>
        <p:nvSpPr>
          <p:cNvPr id="8" name="Avis d’eau"/>
          <p:cNvSpPr/>
          <p:nvPr/>
        </p:nvSpPr>
        <p:spPr>
          <a:xfrm>
            <a:off x="3498850" y="1549400"/>
            <a:ext cx="2508250" cy="1358900"/>
          </a:xfrm>
          <a:prstGeom prst="roundRect">
            <a:avLst>
              <a:gd name="adj" fmla="val 11215"/>
            </a:avLst>
          </a:prstGeom>
          <a:solidFill>
            <a:srgbClr val="F1F2EF"/>
          </a:solidFill>
          <a:ln/>
        </p:spPr>
      </p:sp>
      <p:sp>
        <p:nvSpPr>
          <p:cNvPr id="9" name="Shape 7"/>
          <p:cNvSpPr/>
          <p:nvPr/>
        </p:nvSpPr>
        <p:spPr>
          <a:xfrm>
            <a:off x="3651250" y="1714500"/>
            <a:ext cx="63500" cy="254000"/>
          </a:xfrm>
          <a:prstGeom prst="roundRect">
            <a:avLst>
              <a:gd name="adj" fmla="val 50000"/>
            </a:avLst>
          </a:prstGeom>
          <a:solidFill>
            <a:srgbClr val="2F6BEB"/>
          </a:solidFill>
          <a:ln/>
        </p:spPr>
      </p:sp>
      <p:sp>
        <p:nvSpPr>
          <p:cNvPr id="10" name="Text 8"/>
          <p:cNvSpPr txBox="1"/>
          <p:nvPr/>
        </p:nvSpPr>
        <p:spPr>
          <a:xfrm>
            <a:off x="3790950" y="16637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Avis d’eau</a:t>
            </a:r>
            <a:endParaRPr lang="en-US" sz="1400" dirty="0"/>
          </a:p>
        </p:txBody>
      </p:sp>
      <p:sp>
        <p:nvSpPr>
          <p:cNvPr id="11" name="Text 9"/>
          <p:cNvSpPr txBox="1"/>
          <p:nvPr/>
        </p:nvSpPr>
        <p:spPr>
          <a:xfrm>
            <a:off x="3651250" y="20828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Ébullition ou coupure, zone sur une carte</a:t>
            </a:r>
            <a:endParaRPr lang="en-US" sz="1200" dirty="0"/>
          </a:p>
        </p:txBody>
      </p:sp>
      <p:sp>
        <p:nvSpPr>
          <p:cNvPr id="12" name="Text 10"/>
          <p:cNvSpPr txBox="1"/>
          <p:nvPr/>
        </p:nvSpPr>
        <p:spPr>
          <a:xfrm>
            <a:off x="3651250" y="26162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Ville de Saguenay</a:t>
            </a:r>
            <a:endParaRPr lang="en-US" sz="1200" dirty="0"/>
          </a:p>
        </p:txBody>
      </p:sp>
      <p:sp>
        <p:nvSpPr>
          <p:cNvPr id="13" name="Stationnement de nuit"/>
          <p:cNvSpPr/>
          <p:nvPr/>
        </p:nvSpPr>
        <p:spPr>
          <a:xfrm>
            <a:off x="6184900" y="1549400"/>
            <a:ext cx="2508250" cy="1358900"/>
          </a:xfrm>
          <a:prstGeom prst="roundRect">
            <a:avLst>
              <a:gd name="adj" fmla="val 11215"/>
            </a:avLst>
          </a:prstGeom>
          <a:solidFill>
            <a:srgbClr val="F1F2EF"/>
          </a:solidFill>
          <a:ln/>
        </p:spPr>
      </p:sp>
      <p:sp>
        <p:nvSpPr>
          <p:cNvPr id="14" name="Shape 12"/>
          <p:cNvSpPr/>
          <p:nvPr/>
        </p:nvSpPr>
        <p:spPr>
          <a:xfrm>
            <a:off x="6337300" y="1714500"/>
            <a:ext cx="63500" cy="254000"/>
          </a:xfrm>
          <a:prstGeom prst="roundRect">
            <a:avLst>
              <a:gd name="adj" fmla="val 50000"/>
            </a:avLst>
          </a:prstGeom>
          <a:solidFill>
            <a:srgbClr val="B8660A"/>
          </a:solidFill>
          <a:ln/>
        </p:spPr>
      </p:sp>
      <p:sp>
        <p:nvSpPr>
          <p:cNvPr id="15" name="Text 13"/>
          <p:cNvSpPr txBox="1"/>
          <p:nvPr/>
        </p:nvSpPr>
        <p:spPr>
          <a:xfrm>
            <a:off x="6477000" y="16637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Stationnement de nuit</a:t>
            </a:r>
            <a:endParaRPr lang="en-US" sz="1400" dirty="0"/>
          </a:p>
        </p:txBody>
      </p:sp>
      <p:sp>
        <p:nvSpPr>
          <p:cNvPr id="16" name="Text 14"/>
          <p:cNvSpPr txBox="1"/>
          <p:nvPr/>
        </p:nvSpPr>
        <p:spPr>
          <a:xfrm>
            <a:off x="6337300" y="20828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Permis ou interdit cette nuit, amende de 45 $</a:t>
            </a:r>
            <a:endParaRPr lang="en-US" sz="1200" dirty="0"/>
          </a:p>
        </p:txBody>
      </p:sp>
      <p:sp>
        <p:nvSpPr>
          <p:cNvPr id="17" name="Text 15"/>
          <p:cNvSpPr txBox="1"/>
          <p:nvPr/>
        </p:nvSpPr>
        <p:spPr>
          <a:xfrm>
            <a:off x="6337300" y="26162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Règlement de la Ville</a:t>
            </a:r>
            <a:endParaRPr lang="en-US" sz="1200" dirty="0"/>
          </a:p>
        </p:txBody>
      </p:sp>
      <p:sp>
        <p:nvSpPr>
          <p:cNvPr id="18" name="Bus"/>
          <p:cNvSpPr/>
          <p:nvPr/>
        </p:nvSpPr>
        <p:spPr>
          <a:xfrm>
            <a:off x="8870950" y="1549400"/>
            <a:ext cx="2508250" cy="1358900"/>
          </a:xfrm>
          <a:prstGeom prst="roundRect">
            <a:avLst>
              <a:gd name="adj" fmla="val 11215"/>
            </a:avLst>
          </a:prstGeom>
          <a:solidFill>
            <a:srgbClr val="F1F2EF"/>
          </a:solidFill>
          <a:ln/>
        </p:spPr>
      </p:sp>
      <p:sp>
        <p:nvSpPr>
          <p:cNvPr id="19" name="Shape 17"/>
          <p:cNvSpPr/>
          <p:nvPr/>
        </p:nvSpPr>
        <p:spPr>
          <a:xfrm>
            <a:off x="9023350" y="1714500"/>
            <a:ext cx="63500" cy="254000"/>
          </a:xfrm>
          <a:prstGeom prst="roundRect">
            <a:avLst>
              <a:gd name="adj" fmla="val 50000"/>
            </a:avLst>
          </a:prstGeom>
          <a:solidFill>
            <a:srgbClr val="2F6BEB"/>
          </a:solidFill>
          <a:ln/>
        </p:spPr>
      </p:sp>
      <p:sp>
        <p:nvSpPr>
          <p:cNvPr id="20" name="Text 18"/>
          <p:cNvSpPr txBox="1"/>
          <p:nvPr/>
        </p:nvSpPr>
        <p:spPr>
          <a:xfrm>
            <a:off x="9163050" y="16637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Bus</a:t>
            </a:r>
            <a:endParaRPr lang="en-US" sz="1400" dirty="0"/>
          </a:p>
        </p:txBody>
      </p:sp>
      <p:sp>
        <p:nvSpPr>
          <p:cNvPr id="21" name="Text 19"/>
          <p:cNvSpPr txBox="1"/>
          <p:nvPr/>
        </p:nvSpPr>
        <p:spPr>
          <a:xfrm>
            <a:off x="9023350" y="20828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Prochain départ et retards en direct</a:t>
            </a:r>
            <a:endParaRPr lang="en-US" sz="1200" dirty="0"/>
          </a:p>
        </p:txBody>
      </p:sp>
      <p:sp>
        <p:nvSpPr>
          <p:cNvPr id="22" name="Text 20"/>
          <p:cNvSpPr txBox="1"/>
          <p:nvPr/>
        </p:nvSpPr>
        <p:spPr>
          <a:xfrm>
            <a:off x="9023350" y="26162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STS</a:t>
            </a:r>
            <a:endParaRPr lang="en-US" sz="1200" dirty="0"/>
          </a:p>
        </p:txBody>
      </p:sp>
      <p:sp>
        <p:nvSpPr>
          <p:cNvPr id="23" name="Travaux et voies fermées"/>
          <p:cNvSpPr/>
          <p:nvPr/>
        </p:nvSpPr>
        <p:spPr>
          <a:xfrm>
            <a:off x="812800" y="3022600"/>
            <a:ext cx="2508250" cy="1358900"/>
          </a:xfrm>
          <a:prstGeom prst="roundRect">
            <a:avLst>
              <a:gd name="adj" fmla="val 11215"/>
            </a:avLst>
          </a:prstGeom>
          <a:solidFill>
            <a:srgbClr val="F1F2EF"/>
          </a:solidFill>
          <a:ln/>
        </p:spPr>
      </p:sp>
      <p:sp>
        <p:nvSpPr>
          <p:cNvPr id="24" name="Shape 22"/>
          <p:cNvSpPr/>
          <p:nvPr/>
        </p:nvSpPr>
        <p:spPr>
          <a:xfrm>
            <a:off x="965200" y="3187700"/>
            <a:ext cx="63500" cy="254000"/>
          </a:xfrm>
          <a:prstGeom prst="roundRect">
            <a:avLst>
              <a:gd name="adj" fmla="val 50000"/>
            </a:avLst>
          </a:prstGeom>
          <a:solidFill>
            <a:srgbClr val="B8660A"/>
          </a:solidFill>
          <a:ln/>
        </p:spPr>
      </p:sp>
      <p:sp>
        <p:nvSpPr>
          <p:cNvPr id="25" name="Text 23"/>
          <p:cNvSpPr txBox="1"/>
          <p:nvPr/>
        </p:nvSpPr>
        <p:spPr>
          <a:xfrm>
            <a:off x="1104900" y="31369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Travaux et voies fermées</a:t>
            </a:r>
            <a:endParaRPr lang="en-US" sz="1400" dirty="0"/>
          </a:p>
        </p:txBody>
      </p:sp>
      <p:sp>
        <p:nvSpPr>
          <p:cNvPr id="26" name="Text 24"/>
          <p:cNvSpPr txBox="1"/>
          <p:nvPr/>
        </p:nvSpPr>
        <p:spPr>
          <a:xfrm>
            <a:off x="965200" y="35560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Rue fermée, à contresens, détour à prendre</a:t>
            </a:r>
            <a:endParaRPr lang="en-US" sz="1200" dirty="0"/>
          </a:p>
        </p:txBody>
      </p:sp>
      <p:sp>
        <p:nvSpPr>
          <p:cNvPr id="27" name="Text 25"/>
          <p:cNvSpPr txBox="1"/>
          <p:nvPr/>
        </p:nvSpPr>
        <p:spPr>
          <a:xfrm>
            <a:off x="965200" y="40894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Ville de Saguenay</a:t>
            </a:r>
            <a:endParaRPr lang="en-US" sz="1200" dirty="0"/>
          </a:p>
        </p:txBody>
      </p:sp>
      <p:sp>
        <p:nvSpPr>
          <p:cNvPr id="28" name="État des routes"/>
          <p:cNvSpPr/>
          <p:nvPr/>
        </p:nvSpPr>
        <p:spPr>
          <a:xfrm>
            <a:off x="3498850" y="3022600"/>
            <a:ext cx="2508250" cy="1358900"/>
          </a:xfrm>
          <a:prstGeom prst="roundRect">
            <a:avLst>
              <a:gd name="adj" fmla="val 11215"/>
            </a:avLst>
          </a:prstGeom>
          <a:solidFill>
            <a:srgbClr val="F1F2EF"/>
          </a:solidFill>
          <a:ln/>
        </p:spPr>
      </p:sp>
      <p:sp>
        <p:nvSpPr>
          <p:cNvPr id="29" name="Shape 27"/>
          <p:cNvSpPr/>
          <p:nvPr/>
        </p:nvSpPr>
        <p:spPr>
          <a:xfrm>
            <a:off x="3651250" y="3187700"/>
            <a:ext cx="63500" cy="254000"/>
          </a:xfrm>
          <a:prstGeom prst="roundRect">
            <a:avLst>
              <a:gd name="adj" fmla="val 50000"/>
            </a:avLst>
          </a:prstGeom>
          <a:solidFill>
            <a:srgbClr val="4E6A85"/>
          </a:solidFill>
          <a:ln/>
        </p:spPr>
      </p:sp>
      <p:sp>
        <p:nvSpPr>
          <p:cNvPr id="30" name="Text 28"/>
          <p:cNvSpPr txBox="1"/>
          <p:nvPr/>
        </p:nvSpPr>
        <p:spPr>
          <a:xfrm>
            <a:off x="3790950" y="31369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État des routes</a:t>
            </a:r>
            <a:endParaRPr lang="en-US" sz="1400" dirty="0"/>
          </a:p>
        </p:txBody>
      </p:sp>
      <p:sp>
        <p:nvSpPr>
          <p:cNvPr id="31" name="Text 29"/>
          <p:cNvSpPr txBox="1"/>
          <p:nvPr/>
        </p:nvSpPr>
        <p:spPr>
          <a:xfrm>
            <a:off x="3651250" y="35560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175, 170, 172 : chaussée et visibilité</a:t>
            </a:r>
            <a:endParaRPr lang="en-US" sz="1200" dirty="0"/>
          </a:p>
        </p:txBody>
      </p:sp>
      <p:sp>
        <p:nvSpPr>
          <p:cNvPr id="32" name="Text 30"/>
          <p:cNvSpPr txBox="1"/>
          <p:nvPr/>
        </p:nvSpPr>
        <p:spPr>
          <a:xfrm>
            <a:off x="3651250" y="40894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Québec 511</a:t>
            </a:r>
            <a:endParaRPr lang="en-US" sz="1200" dirty="0"/>
          </a:p>
        </p:txBody>
      </p:sp>
      <p:sp>
        <p:nvSpPr>
          <p:cNvPr id="33" name="Achalandage des urgences"/>
          <p:cNvSpPr/>
          <p:nvPr/>
        </p:nvSpPr>
        <p:spPr>
          <a:xfrm>
            <a:off x="6184900" y="3022600"/>
            <a:ext cx="2508250" cy="1358900"/>
          </a:xfrm>
          <a:prstGeom prst="roundRect">
            <a:avLst>
              <a:gd name="adj" fmla="val 11215"/>
            </a:avLst>
          </a:prstGeom>
          <a:solidFill>
            <a:srgbClr val="F1F2EF"/>
          </a:solidFill>
          <a:ln/>
        </p:spPr>
      </p:sp>
      <p:sp>
        <p:nvSpPr>
          <p:cNvPr id="34" name="Shape 32"/>
          <p:cNvSpPr/>
          <p:nvPr/>
        </p:nvSpPr>
        <p:spPr>
          <a:xfrm>
            <a:off x="6337300" y="3187700"/>
            <a:ext cx="63500" cy="254000"/>
          </a:xfrm>
          <a:prstGeom prst="roundRect">
            <a:avLst>
              <a:gd name="adj" fmla="val 50000"/>
            </a:avLst>
          </a:prstGeom>
          <a:solidFill>
            <a:srgbClr val="6B55C9"/>
          </a:solidFill>
          <a:ln/>
        </p:spPr>
      </p:sp>
      <p:sp>
        <p:nvSpPr>
          <p:cNvPr id="35" name="Text 33"/>
          <p:cNvSpPr txBox="1"/>
          <p:nvPr/>
        </p:nvSpPr>
        <p:spPr>
          <a:xfrm>
            <a:off x="6477000" y="31369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Achalandage des urgences</a:t>
            </a:r>
            <a:endParaRPr lang="en-US" sz="1400" dirty="0"/>
          </a:p>
        </p:txBody>
      </p:sp>
      <p:sp>
        <p:nvSpPr>
          <p:cNvPr id="36" name="Text 34"/>
          <p:cNvSpPr txBox="1"/>
          <p:nvPr/>
        </p:nvSpPr>
        <p:spPr>
          <a:xfrm>
            <a:off x="6337300" y="35560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Civières et attente, dans les 3 hôpitaux</a:t>
            </a:r>
            <a:endParaRPr lang="en-US" sz="1200" dirty="0"/>
          </a:p>
        </p:txBody>
      </p:sp>
      <p:sp>
        <p:nvSpPr>
          <p:cNvPr id="37" name="Text 35"/>
          <p:cNvSpPr txBox="1"/>
          <p:nvPr/>
        </p:nvSpPr>
        <p:spPr>
          <a:xfrm>
            <a:off x="6337300" y="40894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Ministère de la Santé</a:t>
            </a:r>
            <a:endParaRPr lang="en-US" sz="1200" dirty="0"/>
          </a:p>
        </p:txBody>
      </p:sp>
      <p:sp>
        <p:nvSpPr>
          <p:cNvPr id="38" name="Météo et alertes"/>
          <p:cNvSpPr/>
          <p:nvPr/>
        </p:nvSpPr>
        <p:spPr>
          <a:xfrm>
            <a:off x="8870950" y="3022600"/>
            <a:ext cx="2508250" cy="1358900"/>
          </a:xfrm>
          <a:prstGeom prst="roundRect">
            <a:avLst>
              <a:gd name="adj" fmla="val 11215"/>
            </a:avLst>
          </a:prstGeom>
          <a:solidFill>
            <a:srgbClr val="F1F2EF"/>
          </a:solidFill>
          <a:ln/>
        </p:spPr>
      </p:sp>
      <p:sp>
        <p:nvSpPr>
          <p:cNvPr id="39" name="Shape 37"/>
          <p:cNvSpPr/>
          <p:nvPr/>
        </p:nvSpPr>
        <p:spPr>
          <a:xfrm>
            <a:off x="9023350" y="3187700"/>
            <a:ext cx="63500" cy="254000"/>
          </a:xfrm>
          <a:prstGeom prst="roundRect">
            <a:avLst>
              <a:gd name="adj" fmla="val 50000"/>
            </a:avLst>
          </a:prstGeom>
          <a:solidFill>
            <a:srgbClr val="4E6A85"/>
          </a:solidFill>
          <a:ln/>
        </p:spPr>
      </p:sp>
      <p:sp>
        <p:nvSpPr>
          <p:cNvPr id="40" name="Text 38"/>
          <p:cNvSpPr txBox="1"/>
          <p:nvPr/>
        </p:nvSpPr>
        <p:spPr>
          <a:xfrm>
            <a:off x="9163050" y="31369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Météo et alertes</a:t>
            </a:r>
            <a:endParaRPr lang="en-US" sz="1400" dirty="0"/>
          </a:p>
        </p:txBody>
      </p:sp>
      <p:sp>
        <p:nvSpPr>
          <p:cNvPr id="41" name="Text 39"/>
          <p:cNvSpPr txBox="1"/>
          <p:nvPr/>
        </p:nvSpPr>
        <p:spPr>
          <a:xfrm>
            <a:off x="9023350" y="35560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Neige de la nuit, avertissements</a:t>
            </a:r>
            <a:endParaRPr lang="en-US" sz="1200" dirty="0"/>
          </a:p>
        </p:txBody>
      </p:sp>
      <p:sp>
        <p:nvSpPr>
          <p:cNvPr id="42" name="Text 40"/>
          <p:cNvSpPr txBox="1"/>
          <p:nvPr/>
        </p:nvSpPr>
        <p:spPr>
          <a:xfrm>
            <a:off x="9023350" y="40894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Environnement Canada</a:t>
            </a:r>
            <a:endParaRPr lang="en-US" sz="1200" dirty="0"/>
          </a:p>
        </p:txBody>
      </p:sp>
      <p:sp>
        <p:nvSpPr>
          <p:cNvPr id="43" name="Pannes et coupures"/>
          <p:cNvSpPr/>
          <p:nvPr/>
        </p:nvSpPr>
        <p:spPr>
          <a:xfrm>
            <a:off x="812800" y="4495800"/>
            <a:ext cx="2508250" cy="1358900"/>
          </a:xfrm>
          <a:prstGeom prst="roundRect">
            <a:avLst>
              <a:gd name="adj" fmla="val 11215"/>
            </a:avLst>
          </a:prstGeom>
          <a:solidFill>
            <a:srgbClr val="F1F2EF"/>
          </a:solidFill>
          <a:ln/>
        </p:spPr>
      </p:sp>
      <p:sp>
        <p:nvSpPr>
          <p:cNvPr id="44" name="Shape 42"/>
          <p:cNvSpPr/>
          <p:nvPr/>
        </p:nvSpPr>
        <p:spPr>
          <a:xfrm>
            <a:off x="965200" y="4660900"/>
            <a:ext cx="63500" cy="254000"/>
          </a:xfrm>
          <a:prstGeom prst="roundRect">
            <a:avLst>
              <a:gd name="adj" fmla="val 50000"/>
            </a:avLst>
          </a:prstGeom>
          <a:solidFill>
            <a:srgbClr val="B8336A"/>
          </a:solidFill>
          <a:ln/>
        </p:spPr>
      </p:sp>
      <p:sp>
        <p:nvSpPr>
          <p:cNvPr id="45" name="Text 43"/>
          <p:cNvSpPr txBox="1"/>
          <p:nvPr/>
        </p:nvSpPr>
        <p:spPr>
          <a:xfrm>
            <a:off x="1104900" y="46101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Pannes et coupures</a:t>
            </a:r>
            <a:endParaRPr lang="en-US" sz="1400" dirty="0"/>
          </a:p>
        </p:txBody>
      </p:sp>
      <p:sp>
        <p:nvSpPr>
          <p:cNvPr id="46" name="Text 44"/>
          <p:cNvSpPr txBox="1"/>
          <p:nvPr/>
        </p:nvSpPr>
        <p:spPr>
          <a:xfrm>
            <a:off x="965200" y="50292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En cours et planifiées, avec un rappel</a:t>
            </a:r>
            <a:endParaRPr lang="en-US" sz="1200" dirty="0"/>
          </a:p>
        </p:txBody>
      </p:sp>
      <p:sp>
        <p:nvSpPr>
          <p:cNvPr id="47" name="Text 45"/>
          <p:cNvSpPr txBox="1"/>
          <p:nvPr/>
        </p:nvSpPr>
        <p:spPr>
          <a:xfrm>
            <a:off x="965200" y="55626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Hydro-Québec</a:t>
            </a:r>
            <a:endParaRPr lang="en-US" sz="1200" dirty="0"/>
          </a:p>
        </p:txBody>
      </p:sp>
      <p:sp>
        <p:nvSpPr>
          <p:cNvPr id="48" name="Pointes d’électricité"/>
          <p:cNvSpPr/>
          <p:nvPr/>
        </p:nvSpPr>
        <p:spPr>
          <a:xfrm>
            <a:off x="3498850" y="4495800"/>
            <a:ext cx="2508250" cy="1358900"/>
          </a:xfrm>
          <a:prstGeom prst="roundRect">
            <a:avLst>
              <a:gd name="adj" fmla="val 11215"/>
            </a:avLst>
          </a:prstGeom>
          <a:solidFill>
            <a:srgbClr val="F1F2EF"/>
          </a:solidFill>
          <a:ln/>
        </p:spPr>
      </p:sp>
      <p:sp>
        <p:nvSpPr>
          <p:cNvPr id="49" name="Shape 47"/>
          <p:cNvSpPr/>
          <p:nvPr/>
        </p:nvSpPr>
        <p:spPr>
          <a:xfrm>
            <a:off x="3651250" y="4660900"/>
            <a:ext cx="63500" cy="254000"/>
          </a:xfrm>
          <a:prstGeom prst="roundRect">
            <a:avLst>
              <a:gd name="adj" fmla="val 50000"/>
            </a:avLst>
          </a:prstGeom>
          <a:solidFill>
            <a:srgbClr val="B8336A"/>
          </a:solidFill>
          <a:ln/>
        </p:spPr>
      </p:sp>
      <p:sp>
        <p:nvSpPr>
          <p:cNvPr id="50" name="Text 48"/>
          <p:cNvSpPr txBox="1"/>
          <p:nvPr/>
        </p:nvSpPr>
        <p:spPr>
          <a:xfrm>
            <a:off x="3790950" y="46101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Pointes d’électricité</a:t>
            </a:r>
            <a:endParaRPr lang="en-US" sz="1400" dirty="0"/>
          </a:p>
        </p:txBody>
      </p:sp>
      <p:sp>
        <p:nvSpPr>
          <p:cNvPr id="51" name="Text 49"/>
          <p:cNvSpPr txBox="1"/>
          <p:nvPr/>
        </p:nvSpPr>
        <p:spPr>
          <a:xfrm>
            <a:off x="3651250" y="50292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La veille, pour Crédit hivernal ou Flex D</a:t>
            </a:r>
            <a:endParaRPr lang="en-US" sz="1200" dirty="0"/>
          </a:p>
        </p:txBody>
      </p:sp>
      <p:sp>
        <p:nvSpPr>
          <p:cNvPr id="52" name="Text 50"/>
          <p:cNvSpPr txBox="1"/>
          <p:nvPr/>
        </p:nvSpPr>
        <p:spPr>
          <a:xfrm>
            <a:off x="3651250" y="55626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Hydro-Québec</a:t>
            </a:r>
            <a:endParaRPr lang="en-US" sz="1200" dirty="0"/>
          </a:p>
        </p:txBody>
      </p:sp>
      <p:sp>
        <p:nvSpPr>
          <p:cNvPr id="53" name="Qualité de l’air"/>
          <p:cNvSpPr/>
          <p:nvPr/>
        </p:nvSpPr>
        <p:spPr>
          <a:xfrm>
            <a:off x="6184900" y="4495800"/>
            <a:ext cx="2508250" cy="1358900"/>
          </a:xfrm>
          <a:prstGeom prst="roundRect">
            <a:avLst>
              <a:gd name="adj" fmla="val 11215"/>
            </a:avLst>
          </a:prstGeom>
          <a:solidFill>
            <a:srgbClr val="F1F2EF"/>
          </a:solidFill>
          <a:ln/>
        </p:spPr>
      </p:sp>
      <p:sp>
        <p:nvSpPr>
          <p:cNvPr id="54" name="Shape 52"/>
          <p:cNvSpPr/>
          <p:nvPr/>
        </p:nvSpPr>
        <p:spPr>
          <a:xfrm>
            <a:off x="6337300" y="4660900"/>
            <a:ext cx="63500" cy="254000"/>
          </a:xfrm>
          <a:prstGeom prst="roundRect">
            <a:avLst>
              <a:gd name="adj" fmla="val 50000"/>
            </a:avLst>
          </a:prstGeom>
          <a:solidFill>
            <a:srgbClr val="2F7D6E"/>
          </a:solidFill>
          <a:ln/>
        </p:spPr>
      </p:sp>
      <p:sp>
        <p:nvSpPr>
          <p:cNvPr id="55" name="Text 53"/>
          <p:cNvSpPr txBox="1"/>
          <p:nvPr/>
        </p:nvSpPr>
        <p:spPr>
          <a:xfrm>
            <a:off x="6477000" y="46101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Qualité de l’air</a:t>
            </a:r>
            <a:endParaRPr lang="en-US" sz="1400" dirty="0"/>
          </a:p>
        </p:txBody>
      </p:sp>
      <p:sp>
        <p:nvSpPr>
          <p:cNvPr id="56" name="Text 54"/>
          <p:cNvSpPr txBox="1"/>
          <p:nvPr/>
        </p:nvSpPr>
        <p:spPr>
          <a:xfrm>
            <a:off x="6337300" y="50292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Seulement quand l’air est mauvais</a:t>
            </a:r>
            <a:endParaRPr lang="en-US" sz="1200" dirty="0"/>
          </a:p>
        </p:txBody>
      </p:sp>
      <p:sp>
        <p:nvSpPr>
          <p:cNvPr id="57" name="Text 55"/>
          <p:cNvSpPr txBox="1"/>
          <p:nvPr/>
        </p:nvSpPr>
        <p:spPr>
          <a:xfrm>
            <a:off x="6337300" y="55626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Ministère de l’Environnement</a:t>
            </a:r>
            <a:endParaRPr lang="en-US" sz="1200" dirty="0"/>
          </a:p>
        </p:txBody>
      </p:sp>
      <p:sp>
        <p:nvSpPr>
          <p:cNvPr id="58" name="Interdictions de feux"/>
          <p:cNvSpPr/>
          <p:nvPr/>
        </p:nvSpPr>
        <p:spPr>
          <a:xfrm>
            <a:off x="8870950" y="4495800"/>
            <a:ext cx="2508250" cy="1358900"/>
          </a:xfrm>
          <a:prstGeom prst="roundRect">
            <a:avLst>
              <a:gd name="adj" fmla="val 11215"/>
            </a:avLst>
          </a:prstGeom>
          <a:solidFill>
            <a:srgbClr val="F1F2EF"/>
          </a:solidFill>
          <a:ln/>
        </p:spPr>
      </p:sp>
      <p:sp>
        <p:nvSpPr>
          <p:cNvPr id="59" name="Shape 57"/>
          <p:cNvSpPr/>
          <p:nvPr/>
        </p:nvSpPr>
        <p:spPr>
          <a:xfrm>
            <a:off x="9023350" y="4660900"/>
            <a:ext cx="63500" cy="254000"/>
          </a:xfrm>
          <a:prstGeom prst="roundRect">
            <a:avLst>
              <a:gd name="adj" fmla="val 50000"/>
            </a:avLst>
          </a:prstGeom>
          <a:solidFill>
            <a:srgbClr val="C93630"/>
          </a:solidFill>
          <a:ln/>
        </p:spPr>
      </p:sp>
      <p:sp>
        <p:nvSpPr>
          <p:cNvPr id="60" name="Text 58"/>
          <p:cNvSpPr txBox="1"/>
          <p:nvPr/>
        </p:nvSpPr>
        <p:spPr>
          <a:xfrm>
            <a:off x="9163050" y="4610100"/>
            <a:ext cx="2127250" cy="381000"/>
          </a:xfrm>
          <a:prstGeom prst="rect">
            <a:avLst/>
          </a:prstGeom>
          <a:noFill/>
          <a:ln/>
        </p:spPr>
        <p:txBody>
          <a:bodyPr wrap="square" lIns="0" tIns="0" rIns="0" bIns="0" rtlCol="0" anchor="ctr"/>
          <a:lstStyle/>
          <a:p>
            <a:pPr marL="0" indent="0" algn="l">
              <a:lnSpc>
                <a:spcPct val="105000"/>
              </a:lnSpc>
              <a:buNone/>
            </a:pPr>
            <a:r>
              <a:rPr lang="en-US" sz="1400" b="1" dirty="0">
                <a:solidFill>
                  <a:srgbClr val="121417"/>
                </a:solidFill>
              </a:rPr>
              <a:t>Interdictions de feux</a:t>
            </a:r>
            <a:endParaRPr lang="en-US" sz="1400" dirty="0"/>
          </a:p>
        </p:txBody>
      </p:sp>
      <p:sp>
        <p:nvSpPr>
          <p:cNvPr id="61" name="Text 59"/>
          <p:cNvSpPr txBox="1"/>
          <p:nvPr/>
        </p:nvSpPr>
        <p:spPr>
          <a:xfrm>
            <a:off x="9023350" y="5029200"/>
            <a:ext cx="2228850" cy="4826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Seulement si ton secteur est touché</a:t>
            </a:r>
            <a:endParaRPr lang="en-US" sz="1200" dirty="0"/>
          </a:p>
        </p:txBody>
      </p:sp>
      <p:sp>
        <p:nvSpPr>
          <p:cNvPr id="62" name="Text 60"/>
          <p:cNvSpPr txBox="1"/>
          <p:nvPr/>
        </p:nvSpPr>
        <p:spPr>
          <a:xfrm>
            <a:off x="9023350" y="5562600"/>
            <a:ext cx="2228850" cy="2032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SOPFEU</a:t>
            </a:r>
            <a:endParaRPr lang="en-US" sz="1200" dirty="0"/>
          </a:p>
        </p:txBody>
      </p:sp>
      <p:sp>
        <p:nvSpPr>
          <p:cNvPr id="63"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 widget : sans même ouvrir l’app</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Le widget est sur ton écran d’accueil, et il change tout seul.</a:t>
            </a:r>
            <a:endParaRPr lang="en-US" sz="1600" dirty="0"/>
          </a:p>
        </p:txBody>
      </p:sp>
      <p:sp>
        <p:nvSpPr>
          <p:cNvPr id="4" name="Text 2"/>
          <p:cNvSpPr txBox="1"/>
          <p:nvPr/>
        </p:nvSpPr>
        <p:spPr>
          <a:xfrm>
            <a:off x="812800" y="1968500"/>
            <a:ext cx="5588000" cy="297180"/>
          </a:xfrm>
          <a:prstGeom prst="rect">
            <a:avLst/>
          </a:prstGeom>
          <a:noFill/>
          <a:ln/>
        </p:spPr>
        <p:txBody>
          <a:bodyPr wrap="square" lIns="0" tIns="0" rIns="0" bIns="0" rtlCol="0" anchor="t"/>
          <a:lstStyle/>
          <a:p>
            <a:pPr marL="0" indent="0" algn="l">
              <a:lnSpc>
                <a:spcPct val="120000"/>
              </a:lnSpc>
              <a:buNone/>
            </a:pPr>
            <a:r>
              <a:rPr lang="en-US" sz="1800" b="1" dirty="0">
                <a:solidFill>
                  <a:srgbClr val="121417"/>
                </a:solidFill>
              </a:rPr>
              <a:t>À la minute près</a:t>
            </a:r>
            <a:endParaRPr lang="en-US" sz="1800" dirty="0"/>
          </a:p>
        </p:txBody>
      </p:sp>
      <p:sp>
        <p:nvSpPr>
          <p:cNvPr id="5" name="Text 3"/>
          <p:cNvSpPr txBox="1"/>
          <p:nvPr/>
        </p:nvSpPr>
        <p:spPr>
          <a:xfrm>
            <a:off x="812800" y="2291080"/>
            <a:ext cx="5588000" cy="268224"/>
          </a:xfrm>
          <a:prstGeom prst="rect">
            <a:avLst/>
          </a:prstGeom>
          <a:noFill/>
          <a:ln/>
        </p:spPr>
        <p:txBody>
          <a:bodyPr wrap="square" lIns="0" tIns="0" rIns="0" bIns="0" rtlCol="0" anchor="t"/>
          <a:lstStyle/>
          <a:p>
            <a:pPr marL="0" indent="0" algn="l">
              <a:lnSpc>
                <a:spcPct val="128000"/>
              </a:lnSpc>
              <a:buNone/>
            </a:pPr>
            <a:r>
              <a:rPr lang="en-US" sz="1600" dirty="0">
                <a:solidFill>
                  <a:srgbClr val="4A5056"/>
                </a:solidFill>
              </a:rPr>
              <a:t>Le bus de 7 h 46 disparaît à 7 h 47.</a:t>
            </a:r>
            <a:endParaRPr lang="en-US" sz="1600" dirty="0"/>
          </a:p>
        </p:txBody>
      </p:sp>
      <p:sp>
        <p:nvSpPr>
          <p:cNvPr id="6" name="Text 4"/>
          <p:cNvSpPr txBox="1"/>
          <p:nvPr/>
        </p:nvSpPr>
        <p:spPr>
          <a:xfrm>
            <a:off x="812800" y="2775204"/>
            <a:ext cx="5588000" cy="297180"/>
          </a:xfrm>
          <a:prstGeom prst="rect">
            <a:avLst/>
          </a:prstGeom>
          <a:noFill/>
          <a:ln/>
        </p:spPr>
        <p:txBody>
          <a:bodyPr wrap="square" lIns="0" tIns="0" rIns="0" bIns="0" rtlCol="0" anchor="t"/>
          <a:lstStyle/>
          <a:p>
            <a:pPr marL="0" indent="0" algn="l">
              <a:lnSpc>
                <a:spcPct val="120000"/>
              </a:lnSpc>
              <a:buNone/>
            </a:pPr>
            <a:r>
              <a:rPr lang="en-US" sz="1800" b="1" dirty="0">
                <a:solidFill>
                  <a:srgbClr val="121417"/>
                </a:solidFill>
              </a:rPr>
              <a:t>Sept jours d’avance</a:t>
            </a:r>
            <a:endParaRPr lang="en-US" sz="1800" dirty="0"/>
          </a:p>
        </p:txBody>
      </p:sp>
      <p:sp>
        <p:nvSpPr>
          <p:cNvPr id="7" name="Text 5"/>
          <p:cNvSpPr txBox="1"/>
          <p:nvPr/>
        </p:nvSpPr>
        <p:spPr>
          <a:xfrm>
            <a:off x="812800" y="3097784"/>
            <a:ext cx="5588000" cy="268224"/>
          </a:xfrm>
          <a:prstGeom prst="rect">
            <a:avLst/>
          </a:prstGeom>
          <a:noFill/>
          <a:ln/>
        </p:spPr>
        <p:txBody>
          <a:bodyPr wrap="square" lIns="0" tIns="0" rIns="0" bIns="0" rtlCol="0" anchor="t"/>
          <a:lstStyle/>
          <a:p>
            <a:pPr marL="0" indent="0" algn="l">
              <a:lnSpc>
                <a:spcPct val="128000"/>
              </a:lnSpc>
              <a:buNone/>
            </a:pPr>
            <a:r>
              <a:rPr lang="en-US" sz="1600" dirty="0">
                <a:solidFill>
                  <a:srgbClr val="4A5056"/>
                </a:solidFill>
              </a:rPr>
              <a:t>Il connaît la semaine, même sans réseau.</a:t>
            </a:r>
            <a:endParaRPr lang="en-US" sz="1600" dirty="0"/>
          </a:p>
        </p:txBody>
      </p:sp>
      <p:sp>
        <p:nvSpPr>
          <p:cNvPr id="8" name="Text 6"/>
          <p:cNvSpPr txBox="1"/>
          <p:nvPr/>
        </p:nvSpPr>
        <p:spPr>
          <a:xfrm>
            <a:off x="812800" y="3581908"/>
            <a:ext cx="5588000" cy="297180"/>
          </a:xfrm>
          <a:prstGeom prst="rect">
            <a:avLst/>
          </a:prstGeom>
          <a:noFill/>
          <a:ln/>
        </p:spPr>
        <p:txBody>
          <a:bodyPr wrap="square" lIns="0" tIns="0" rIns="0" bIns="0" rtlCol="0" anchor="t"/>
          <a:lstStyle/>
          <a:p>
            <a:pPr marL="0" indent="0" algn="l">
              <a:lnSpc>
                <a:spcPct val="120000"/>
              </a:lnSpc>
              <a:buNone/>
            </a:pPr>
            <a:r>
              <a:rPr lang="en-US" sz="1800" b="1" dirty="0">
                <a:solidFill>
                  <a:srgbClr val="121417"/>
                </a:solidFill>
              </a:rPr>
              <a:t>Un toucher, la bonne fiche</a:t>
            </a:r>
            <a:endParaRPr lang="en-US" sz="1800" dirty="0"/>
          </a:p>
        </p:txBody>
      </p:sp>
      <p:sp>
        <p:nvSpPr>
          <p:cNvPr id="9" name="Text 7"/>
          <p:cNvSpPr txBox="1"/>
          <p:nvPr/>
        </p:nvSpPr>
        <p:spPr>
          <a:xfrm>
            <a:off x="812800" y="3904488"/>
            <a:ext cx="5588000" cy="268224"/>
          </a:xfrm>
          <a:prstGeom prst="rect">
            <a:avLst/>
          </a:prstGeom>
          <a:noFill/>
          <a:ln/>
        </p:spPr>
        <p:txBody>
          <a:bodyPr wrap="square" lIns="0" tIns="0" rIns="0" bIns="0" rtlCol="0" anchor="t"/>
          <a:lstStyle/>
          <a:p>
            <a:pPr marL="0" indent="0" algn="l">
              <a:lnSpc>
                <a:spcPct val="128000"/>
              </a:lnSpc>
              <a:buNone/>
            </a:pPr>
            <a:r>
              <a:rPr lang="en-US" sz="1600" dirty="0">
                <a:solidFill>
                  <a:srgbClr val="4A5056"/>
                </a:solidFill>
              </a:rPr>
              <a:t>Il ouvre directement le détail de ce qu’il affiche.</a:t>
            </a:r>
            <a:endParaRPr lang="en-US" sz="1600" dirty="0"/>
          </a:p>
        </p:txBody>
      </p:sp>
      <p:sp>
        <p:nvSpPr>
          <p:cNvPr id="10" name="Text 8"/>
          <p:cNvSpPr txBox="1"/>
          <p:nvPr/>
        </p:nvSpPr>
        <p:spPr>
          <a:xfrm>
            <a:off x="812800" y="4388612"/>
            <a:ext cx="5588000" cy="297180"/>
          </a:xfrm>
          <a:prstGeom prst="rect">
            <a:avLst/>
          </a:prstGeom>
          <a:noFill/>
          <a:ln/>
        </p:spPr>
        <p:txBody>
          <a:bodyPr wrap="square" lIns="0" tIns="0" rIns="0" bIns="0" rtlCol="0" anchor="t"/>
          <a:lstStyle/>
          <a:p>
            <a:pPr marL="0" indent="0" algn="l">
              <a:lnSpc>
                <a:spcPct val="120000"/>
              </a:lnSpc>
              <a:buNone/>
            </a:pPr>
            <a:r>
              <a:rPr lang="en-US" sz="1800" b="1" dirty="0">
                <a:solidFill>
                  <a:srgbClr val="121417"/>
                </a:solidFill>
              </a:rPr>
              <a:t>Android et iPhone</a:t>
            </a:r>
            <a:endParaRPr lang="en-US" sz="1800" dirty="0"/>
          </a:p>
        </p:txBody>
      </p:sp>
      <p:sp>
        <p:nvSpPr>
          <p:cNvPr id="11" name="Text 9"/>
          <p:cNvSpPr txBox="1"/>
          <p:nvPr/>
        </p:nvSpPr>
        <p:spPr>
          <a:xfrm>
            <a:off x="812800" y="4711192"/>
            <a:ext cx="5588000" cy="268224"/>
          </a:xfrm>
          <a:prstGeom prst="rect">
            <a:avLst/>
          </a:prstGeom>
          <a:noFill/>
          <a:ln/>
        </p:spPr>
        <p:txBody>
          <a:bodyPr wrap="square" lIns="0" tIns="0" rIns="0" bIns="0" rtlCol="0" anchor="t"/>
          <a:lstStyle/>
          <a:p>
            <a:pPr marL="0" indent="0" algn="l">
              <a:lnSpc>
                <a:spcPct val="128000"/>
              </a:lnSpc>
              <a:buNone/>
            </a:pPr>
            <a:r>
              <a:rPr lang="en-US" sz="1600" dirty="0">
                <a:solidFill>
                  <a:srgbClr val="4A5056"/>
                </a:solidFill>
              </a:rPr>
              <a:t>Trois tailles, et l’écran verrouillé sur iPhone.</a:t>
            </a:r>
            <a:endParaRPr lang="en-US" sz="1600" dirty="0"/>
          </a:p>
        </p:txBody>
      </p:sp>
      <p:sp>
        <p:nvSpPr>
          <p:cNvPr id="12" name="bord c_widget"/>
          <p:cNvSpPr/>
          <p:nvPr/>
        </p:nvSpPr>
        <p:spPr>
          <a:xfrm>
            <a:off x="6711950" y="1885950"/>
            <a:ext cx="4686300" cy="2792589"/>
          </a:xfrm>
          <a:prstGeom prst="roundRect">
            <a:avLst>
              <a:gd name="adj" fmla="val 6822"/>
            </a:avLst>
          </a:prstGeom>
          <a:solidFill>
            <a:srgbClr val="D8DAD4"/>
          </a:solidFill>
          <a:ln/>
        </p:spPr>
      </p:sp>
      <p:pic>
        <p:nvPicPr>
          <p:cNvPr id="13" name="Image 0" descr="Capture de l’app : Le vrai widget, en direct, sur un écran d’accueil Android"/>
          <p:cNvPicPr>
            <a:picLocks noChangeAspect="1"/>
          </p:cNvPicPr>
          <p:nvPr/>
        </p:nvPicPr>
        <p:blipFill>
          <a:blip r:embed="rId3"/>
          <a:stretch>
            <a:fillRect/>
          </a:stretch>
        </p:blipFill>
        <p:spPr>
          <a:xfrm>
            <a:off x="6731000" y="1905000"/>
            <a:ext cx="4648200" cy="2754489"/>
          </a:xfrm>
          <a:prstGeom prst="rect">
            <a:avLst/>
          </a:prstGeom>
        </p:spPr>
      </p:pic>
      <p:sp>
        <p:nvSpPr>
          <p:cNvPr id="14" name="Text 11"/>
          <p:cNvSpPr txBox="1"/>
          <p:nvPr/>
        </p:nvSpPr>
        <p:spPr>
          <a:xfrm>
            <a:off x="6731000" y="4735689"/>
            <a:ext cx="46482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Le vrai widget, en direct, sur un écran d’accueil Android</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Ce qui compte passe en premier, selon l’heure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Une seule grande carte en haut : la plus importante, maintenant, pour ton adresse.</a:t>
            </a:r>
            <a:endParaRPr lang="en-US" sz="1600" dirty="0"/>
          </a:p>
        </p:txBody>
      </p:sp>
      <p:sp>
        <p:nvSpPr>
          <p:cNvPr id="4" name="bord c_ebullition"/>
          <p:cNvSpPr/>
          <p:nvPr/>
        </p:nvSpPr>
        <p:spPr>
          <a:xfrm>
            <a:off x="793750" y="1822450"/>
            <a:ext cx="2546350" cy="3521781"/>
          </a:xfrm>
          <a:prstGeom prst="roundRect">
            <a:avLst>
              <a:gd name="adj" fmla="val 7481"/>
            </a:avLst>
          </a:prstGeom>
          <a:solidFill>
            <a:srgbClr val="D8DAD4"/>
          </a:solidFill>
          <a:ln/>
        </p:spPr>
      </p:sp>
      <p:pic>
        <p:nvPicPr>
          <p:cNvPr id="5" name="Image 0" descr="Capture de l’app : Avis d’eau : ça passe avant tout le reste"/>
          <p:cNvPicPr>
            <a:picLocks noChangeAspect="1"/>
          </p:cNvPicPr>
          <p:nvPr/>
        </p:nvPicPr>
        <p:blipFill>
          <a:blip r:embed="rId3"/>
          <a:stretch>
            <a:fillRect/>
          </a:stretch>
        </p:blipFill>
        <p:spPr>
          <a:xfrm>
            <a:off x="812800" y="1841500"/>
            <a:ext cx="2508250" cy="3483681"/>
          </a:xfrm>
          <a:prstGeom prst="rect">
            <a:avLst/>
          </a:prstGeom>
        </p:spPr>
      </p:pic>
      <p:sp>
        <p:nvSpPr>
          <p:cNvPr id="6" name="Text 3"/>
          <p:cNvSpPr txBox="1"/>
          <p:nvPr/>
        </p:nvSpPr>
        <p:spPr>
          <a:xfrm>
            <a:off x="81280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Avis d’eau : ça passe avant tout le reste</a:t>
            </a:r>
            <a:endParaRPr lang="en-US" sz="1200" dirty="0"/>
          </a:p>
        </p:txBody>
      </p:sp>
      <p:sp>
        <p:nvSpPr>
          <p:cNvPr id="7" name="bord c_stationnement"/>
          <p:cNvSpPr/>
          <p:nvPr/>
        </p:nvSpPr>
        <p:spPr>
          <a:xfrm>
            <a:off x="3479800" y="1822450"/>
            <a:ext cx="2546350" cy="3521781"/>
          </a:xfrm>
          <a:prstGeom prst="roundRect">
            <a:avLst>
              <a:gd name="adj" fmla="val 7481"/>
            </a:avLst>
          </a:prstGeom>
          <a:solidFill>
            <a:srgbClr val="D8DAD4"/>
          </a:solidFill>
          <a:ln/>
        </p:spPr>
      </p:sp>
      <p:pic>
        <p:nvPicPr>
          <p:cNvPr id="8" name="Image 1" descr="Capture de l’app : 21 h 30, en hiver : l’auto hors de la rue"/>
          <p:cNvPicPr>
            <a:picLocks noChangeAspect="1"/>
          </p:cNvPicPr>
          <p:nvPr/>
        </p:nvPicPr>
        <p:blipFill>
          <a:blip r:embed="rId4"/>
          <a:stretch>
            <a:fillRect/>
          </a:stretch>
        </p:blipFill>
        <p:spPr>
          <a:xfrm>
            <a:off x="3498850" y="1841500"/>
            <a:ext cx="2508250" cy="3483681"/>
          </a:xfrm>
          <a:prstGeom prst="rect">
            <a:avLst/>
          </a:prstGeom>
        </p:spPr>
      </p:pic>
      <p:sp>
        <p:nvSpPr>
          <p:cNvPr id="9" name="Text 5"/>
          <p:cNvSpPr txBox="1"/>
          <p:nvPr/>
        </p:nvSpPr>
        <p:spPr>
          <a:xfrm>
            <a:off x="349885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21 h 30, en hiver : l’auto hors de la rue</a:t>
            </a:r>
            <a:endParaRPr lang="en-US" sz="1200" dirty="0"/>
          </a:p>
        </p:txBody>
      </p:sp>
      <p:sp>
        <p:nvSpPr>
          <p:cNvPr id="10" name="bord c_veille"/>
          <p:cNvSpPr/>
          <p:nvPr/>
        </p:nvSpPr>
        <p:spPr>
          <a:xfrm>
            <a:off x="6165850" y="1822450"/>
            <a:ext cx="2546350" cy="3521781"/>
          </a:xfrm>
          <a:prstGeom prst="roundRect">
            <a:avLst>
              <a:gd name="adj" fmla="val 7481"/>
            </a:avLst>
          </a:prstGeom>
          <a:solidFill>
            <a:srgbClr val="D8DAD4"/>
          </a:solidFill>
          <a:ln/>
        </p:spPr>
      </p:sp>
      <p:pic>
        <p:nvPicPr>
          <p:cNvPr id="11" name="Image 2" descr="Capture de l’app : La veille de la collecte : sors le bac"/>
          <p:cNvPicPr>
            <a:picLocks noChangeAspect="1"/>
          </p:cNvPicPr>
          <p:nvPr/>
        </p:nvPicPr>
        <p:blipFill>
          <a:blip r:embed="rId5"/>
          <a:stretch>
            <a:fillRect/>
          </a:stretch>
        </p:blipFill>
        <p:spPr>
          <a:xfrm>
            <a:off x="6184900" y="1841500"/>
            <a:ext cx="2508250" cy="3483681"/>
          </a:xfrm>
          <a:prstGeom prst="rect">
            <a:avLst/>
          </a:prstGeom>
        </p:spPr>
      </p:pic>
      <p:sp>
        <p:nvSpPr>
          <p:cNvPr id="12" name="Text 7"/>
          <p:cNvSpPr txBox="1"/>
          <p:nvPr/>
        </p:nvSpPr>
        <p:spPr>
          <a:xfrm>
            <a:off x="618490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La veille de la collecte : sors le bac</a:t>
            </a:r>
            <a:endParaRPr lang="en-US" sz="1200" dirty="0"/>
          </a:p>
        </p:txBody>
      </p:sp>
      <p:sp>
        <p:nvSpPr>
          <p:cNvPr id="13" name="bord c_bus"/>
          <p:cNvSpPr/>
          <p:nvPr/>
        </p:nvSpPr>
        <p:spPr>
          <a:xfrm>
            <a:off x="8851900" y="1822450"/>
            <a:ext cx="2546350" cy="3521781"/>
          </a:xfrm>
          <a:prstGeom prst="roundRect">
            <a:avLst>
              <a:gd name="adj" fmla="val 7481"/>
            </a:avLst>
          </a:prstGeom>
          <a:solidFill>
            <a:srgbClr val="D8DAD4"/>
          </a:solidFill>
          <a:ln/>
        </p:spPr>
      </p:sp>
      <p:pic>
        <p:nvPicPr>
          <p:cNvPr id="14" name="Image 3" descr="Capture de l’app : 7 h 35 : ton bus, quand tu pars"/>
          <p:cNvPicPr>
            <a:picLocks noChangeAspect="1"/>
          </p:cNvPicPr>
          <p:nvPr/>
        </p:nvPicPr>
        <p:blipFill>
          <a:blip r:embed="rId6"/>
          <a:stretch>
            <a:fillRect/>
          </a:stretch>
        </p:blipFill>
        <p:spPr>
          <a:xfrm>
            <a:off x="8870950" y="1841500"/>
            <a:ext cx="2508250" cy="3483681"/>
          </a:xfrm>
          <a:prstGeom prst="rect">
            <a:avLst/>
          </a:prstGeom>
        </p:spPr>
      </p:pic>
      <p:sp>
        <p:nvSpPr>
          <p:cNvPr id="15" name="Text 9"/>
          <p:cNvSpPr txBox="1"/>
          <p:nvPr/>
        </p:nvSpPr>
        <p:spPr>
          <a:xfrm>
            <a:off x="887095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7 h 35 : ton bus, quand tu pars</a:t>
            </a:r>
            <a:endParaRPr lang="en-US" sz="1200" dirty="0"/>
          </a:p>
        </p:txBody>
      </p:sp>
      <p:sp>
        <p:nvSpPr>
          <p:cNvPr id="16" name="Text 10"/>
          <p:cNvSpPr txBox="1"/>
          <p:nvPr/>
        </p:nvSpPr>
        <p:spPr>
          <a:xfrm>
            <a:off x="1778000" y="6286500"/>
            <a:ext cx="889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Vraies captures de l’app, en mode démonstration.</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Elle te prévient, même fermée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Elle relit les sources toutes les heures et te fait signe avant que ça arrive.</a:t>
            </a:r>
            <a:endParaRPr lang="en-US" sz="1600" dirty="0"/>
          </a:p>
        </p:txBody>
      </p:sp>
      <p:sp>
        <p:nvSpPr>
          <p:cNvPr id="4" name="bord c_tempete"/>
          <p:cNvSpPr/>
          <p:nvPr/>
        </p:nvSpPr>
        <p:spPr>
          <a:xfrm>
            <a:off x="793750" y="1822450"/>
            <a:ext cx="2546350" cy="3521781"/>
          </a:xfrm>
          <a:prstGeom prst="roundRect">
            <a:avLst>
              <a:gd name="adj" fmla="val 7481"/>
            </a:avLst>
          </a:prstGeom>
          <a:solidFill>
            <a:srgbClr val="D8DAD4"/>
          </a:solidFill>
          <a:ln/>
        </p:spPr>
      </p:sp>
      <p:pic>
        <p:nvPicPr>
          <p:cNvPr id="5" name="Image 0" descr="Capture de l’app : La tempête, avec la neige qui tombe sur la carte"/>
          <p:cNvPicPr>
            <a:picLocks noChangeAspect="1"/>
          </p:cNvPicPr>
          <p:nvPr/>
        </p:nvPicPr>
        <p:blipFill>
          <a:blip r:embed="rId3"/>
          <a:stretch>
            <a:fillRect/>
          </a:stretch>
        </p:blipFill>
        <p:spPr>
          <a:xfrm>
            <a:off x="812800" y="1841500"/>
            <a:ext cx="2508250" cy="3483681"/>
          </a:xfrm>
          <a:prstGeom prst="rect">
            <a:avLst/>
          </a:prstGeom>
        </p:spPr>
      </p:pic>
      <p:sp>
        <p:nvSpPr>
          <p:cNvPr id="6" name="Text 3"/>
          <p:cNvSpPr txBox="1"/>
          <p:nvPr/>
        </p:nvSpPr>
        <p:spPr>
          <a:xfrm>
            <a:off x="81280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La tempête, avec la neige qui tombe sur la carte</a:t>
            </a:r>
            <a:endParaRPr lang="en-US" sz="1200" dirty="0"/>
          </a:p>
        </p:txBody>
      </p:sp>
      <p:sp>
        <p:nvSpPr>
          <p:cNvPr id="7" name="bord c_coupure"/>
          <p:cNvSpPr/>
          <p:nvPr/>
        </p:nvSpPr>
        <p:spPr>
          <a:xfrm>
            <a:off x="3479800" y="1822450"/>
            <a:ext cx="2546350" cy="3521781"/>
          </a:xfrm>
          <a:prstGeom prst="roundRect">
            <a:avLst>
              <a:gd name="adj" fmla="val 7481"/>
            </a:avLst>
          </a:prstGeom>
          <a:solidFill>
            <a:srgbClr val="D8DAD4"/>
          </a:solidFill>
          <a:ln/>
        </p:spPr>
      </p:sp>
      <p:pic>
        <p:nvPicPr>
          <p:cNvPr id="8" name="Image 1" descr="Capture de l’app : La coupure de courant, la veille"/>
          <p:cNvPicPr>
            <a:picLocks noChangeAspect="1"/>
          </p:cNvPicPr>
          <p:nvPr/>
        </p:nvPicPr>
        <p:blipFill>
          <a:blip r:embed="rId4"/>
          <a:stretch>
            <a:fillRect/>
          </a:stretch>
        </p:blipFill>
        <p:spPr>
          <a:xfrm>
            <a:off x="3498850" y="1841500"/>
            <a:ext cx="2508250" cy="3483681"/>
          </a:xfrm>
          <a:prstGeom prst="rect">
            <a:avLst/>
          </a:prstGeom>
        </p:spPr>
      </p:pic>
      <p:sp>
        <p:nvSpPr>
          <p:cNvPr id="9" name="Text 5"/>
          <p:cNvSpPr txBox="1"/>
          <p:nvPr/>
        </p:nvSpPr>
        <p:spPr>
          <a:xfrm>
            <a:off x="3498850" y="5401381"/>
            <a:ext cx="250825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La coupure de courant, la veille</a:t>
            </a:r>
            <a:endParaRPr lang="en-US" sz="1200" dirty="0"/>
          </a:p>
        </p:txBody>
      </p:sp>
      <p:sp>
        <p:nvSpPr>
          <p:cNvPr id="10" name="Text 6"/>
          <p:cNvSpPr txBox="1"/>
          <p:nvPr/>
        </p:nvSpPr>
        <p:spPr>
          <a:xfrm>
            <a:off x="6413500" y="1841500"/>
            <a:ext cx="4965700" cy="26416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Des rappels qui sonnent sans réseau</a:t>
            </a:r>
            <a:endParaRPr lang="en-US" sz="1600" dirty="0"/>
          </a:p>
        </p:txBody>
      </p:sp>
      <p:sp>
        <p:nvSpPr>
          <p:cNvPr id="11" name="Text 7"/>
          <p:cNvSpPr txBox="1"/>
          <p:nvPr/>
        </p:nvSpPr>
        <p:spPr>
          <a:xfrm>
            <a:off x="6413500" y="2131060"/>
            <a:ext cx="4965700" cy="469392"/>
          </a:xfrm>
          <a:prstGeom prst="rect">
            <a:avLst/>
          </a:prstGeom>
          <a:noFill/>
          <a:ln/>
        </p:spPr>
        <p:txBody>
          <a:bodyPr wrap="square" lIns="0" tIns="0" rIns="0" bIns="0" rtlCol="0" anchor="t"/>
          <a:lstStyle/>
          <a:p>
            <a:pPr marL="0" indent="0" algn="l">
              <a:lnSpc>
                <a:spcPct val="128000"/>
              </a:lnSpc>
              <a:buNone/>
            </a:pPr>
            <a:r>
              <a:rPr lang="en-US" sz="1400" dirty="0">
                <a:solidFill>
                  <a:srgbClr val="4A5056"/>
                </a:solidFill>
              </a:rPr>
              <a:t>Le bac, le stationnement, les travaux, « Ta semaine » le dimanche à 18 h.</a:t>
            </a:r>
            <a:endParaRPr lang="en-US" sz="1400" dirty="0"/>
          </a:p>
        </p:txBody>
      </p:sp>
      <p:sp>
        <p:nvSpPr>
          <p:cNvPr id="12" name="Text 8"/>
          <p:cNvSpPr txBox="1"/>
          <p:nvPr/>
        </p:nvSpPr>
        <p:spPr>
          <a:xfrm>
            <a:off x="6413500" y="2790952"/>
            <a:ext cx="4965700" cy="26416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Des alertes app fermée</a:t>
            </a:r>
            <a:endParaRPr lang="en-US" sz="1600" dirty="0"/>
          </a:p>
        </p:txBody>
      </p:sp>
      <p:sp>
        <p:nvSpPr>
          <p:cNvPr id="13" name="Text 9"/>
          <p:cNvSpPr txBox="1"/>
          <p:nvPr/>
        </p:nvSpPr>
        <p:spPr>
          <a:xfrm>
            <a:off x="6413500" y="3080512"/>
            <a:ext cx="4965700" cy="234696"/>
          </a:xfrm>
          <a:prstGeom prst="rect">
            <a:avLst/>
          </a:prstGeom>
          <a:noFill/>
          <a:ln/>
        </p:spPr>
        <p:txBody>
          <a:bodyPr wrap="square" lIns="0" tIns="0" rIns="0" bIns="0" rtlCol="0" anchor="t"/>
          <a:lstStyle/>
          <a:p>
            <a:pPr marL="0" indent="0" algn="l">
              <a:lnSpc>
                <a:spcPct val="128000"/>
              </a:lnSpc>
              <a:buNone/>
            </a:pPr>
            <a:r>
              <a:rPr lang="en-US" sz="1400" dirty="0">
                <a:solidFill>
                  <a:srgbClr val="4A5056"/>
                </a:solidFill>
              </a:rPr>
              <a:t>Avis d’eau, alerte météo, panne, air mauvais.</a:t>
            </a:r>
            <a:endParaRPr lang="en-US" sz="1400" dirty="0"/>
          </a:p>
        </p:txBody>
      </p:sp>
      <p:sp>
        <p:nvSpPr>
          <p:cNvPr id="14" name="Text 10"/>
          <p:cNvSpPr txBox="1"/>
          <p:nvPr/>
        </p:nvSpPr>
        <p:spPr>
          <a:xfrm>
            <a:off x="6413500" y="3505708"/>
            <a:ext cx="4965700" cy="26416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Des nuits tranquilles</a:t>
            </a:r>
            <a:endParaRPr lang="en-US" sz="1600" dirty="0"/>
          </a:p>
        </p:txBody>
      </p:sp>
      <p:sp>
        <p:nvSpPr>
          <p:cNvPr id="15" name="Text 11"/>
          <p:cNvSpPr txBox="1"/>
          <p:nvPr/>
        </p:nvSpPr>
        <p:spPr>
          <a:xfrm>
            <a:off x="6413500" y="3795268"/>
            <a:ext cx="4965700" cy="469392"/>
          </a:xfrm>
          <a:prstGeom prst="rect">
            <a:avLst/>
          </a:prstGeom>
          <a:noFill/>
          <a:ln/>
        </p:spPr>
        <p:txBody>
          <a:bodyPr wrap="square" lIns="0" tIns="0" rIns="0" bIns="0" rtlCol="0" anchor="t"/>
          <a:lstStyle/>
          <a:p>
            <a:pPr marL="0" indent="0" algn="l">
              <a:lnSpc>
                <a:spcPct val="128000"/>
              </a:lnSpc>
              <a:buNone/>
            </a:pPr>
            <a:r>
              <a:rPr lang="en-US" sz="1400" dirty="0">
                <a:solidFill>
                  <a:srgbClr val="4A5056"/>
                </a:solidFill>
              </a:rPr>
              <a:t>Heures calmes de 22 h à 7 h, sauf pour un avis d’ébullition.</a:t>
            </a:r>
            <a:endParaRPr lang="en-US" sz="1400" dirty="0"/>
          </a:p>
        </p:txBody>
      </p:sp>
      <p:sp>
        <p:nvSpPr>
          <p:cNvPr id="16" name="Text 12"/>
          <p:cNvSpPr txBox="1"/>
          <p:nvPr/>
        </p:nvSpPr>
        <p:spPr>
          <a:xfrm>
            <a:off x="1778000" y="6286500"/>
            <a:ext cx="889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Vraies captures de l’app.</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Les travaux, les voies fermées et les routes</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Tu sais avant de partir : rue fermée, à contresens, détour, état de la 175.</a:t>
            </a:r>
            <a:endParaRPr lang="en-US" sz="1600" dirty="0"/>
          </a:p>
        </p:txBody>
      </p:sp>
      <p:sp>
        <p:nvSpPr>
          <p:cNvPr id="4" name="bord c_travaux"/>
          <p:cNvSpPr/>
          <p:nvPr/>
        </p:nvSpPr>
        <p:spPr>
          <a:xfrm>
            <a:off x="793750" y="1822450"/>
            <a:ext cx="3086100" cy="3706989"/>
          </a:xfrm>
          <a:prstGeom prst="roundRect">
            <a:avLst>
              <a:gd name="adj" fmla="val 6173"/>
            </a:avLst>
          </a:prstGeom>
          <a:solidFill>
            <a:srgbClr val="D8DAD4"/>
          </a:solidFill>
          <a:ln/>
        </p:spPr>
      </p:sp>
      <p:pic>
        <p:nvPicPr>
          <p:cNvPr id="5" name="Image 0" descr="Capture de l’app : Sur ta route, ce matin"/>
          <p:cNvPicPr>
            <a:picLocks noChangeAspect="1"/>
          </p:cNvPicPr>
          <p:nvPr/>
        </p:nvPicPr>
        <p:blipFill>
          <a:blip r:embed="rId3"/>
          <a:stretch>
            <a:fillRect/>
          </a:stretch>
        </p:blipFill>
        <p:spPr>
          <a:xfrm>
            <a:off x="812800" y="1841500"/>
            <a:ext cx="3048000" cy="3668889"/>
          </a:xfrm>
          <a:prstGeom prst="rect">
            <a:avLst/>
          </a:prstGeom>
        </p:spPr>
      </p:pic>
      <p:sp>
        <p:nvSpPr>
          <p:cNvPr id="6" name="Text 3"/>
          <p:cNvSpPr txBox="1"/>
          <p:nvPr/>
        </p:nvSpPr>
        <p:spPr>
          <a:xfrm>
            <a:off x="812800" y="5586589"/>
            <a:ext cx="3048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Sur ta route, ce matin</a:t>
            </a:r>
            <a:endParaRPr lang="en-US" sz="1200" dirty="0"/>
          </a:p>
        </p:txBody>
      </p:sp>
      <p:sp>
        <p:nvSpPr>
          <p:cNvPr id="7" name="bord c_voies"/>
          <p:cNvSpPr/>
          <p:nvPr/>
        </p:nvSpPr>
        <p:spPr>
          <a:xfrm>
            <a:off x="4019550" y="1822450"/>
            <a:ext cx="4102100" cy="2897952"/>
          </a:xfrm>
          <a:prstGeom prst="roundRect">
            <a:avLst>
              <a:gd name="adj" fmla="val 6574"/>
            </a:avLst>
          </a:prstGeom>
          <a:solidFill>
            <a:srgbClr val="D8DAD4"/>
          </a:solidFill>
          <a:ln/>
        </p:spPr>
      </p:sp>
      <p:pic>
        <p:nvPicPr>
          <p:cNvPr id="8" name="Image 1" descr="Capture de l’app : Les chantiers et les voies fermées près de chez toi, en direct"/>
          <p:cNvPicPr>
            <a:picLocks noChangeAspect="1"/>
          </p:cNvPicPr>
          <p:nvPr/>
        </p:nvPicPr>
        <p:blipFill>
          <a:blip r:embed="rId4"/>
          <a:stretch>
            <a:fillRect/>
          </a:stretch>
        </p:blipFill>
        <p:spPr>
          <a:xfrm>
            <a:off x="4038600" y="1841500"/>
            <a:ext cx="4064000" cy="2859852"/>
          </a:xfrm>
          <a:prstGeom prst="rect">
            <a:avLst/>
          </a:prstGeom>
        </p:spPr>
      </p:pic>
      <p:sp>
        <p:nvSpPr>
          <p:cNvPr id="9" name="Text 5"/>
          <p:cNvSpPr txBox="1"/>
          <p:nvPr/>
        </p:nvSpPr>
        <p:spPr>
          <a:xfrm>
            <a:off x="4038600" y="4777552"/>
            <a:ext cx="4064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Les chantiers et les voies fermées près de chez toi, en direct</a:t>
            </a:r>
            <a:endParaRPr lang="en-US" sz="1200" dirty="0"/>
          </a:p>
        </p:txBody>
      </p:sp>
      <p:sp>
        <p:nvSpPr>
          <p:cNvPr id="10" name="bord c_routes"/>
          <p:cNvSpPr/>
          <p:nvPr/>
        </p:nvSpPr>
        <p:spPr>
          <a:xfrm>
            <a:off x="8261350" y="1822450"/>
            <a:ext cx="3136900" cy="3768137"/>
          </a:xfrm>
          <a:prstGeom prst="roundRect">
            <a:avLst>
              <a:gd name="adj" fmla="val 6073"/>
            </a:avLst>
          </a:prstGeom>
          <a:solidFill>
            <a:srgbClr val="D8DAD4"/>
          </a:solidFill>
          <a:ln/>
        </p:spPr>
      </p:sp>
      <p:pic>
        <p:nvPicPr>
          <p:cNvPr id="11" name="Image 2" descr="Capture de l’app : Les routes, tronçon par tronçon"/>
          <p:cNvPicPr>
            <a:picLocks noChangeAspect="1"/>
          </p:cNvPicPr>
          <p:nvPr/>
        </p:nvPicPr>
        <p:blipFill>
          <a:blip r:embed="rId5"/>
          <a:stretch>
            <a:fillRect/>
          </a:stretch>
        </p:blipFill>
        <p:spPr>
          <a:xfrm>
            <a:off x="8280400" y="1841500"/>
            <a:ext cx="3098800" cy="3730037"/>
          </a:xfrm>
          <a:prstGeom prst="rect">
            <a:avLst/>
          </a:prstGeom>
        </p:spPr>
      </p:pic>
      <p:sp>
        <p:nvSpPr>
          <p:cNvPr id="12" name="Text 7"/>
          <p:cNvSpPr txBox="1"/>
          <p:nvPr/>
        </p:nvSpPr>
        <p:spPr>
          <a:xfrm>
            <a:off x="8280400" y="5647737"/>
            <a:ext cx="30988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Les routes, tronçon par tronçon</a:t>
            </a:r>
            <a:endParaRPr lang="en-US" sz="1200" dirty="0"/>
          </a:p>
        </p:txBody>
      </p:sp>
      <p:sp>
        <p:nvSpPr>
          <p:cNvPr id="13" name="rappel"/>
          <p:cNvSpPr/>
          <p:nvPr/>
        </p:nvSpPr>
        <p:spPr>
          <a:xfrm>
            <a:off x="4038600" y="5334000"/>
            <a:ext cx="4064000" cy="419100"/>
          </a:xfrm>
          <a:prstGeom prst="roundRect">
            <a:avLst>
              <a:gd name="adj" fmla="val 30303"/>
            </a:avLst>
          </a:prstGeom>
          <a:solidFill>
            <a:srgbClr val="FFD02B"/>
          </a:solidFill>
          <a:ln/>
        </p:spPr>
      </p:sp>
      <p:sp>
        <p:nvSpPr>
          <p:cNvPr id="14" name="Text 9"/>
          <p:cNvSpPr txBox="1"/>
          <p:nvPr/>
        </p:nvSpPr>
        <p:spPr>
          <a:xfrm>
            <a:off x="4038600" y="5334000"/>
            <a:ext cx="4064000" cy="419100"/>
          </a:xfrm>
          <a:prstGeom prst="rect">
            <a:avLst/>
          </a:prstGeom>
          <a:noFill/>
          <a:ln/>
        </p:spPr>
        <p:txBody>
          <a:bodyPr wrap="square" lIns="0" tIns="0" rIns="0" bIns="0" rtlCol="0" anchor="ctr"/>
          <a:lstStyle/>
          <a:p>
            <a:pPr marL="0" indent="0" algn="ctr">
              <a:lnSpc>
                <a:spcPct val="120000"/>
              </a:lnSpc>
              <a:buNone/>
            </a:pPr>
            <a:r>
              <a:rPr lang="en-US" sz="1200" b="1" dirty="0">
                <a:solidFill>
                  <a:srgbClr val="1A1906"/>
                </a:solidFill>
              </a:rPr>
              <a:t>Un rappel les matins de semaine, à 6 h 45</a:t>
            </a:r>
            <a:endParaRPr lang="en-US" sz="1200" dirty="0"/>
          </a:p>
        </p:txBody>
      </p:sp>
      <p:sp>
        <p:nvSpPr>
          <p:cNvPr id="15" name="Text 10"/>
          <p:cNvSpPr txBox="1"/>
          <p:nvPr/>
        </p:nvSpPr>
        <p:spPr>
          <a:xfrm>
            <a:off x="1778000" y="6286500"/>
            <a:ext cx="889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Vraies captures de l’app.</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L’achalandage des urgences, en direct</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Chicoutimi, Jonquière, La Baie : l’information qu’on ne trouvait qu’au ministère.</a:t>
            </a:r>
            <a:endParaRPr lang="en-US" sz="1600" dirty="0"/>
          </a:p>
        </p:txBody>
      </p:sp>
      <p:sp>
        <p:nvSpPr>
          <p:cNvPr id="4" name="Text 2"/>
          <p:cNvSpPr txBox="1"/>
          <p:nvPr/>
        </p:nvSpPr>
        <p:spPr>
          <a:xfrm>
            <a:off x="812800" y="196850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Les 3 hôpitaux, sur le même écran</a:t>
            </a:r>
            <a:endParaRPr lang="en-US" sz="1700" dirty="0"/>
          </a:p>
        </p:txBody>
      </p:sp>
      <p:sp>
        <p:nvSpPr>
          <p:cNvPr id="5" name="Text 3"/>
          <p:cNvSpPr txBox="1"/>
          <p:nvPr/>
        </p:nvSpPr>
        <p:spPr>
          <a:xfrm>
            <a:off x="812800" y="227457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Civières occupées, taux d’occupation et personnes en attente.</a:t>
            </a:r>
            <a:endParaRPr lang="en-US" sz="1500" dirty="0"/>
          </a:p>
        </p:txBody>
      </p:sp>
      <p:sp>
        <p:nvSpPr>
          <p:cNvPr id="6" name="Text 4"/>
          <p:cNvSpPr txBox="1"/>
          <p:nvPr/>
        </p:nvSpPr>
        <p:spPr>
          <a:xfrm>
            <a:off x="812800" y="275463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Relevé du ministère de la Santé</a:t>
            </a:r>
            <a:endParaRPr lang="en-US" sz="1700" dirty="0"/>
          </a:p>
        </p:txBody>
      </p:sp>
      <p:sp>
        <p:nvSpPr>
          <p:cNvPr id="7" name="Text 5"/>
          <p:cNvSpPr txBox="1"/>
          <p:nvPr/>
        </p:nvSpPr>
        <p:spPr>
          <a:xfrm>
            <a:off x="812800" y="306070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Mis à jour à chaque relevé, avec son heure.</a:t>
            </a:r>
            <a:endParaRPr lang="en-US" sz="1500" dirty="0"/>
          </a:p>
        </p:txBody>
      </p:sp>
      <p:sp>
        <p:nvSpPr>
          <p:cNvPr id="8" name="Text 6"/>
          <p:cNvSpPr txBox="1"/>
          <p:nvPr/>
        </p:nvSpPr>
        <p:spPr>
          <a:xfrm>
            <a:off x="812800" y="354076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C93630"/>
                </a:solidFill>
              </a:rPr>
              <a:t>Sans jamais pousser à choisir un hôpital</a:t>
            </a:r>
            <a:endParaRPr lang="en-US" sz="1700" dirty="0"/>
          </a:p>
        </p:txBody>
      </p:sp>
      <p:sp>
        <p:nvSpPr>
          <p:cNvPr id="9" name="Text 7"/>
          <p:cNvSpPr txBox="1"/>
          <p:nvPr/>
        </p:nvSpPr>
        <p:spPr>
          <a:xfrm>
            <a:off x="812800" y="3846830"/>
            <a:ext cx="6096000" cy="50292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Ces chiffres ne disent rien du triage. L’app le rappelle, avec le 911 et Info-Santé 811.</a:t>
            </a:r>
            <a:endParaRPr lang="en-US" sz="1500" dirty="0"/>
          </a:p>
        </p:txBody>
      </p:sp>
      <p:sp>
        <p:nvSpPr>
          <p:cNvPr id="10" name="bord c_urgences"/>
          <p:cNvSpPr/>
          <p:nvPr/>
        </p:nvSpPr>
        <p:spPr>
          <a:xfrm>
            <a:off x="7346950" y="1682750"/>
            <a:ext cx="4051300" cy="5054600"/>
          </a:xfrm>
          <a:prstGeom prst="roundRect">
            <a:avLst>
              <a:gd name="adj" fmla="val 4702"/>
            </a:avLst>
          </a:prstGeom>
          <a:solidFill>
            <a:srgbClr val="D8DAD4"/>
          </a:solidFill>
          <a:ln/>
        </p:spPr>
      </p:sp>
      <p:pic>
        <p:nvPicPr>
          <p:cNvPr id="11" name="Image 0" descr="Capture de l’app : c_urgences"/>
          <p:cNvPicPr>
            <a:picLocks noChangeAspect="1"/>
          </p:cNvPicPr>
          <p:nvPr/>
        </p:nvPicPr>
        <p:blipFill>
          <a:blip r:embed="rId3"/>
          <a:stretch>
            <a:fillRect/>
          </a:stretch>
        </p:blipFill>
        <p:spPr>
          <a:xfrm>
            <a:off x="7366000" y="1701800"/>
            <a:ext cx="4013200" cy="5016500"/>
          </a:xfrm>
          <a:prstGeom prst="rect">
            <a:avLst/>
          </a:prstGeom>
        </p:spPr>
      </p:pic>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 bus : le prochain départ, là où tu es</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Sans chercher ta ligne, sans ouvrir une autre app.</a:t>
            </a:r>
            <a:endParaRPr lang="en-US" sz="1600" dirty="0"/>
          </a:p>
        </p:txBody>
      </p:sp>
      <p:sp>
        <p:nvSpPr>
          <p:cNvPr id="4" name="Text 2"/>
          <p:cNvSpPr txBox="1"/>
          <p:nvPr/>
        </p:nvSpPr>
        <p:spPr>
          <a:xfrm>
            <a:off x="812800" y="196850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Ton arrêt, à l’écran d’accueil</a:t>
            </a:r>
            <a:endParaRPr lang="en-US" sz="1700" dirty="0"/>
          </a:p>
        </p:txBody>
      </p:sp>
      <p:sp>
        <p:nvSpPr>
          <p:cNvPr id="5" name="Text 3"/>
          <p:cNvSpPr txBox="1"/>
          <p:nvPr/>
        </p:nvSpPr>
        <p:spPr>
          <a:xfrm>
            <a:off x="812800" y="227457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Le prochain départ et le suivant, sur le widget.</a:t>
            </a:r>
            <a:endParaRPr lang="en-US" sz="1500" dirty="0"/>
          </a:p>
        </p:txBody>
      </p:sp>
      <p:sp>
        <p:nvSpPr>
          <p:cNvPr id="6" name="Text 4"/>
          <p:cNvSpPr txBox="1"/>
          <p:nvPr/>
        </p:nvSpPr>
        <p:spPr>
          <a:xfrm>
            <a:off x="812800" y="270383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Les retards en direct</a:t>
            </a:r>
            <a:endParaRPr lang="en-US" sz="1700" dirty="0"/>
          </a:p>
        </p:txBody>
      </p:sp>
      <p:sp>
        <p:nvSpPr>
          <p:cNvPr id="7" name="Text 5"/>
          <p:cNvSpPr txBox="1"/>
          <p:nvPr/>
        </p:nvSpPr>
        <p:spPr>
          <a:xfrm>
            <a:off x="812800" y="300990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L’heure réelle, d’après le temps réel de la STS.</a:t>
            </a:r>
            <a:endParaRPr lang="en-US" sz="1500" dirty="0"/>
          </a:p>
        </p:txBody>
      </p:sp>
      <p:sp>
        <p:nvSpPr>
          <p:cNvPr id="8" name="Text 6"/>
          <p:cNvSpPr txBox="1"/>
          <p:nvPr/>
        </p:nvSpPr>
        <p:spPr>
          <a:xfrm>
            <a:off x="812800" y="343916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Hors de chez toi, l’arrêt le plus proche</a:t>
            </a:r>
            <a:endParaRPr lang="en-US" sz="1700" dirty="0"/>
          </a:p>
        </p:txBody>
      </p:sp>
      <p:sp>
        <p:nvSpPr>
          <p:cNvPr id="9" name="Text 7"/>
          <p:cNvSpPr txBox="1"/>
          <p:nvPr/>
        </p:nvSpPr>
        <p:spPr>
          <a:xfrm>
            <a:off x="812800" y="374523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Au choix. La position reste sur le téléphone.</a:t>
            </a:r>
            <a:endParaRPr lang="en-US" sz="1500" dirty="0"/>
          </a:p>
        </p:txBody>
      </p:sp>
      <p:sp>
        <p:nvSpPr>
          <p:cNvPr id="10" name="Text 8"/>
          <p:cNvSpPr txBox="1"/>
          <p:nvPr/>
        </p:nvSpPr>
        <p:spPr>
          <a:xfrm>
            <a:off x="812800" y="4174490"/>
            <a:ext cx="6096000" cy="280670"/>
          </a:xfrm>
          <a:prstGeom prst="rect">
            <a:avLst/>
          </a:prstGeom>
          <a:noFill/>
          <a:ln/>
        </p:spPr>
        <p:txBody>
          <a:bodyPr wrap="square" lIns="0" tIns="0" rIns="0" bIns="0" rtlCol="0" anchor="t"/>
          <a:lstStyle/>
          <a:p>
            <a:pPr marL="0" indent="0" algn="l">
              <a:lnSpc>
                <a:spcPct val="120000"/>
              </a:lnSpc>
              <a:buNone/>
            </a:pPr>
            <a:r>
              <a:rPr lang="en-US" sz="1700" b="1" dirty="0">
                <a:solidFill>
                  <a:srgbClr val="121417"/>
                </a:solidFill>
              </a:rPr>
              <a:t>Trois semaines d’horaire sans réseau</a:t>
            </a:r>
            <a:endParaRPr lang="en-US" sz="1700" dirty="0"/>
          </a:p>
        </p:txBody>
      </p:sp>
      <p:sp>
        <p:nvSpPr>
          <p:cNvPr id="11" name="Text 9"/>
          <p:cNvSpPr txBox="1"/>
          <p:nvPr/>
        </p:nvSpPr>
        <p:spPr>
          <a:xfrm>
            <a:off x="812800" y="4480560"/>
            <a:ext cx="6096000" cy="251460"/>
          </a:xfrm>
          <a:prstGeom prst="rect">
            <a:avLst/>
          </a:prstGeom>
          <a:noFill/>
          <a:ln/>
        </p:spPr>
        <p:txBody>
          <a:bodyPr wrap="square" lIns="0" tIns="0" rIns="0" bIns="0" rtlCol="0" anchor="t"/>
          <a:lstStyle/>
          <a:p>
            <a:pPr marL="0" indent="0" algn="l">
              <a:lnSpc>
                <a:spcPct val="128000"/>
              </a:lnSpc>
              <a:buNone/>
            </a:pPr>
            <a:r>
              <a:rPr lang="en-US" sz="1500" dirty="0">
                <a:solidFill>
                  <a:srgbClr val="4A5056"/>
                </a:solidFill>
              </a:rPr>
              <a:t>L’horaire continue de marcher sans connexion.</a:t>
            </a:r>
            <a:endParaRPr lang="en-US" sz="1500" dirty="0"/>
          </a:p>
        </p:txBody>
      </p:sp>
      <p:sp>
        <p:nvSpPr>
          <p:cNvPr id="12" name="bord c_bus2"/>
          <p:cNvSpPr/>
          <p:nvPr/>
        </p:nvSpPr>
        <p:spPr>
          <a:xfrm>
            <a:off x="7600950" y="1682750"/>
            <a:ext cx="3467100" cy="4800600"/>
          </a:xfrm>
          <a:prstGeom prst="roundRect">
            <a:avLst>
              <a:gd name="adj" fmla="val 5495"/>
            </a:avLst>
          </a:prstGeom>
          <a:solidFill>
            <a:srgbClr val="D8DAD4"/>
          </a:solidFill>
          <a:ln/>
        </p:spPr>
      </p:sp>
      <p:pic>
        <p:nvPicPr>
          <p:cNvPr id="13" name="Image 0" descr="Capture de l’app : c_bus2"/>
          <p:cNvPicPr>
            <a:picLocks noChangeAspect="1"/>
          </p:cNvPicPr>
          <p:nvPr/>
        </p:nvPicPr>
        <p:blipFill>
          <a:blip r:embed="rId3"/>
          <a:stretch>
            <a:fillRect/>
          </a:stretch>
        </p:blipFill>
        <p:spPr>
          <a:xfrm>
            <a:off x="7620000" y="1701800"/>
            <a:ext cx="3429000" cy="4762500"/>
          </a:xfrm>
          <a:prstGeom prst="rect">
            <a:avLst/>
          </a:prstGeom>
        </p:spPr>
      </p:pic>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Une question ? Demande à l’app</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En français, en anglais, avec des fautes ou en joual : elle comprend.</a:t>
            </a:r>
            <a:endParaRPr lang="en-US" sz="1600" dirty="0"/>
          </a:p>
        </p:txBody>
      </p:sp>
      <p:sp>
        <p:nvSpPr>
          <p:cNvPr id="4" name="bord c_assistant"/>
          <p:cNvSpPr/>
          <p:nvPr/>
        </p:nvSpPr>
        <p:spPr>
          <a:xfrm>
            <a:off x="793750" y="1822450"/>
            <a:ext cx="2959100" cy="3608211"/>
          </a:xfrm>
          <a:prstGeom prst="roundRect">
            <a:avLst>
              <a:gd name="adj" fmla="val 6438"/>
            </a:avLst>
          </a:prstGeom>
          <a:solidFill>
            <a:srgbClr val="D8DAD4"/>
          </a:solidFill>
          <a:ln/>
        </p:spPr>
      </p:sp>
      <p:pic>
        <p:nvPicPr>
          <p:cNvPr id="5" name="Image 0" descr="Capture de l’app : c_assistant"/>
          <p:cNvPicPr>
            <a:picLocks noChangeAspect="1"/>
          </p:cNvPicPr>
          <p:nvPr/>
        </p:nvPicPr>
        <p:blipFill>
          <a:blip r:embed="rId3"/>
          <a:stretch>
            <a:fillRect/>
          </a:stretch>
        </p:blipFill>
        <p:spPr>
          <a:xfrm>
            <a:off x="812800" y="1841500"/>
            <a:ext cx="2921000" cy="3570111"/>
          </a:xfrm>
          <a:prstGeom prst="rect">
            <a:avLst/>
          </a:prstGeom>
        </p:spPr>
      </p:pic>
      <p:sp>
        <p:nvSpPr>
          <p:cNvPr id="6" name="photo"/>
          <p:cNvSpPr/>
          <p:nvPr/>
        </p:nvSpPr>
        <p:spPr>
          <a:xfrm>
            <a:off x="3911600" y="1841500"/>
            <a:ext cx="2921000" cy="3568700"/>
          </a:xfrm>
          <a:prstGeom prst="roundRect">
            <a:avLst>
              <a:gd name="adj" fmla="val 6087"/>
            </a:avLst>
          </a:prstGeom>
          <a:solidFill>
            <a:srgbClr val="FFFFFF"/>
          </a:solidFill>
          <a:ln/>
        </p:spPr>
      </p:sp>
      <p:pic>
        <p:nvPicPr>
          <p:cNvPr id="7" name="Image 1" descr="Une canette"/>
          <p:cNvPicPr>
            <a:picLocks noChangeAspect="1"/>
          </p:cNvPicPr>
          <p:nvPr/>
        </p:nvPicPr>
        <p:blipFill>
          <a:blip r:embed="rId4"/>
          <a:stretch>
            <a:fillRect/>
          </a:stretch>
        </p:blipFill>
        <p:spPr>
          <a:xfrm>
            <a:off x="4089400" y="2019300"/>
            <a:ext cx="2565400" cy="1924050"/>
          </a:xfrm>
          <a:prstGeom prst="rect">
            <a:avLst/>
          </a:prstGeom>
        </p:spPr>
      </p:pic>
      <p:sp>
        <p:nvSpPr>
          <p:cNvPr id="8" name="Text 4"/>
          <p:cNvSpPr txBox="1"/>
          <p:nvPr/>
        </p:nvSpPr>
        <p:spPr>
          <a:xfrm>
            <a:off x="4089400" y="4025900"/>
            <a:ext cx="2565400" cy="1079500"/>
          </a:xfrm>
          <a:prstGeom prst="rect">
            <a:avLst/>
          </a:prstGeom>
          <a:noFill/>
          <a:ln/>
        </p:spPr>
        <p:txBody>
          <a:bodyPr wrap="square" lIns="0" tIns="0" rIns="0" bIns="0" rtlCol="0" anchor="t"/>
          <a:lstStyle/>
          <a:p>
            <a:pPr marL="0" indent="0" algn="l">
              <a:lnSpc>
                <a:spcPct val="125000"/>
              </a:lnSpc>
              <a:buNone/>
            </a:pPr>
            <a:r>
              <a:rPr lang="en-US" sz="1200" dirty="0">
                <a:solidFill>
                  <a:srgbClr val="121417"/>
                </a:solidFill>
              </a:rPr>
              <a:t>« Le bac bleu : c’est une canette de cola. C’est un contenant de métal, alors tu la vides et tu la mets au recyclage. »</a:t>
            </a:r>
            <a:endParaRPr lang="en-US" sz="1200" dirty="0"/>
          </a:p>
        </p:txBody>
      </p:sp>
      <p:sp>
        <p:nvSpPr>
          <p:cNvPr id="9" name="Text 5"/>
          <p:cNvSpPr txBox="1"/>
          <p:nvPr/>
        </p:nvSpPr>
        <p:spPr>
          <a:xfrm>
            <a:off x="4089400" y="5130800"/>
            <a:ext cx="2565400" cy="190500"/>
          </a:xfrm>
          <a:prstGeom prst="rect">
            <a:avLst/>
          </a:prstGeom>
          <a:noFill/>
          <a:ln/>
        </p:spPr>
        <p:txBody>
          <a:bodyPr wrap="square" lIns="0" tIns="0" rIns="0" bIns="0" rtlCol="0" anchor="t"/>
          <a:lstStyle/>
          <a:p>
            <a:pPr marL="0" indent="0" algn="l">
              <a:lnSpc>
                <a:spcPct val="120000"/>
              </a:lnSpc>
              <a:buNone/>
            </a:pPr>
            <a:r>
              <a:rPr lang="en-US" sz="1200" b="1" dirty="0">
                <a:solidFill>
                  <a:srgbClr val="868C92"/>
                </a:solidFill>
              </a:rPr>
              <a:t>Vraie réponse de l’assistant</a:t>
            </a:r>
            <a:endParaRPr lang="en-US" sz="1200" dirty="0"/>
          </a:p>
        </p:txBody>
      </p:sp>
      <p:sp>
        <p:nvSpPr>
          <p:cNvPr id="10" name="Text 6"/>
          <p:cNvSpPr txBox="1"/>
          <p:nvPr/>
        </p:nvSpPr>
        <p:spPr>
          <a:xfrm>
            <a:off x="7112000" y="1841500"/>
            <a:ext cx="4267200" cy="247650"/>
          </a:xfrm>
          <a:prstGeom prst="rect">
            <a:avLst/>
          </a:prstGeom>
          <a:noFill/>
          <a:ln/>
        </p:spPr>
        <p:txBody>
          <a:bodyPr wrap="square" lIns="0" tIns="0" rIns="0" bIns="0" rtlCol="0" anchor="t"/>
          <a:lstStyle/>
          <a:p>
            <a:pPr marL="0" indent="0" algn="l">
              <a:lnSpc>
                <a:spcPct val="120000"/>
              </a:lnSpc>
              <a:buNone/>
            </a:pPr>
            <a:r>
              <a:rPr lang="en-US" sz="1500" b="1" dirty="0">
                <a:solidFill>
                  <a:srgbClr val="121417"/>
                </a:solidFill>
              </a:rPr>
              <a:t>Sans réseau pour l’essentiel</a:t>
            </a:r>
            <a:endParaRPr lang="en-US" sz="1500" dirty="0"/>
          </a:p>
        </p:txBody>
      </p:sp>
      <p:sp>
        <p:nvSpPr>
          <p:cNvPr id="11" name="Text 7"/>
          <p:cNvSpPr txBox="1"/>
          <p:nvPr/>
        </p:nvSpPr>
        <p:spPr>
          <a:xfrm>
            <a:off x="7112000" y="2114550"/>
            <a:ext cx="4267200" cy="435864"/>
          </a:xfrm>
          <a:prstGeom prst="rect">
            <a:avLst/>
          </a:prstGeom>
          <a:noFill/>
          <a:ln/>
        </p:spPr>
        <p:txBody>
          <a:bodyPr wrap="square" lIns="0" tIns="0" rIns="0" bIns="0" rtlCol="0" anchor="t"/>
          <a:lstStyle/>
          <a:p>
            <a:pPr marL="0" indent="0" algn="l">
              <a:lnSpc>
                <a:spcPct val="128000"/>
              </a:lnSpc>
              <a:buNone/>
            </a:pPr>
            <a:r>
              <a:rPr lang="en-US" sz="1300" dirty="0">
                <a:solidFill>
                  <a:srgbClr val="4A5056"/>
                </a:solidFill>
              </a:rPr>
              <a:t>Le bac, le stationnement, l’eau, le bus : calculé sur le téléphone.</a:t>
            </a:r>
            <a:endParaRPr lang="en-US" sz="1300" dirty="0"/>
          </a:p>
        </p:txBody>
      </p:sp>
      <p:sp>
        <p:nvSpPr>
          <p:cNvPr id="12" name="Text 8"/>
          <p:cNvSpPr txBox="1"/>
          <p:nvPr/>
        </p:nvSpPr>
        <p:spPr>
          <a:xfrm>
            <a:off x="7112000" y="2690114"/>
            <a:ext cx="4267200" cy="247650"/>
          </a:xfrm>
          <a:prstGeom prst="rect">
            <a:avLst/>
          </a:prstGeom>
          <a:noFill/>
          <a:ln/>
        </p:spPr>
        <p:txBody>
          <a:bodyPr wrap="square" lIns="0" tIns="0" rIns="0" bIns="0" rtlCol="0" anchor="t"/>
          <a:lstStyle/>
          <a:p>
            <a:pPr marL="0" indent="0" algn="l">
              <a:lnSpc>
                <a:spcPct val="120000"/>
              </a:lnSpc>
              <a:buNone/>
            </a:pPr>
            <a:r>
              <a:rPr lang="en-US" sz="1500" b="1" dirty="0">
                <a:solidFill>
                  <a:srgbClr val="121417"/>
                </a:solidFill>
              </a:rPr>
              <a:t>Une photo, et le bon bac</a:t>
            </a:r>
            <a:endParaRPr lang="en-US" sz="1500" dirty="0"/>
          </a:p>
        </p:txBody>
      </p:sp>
      <p:sp>
        <p:nvSpPr>
          <p:cNvPr id="13" name="Text 9"/>
          <p:cNvSpPr txBox="1"/>
          <p:nvPr/>
        </p:nvSpPr>
        <p:spPr>
          <a:xfrm>
            <a:off x="7112000" y="2963164"/>
            <a:ext cx="4267200" cy="217932"/>
          </a:xfrm>
          <a:prstGeom prst="rect">
            <a:avLst/>
          </a:prstGeom>
          <a:noFill/>
          <a:ln/>
        </p:spPr>
        <p:txBody>
          <a:bodyPr wrap="square" lIns="0" tIns="0" rIns="0" bIns="0" rtlCol="0" anchor="t"/>
          <a:lstStyle/>
          <a:p>
            <a:pPr marL="0" indent="0" algn="l">
              <a:lnSpc>
                <a:spcPct val="128000"/>
              </a:lnSpc>
              <a:buNone/>
            </a:pPr>
            <a:r>
              <a:rPr lang="en-US" sz="1300" dirty="0">
                <a:solidFill>
                  <a:srgbClr val="4A5056"/>
                </a:solidFill>
              </a:rPr>
              <a:t>L’assistant suit les règles de tri de la Ville.</a:t>
            </a:r>
            <a:endParaRPr lang="en-US" sz="1300" dirty="0"/>
          </a:p>
        </p:txBody>
      </p:sp>
      <p:sp>
        <p:nvSpPr>
          <p:cNvPr id="14" name="Text 10"/>
          <p:cNvSpPr txBox="1"/>
          <p:nvPr/>
        </p:nvSpPr>
        <p:spPr>
          <a:xfrm>
            <a:off x="7112000" y="3320796"/>
            <a:ext cx="4267200" cy="247650"/>
          </a:xfrm>
          <a:prstGeom prst="rect">
            <a:avLst/>
          </a:prstGeom>
          <a:noFill/>
          <a:ln/>
        </p:spPr>
        <p:txBody>
          <a:bodyPr wrap="square" lIns="0" tIns="0" rIns="0" bIns="0" rtlCol="0" anchor="t"/>
          <a:lstStyle/>
          <a:p>
            <a:pPr marL="0" indent="0" algn="l">
              <a:lnSpc>
                <a:spcPct val="120000"/>
              </a:lnSpc>
              <a:buNone/>
            </a:pPr>
            <a:r>
              <a:rPr lang="en-US" sz="1500" b="1" dirty="0">
                <a:solidFill>
                  <a:srgbClr val="121417"/>
                </a:solidFill>
              </a:rPr>
              <a:t>Les communiqués en mots simples</a:t>
            </a:r>
            <a:endParaRPr lang="en-US" sz="1500" dirty="0"/>
          </a:p>
        </p:txBody>
      </p:sp>
      <p:sp>
        <p:nvSpPr>
          <p:cNvPr id="15" name="Text 11"/>
          <p:cNvSpPr txBox="1"/>
          <p:nvPr/>
        </p:nvSpPr>
        <p:spPr>
          <a:xfrm>
            <a:off x="7112000" y="3593846"/>
            <a:ext cx="4267200" cy="435864"/>
          </a:xfrm>
          <a:prstGeom prst="rect">
            <a:avLst/>
          </a:prstGeom>
          <a:noFill/>
          <a:ln/>
        </p:spPr>
        <p:txBody>
          <a:bodyPr wrap="square" lIns="0" tIns="0" rIns="0" bIns="0" rtlCol="0" anchor="t"/>
          <a:lstStyle/>
          <a:p>
            <a:pPr marL="0" indent="0" algn="l">
              <a:lnSpc>
                <a:spcPct val="128000"/>
              </a:lnSpc>
              <a:buNone/>
            </a:pPr>
            <a:r>
              <a:rPr lang="en-US" sz="1300" dirty="0">
                <a:solidFill>
                  <a:srgbClr val="4A5056"/>
                </a:solidFill>
              </a:rPr>
              <a:t>Il lit les PDF de la Ville et dit ce que ça change pour toi.</a:t>
            </a:r>
            <a:endParaRPr lang="en-US" sz="1300" dirty="0"/>
          </a:p>
        </p:txBody>
      </p:sp>
      <p:sp>
        <p:nvSpPr>
          <p:cNvPr id="16" name="Text 12"/>
          <p:cNvSpPr txBox="1"/>
          <p:nvPr/>
        </p:nvSpPr>
        <p:spPr>
          <a:xfrm>
            <a:off x="7112000" y="4169410"/>
            <a:ext cx="4267200" cy="247650"/>
          </a:xfrm>
          <a:prstGeom prst="rect">
            <a:avLst/>
          </a:prstGeom>
          <a:noFill/>
          <a:ln/>
        </p:spPr>
        <p:txBody>
          <a:bodyPr wrap="square" lIns="0" tIns="0" rIns="0" bIns="0" rtlCol="0" anchor="t"/>
          <a:lstStyle/>
          <a:p>
            <a:pPr marL="0" indent="0" algn="l">
              <a:lnSpc>
                <a:spcPct val="120000"/>
              </a:lnSpc>
              <a:buNone/>
            </a:pPr>
            <a:r>
              <a:rPr lang="en-US" sz="1500" b="1" dirty="0">
                <a:solidFill>
                  <a:srgbClr val="121417"/>
                </a:solidFill>
              </a:rPr>
              <a:t>Il ne devine pas</a:t>
            </a:r>
            <a:endParaRPr lang="en-US" sz="1500" dirty="0"/>
          </a:p>
        </p:txBody>
      </p:sp>
      <p:sp>
        <p:nvSpPr>
          <p:cNvPr id="17" name="Text 13"/>
          <p:cNvSpPr txBox="1"/>
          <p:nvPr/>
        </p:nvSpPr>
        <p:spPr>
          <a:xfrm>
            <a:off x="7112000" y="4442460"/>
            <a:ext cx="4267200" cy="435864"/>
          </a:xfrm>
          <a:prstGeom prst="rect">
            <a:avLst/>
          </a:prstGeom>
          <a:noFill/>
          <a:ln/>
        </p:spPr>
        <p:txBody>
          <a:bodyPr wrap="square" lIns="0" tIns="0" rIns="0" bIns="0" rtlCol="0" anchor="t"/>
          <a:lstStyle/>
          <a:p>
            <a:pPr marL="0" indent="0" algn="l">
              <a:lnSpc>
                <a:spcPct val="128000"/>
              </a:lnSpc>
              <a:buNone/>
            </a:pPr>
            <a:r>
              <a:rPr lang="en-US" sz="1300" dirty="0">
                <a:solidFill>
                  <a:srgbClr val="4A5056"/>
                </a:solidFill>
              </a:rPr>
              <a:t>Il nomme sa source, ou dit où vérifier. Il reçoit ton secteur, jamais ton adresse.</a:t>
            </a:r>
            <a:endParaRPr lang="en-US" sz="13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Et pour ceux qu’on aime</a:t>
            </a:r>
            <a:endParaRPr lang="en-US" sz="3600" dirty="0"/>
          </a:p>
        </p:txBody>
      </p:sp>
      <p:sp>
        <p:nvSpPr>
          <p:cNvPr id="3"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Tes parents, ton chalet, le logement de ton enfant : tu veilles aussi sur eux.</a:t>
            </a:r>
            <a:endParaRPr lang="en-US" sz="1600" dirty="0"/>
          </a:p>
        </p:txBody>
      </p:sp>
      <p:sp>
        <p:nvSpPr>
          <p:cNvPr id="4" name="bord c_proches"/>
          <p:cNvSpPr/>
          <p:nvPr/>
        </p:nvSpPr>
        <p:spPr>
          <a:xfrm>
            <a:off x="793750" y="1822450"/>
            <a:ext cx="2832100" cy="3582341"/>
          </a:xfrm>
          <a:prstGeom prst="roundRect">
            <a:avLst>
              <a:gd name="adj" fmla="val 6726"/>
            </a:avLst>
          </a:prstGeom>
          <a:solidFill>
            <a:srgbClr val="D8DAD4"/>
          </a:solidFill>
          <a:ln/>
        </p:spPr>
      </p:sp>
      <p:pic>
        <p:nvPicPr>
          <p:cNvPr id="5" name="Image 0" descr="Capture de l’app : Veiller sur un proche : son eau et ses pannes arrivent sous son nom"/>
          <p:cNvPicPr>
            <a:picLocks noChangeAspect="1"/>
          </p:cNvPicPr>
          <p:nvPr/>
        </p:nvPicPr>
        <p:blipFill>
          <a:blip r:embed="rId3"/>
          <a:stretch>
            <a:fillRect/>
          </a:stretch>
        </p:blipFill>
        <p:spPr>
          <a:xfrm>
            <a:off x="812800" y="1841500"/>
            <a:ext cx="2794000" cy="3544241"/>
          </a:xfrm>
          <a:prstGeom prst="rect">
            <a:avLst/>
          </a:prstGeom>
        </p:spPr>
      </p:pic>
      <p:sp>
        <p:nvSpPr>
          <p:cNvPr id="6" name="Text 3"/>
          <p:cNvSpPr txBox="1"/>
          <p:nvPr/>
        </p:nvSpPr>
        <p:spPr>
          <a:xfrm>
            <a:off x="812800" y="5461941"/>
            <a:ext cx="2794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Veiller sur un proche : son eau et ses pannes arrivent sous son nom</a:t>
            </a:r>
            <a:endParaRPr lang="en-US" sz="1200" dirty="0"/>
          </a:p>
        </p:txBody>
      </p:sp>
      <p:sp>
        <p:nvSpPr>
          <p:cNvPr id="7" name="bord c_partage"/>
          <p:cNvSpPr/>
          <p:nvPr/>
        </p:nvSpPr>
        <p:spPr>
          <a:xfrm>
            <a:off x="3765550" y="1822450"/>
            <a:ext cx="2832100" cy="3142544"/>
          </a:xfrm>
          <a:prstGeom prst="roundRect">
            <a:avLst>
              <a:gd name="adj" fmla="val 6726"/>
            </a:avLst>
          </a:prstGeom>
          <a:solidFill>
            <a:srgbClr val="D8DAD4"/>
          </a:solidFill>
          <a:ln/>
        </p:spPr>
      </p:sp>
      <p:pic>
        <p:nvPicPr>
          <p:cNvPr id="8" name="Image 1" descr="Capture de l’app : Partager une adresse par texto, sans compte"/>
          <p:cNvPicPr>
            <a:picLocks noChangeAspect="1"/>
          </p:cNvPicPr>
          <p:nvPr/>
        </p:nvPicPr>
        <p:blipFill>
          <a:blip r:embed="rId4"/>
          <a:stretch>
            <a:fillRect/>
          </a:stretch>
        </p:blipFill>
        <p:spPr>
          <a:xfrm>
            <a:off x="3784600" y="1841500"/>
            <a:ext cx="2794000" cy="3104444"/>
          </a:xfrm>
          <a:prstGeom prst="rect">
            <a:avLst/>
          </a:prstGeom>
        </p:spPr>
      </p:pic>
      <p:sp>
        <p:nvSpPr>
          <p:cNvPr id="9" name="Text 5"/>
          <p:cNvSpPr txBox="1"/>
          <p:nvPr/>
        </p:nvSpPr>
        <p:spPr>
          <a:xfrm>
            <a:off x="3784600" y="5022144"/>
            <a:ext cx="2794000" cy="457200"/>
          </a:xfrm>
          <a:prstGeom prst="rect">
            <a:avLst/>
          </a:prstGeom>
          <a:noFill/>
          <a:ln/>
        </p:spPr>
        <p:txBody>
          <a:bodyPr wrap="square" lIns="0" tIns="0" rIns="0" bIns="0" rtlCol="0" anchor="t"/>
          <a:lstStyle/>
          <a:p>
            <a:pPr marL="0" indent="0" algn="l">
              <a:lnSpc>
                <a:spcPct val="120000"/>
              </a:lnSpc>
              <a:buNone/>
            </a:pPr>
            <a:r>
              <a:rPr lang="en-US" sz="1200" b="1" dirty="0">
                <a:solidFill>
                  <a:srgbClr val="121417"/>
                </a:solidFill>
              </a:rPr>
              <a:t>Partager une adresse par texto, sans compte</a:t>
            </a:r>
            <a:endParaRPr lang="en-US" sz="1200" dirty="0"/>
          </a:p>
        </p:txBody>
      </p:sp>
      <p:sp>
        <p:nvSpPr>
          <p:cNvPr id="10" name="texto"/>
          <p:cNvSpPr/>
          <p:nvPr/>
        </p:nvSpPr>
        <p:spPr>
          <a:xfrm>
            <a:off x="6756400" y="1841500"/>
            <a:ext cx="4622800" cy="2819400"/>
          </a:xfrm>
          <a:prstGeom prst="roundRect">
            <a:avLst>
              <a:gd name="adj" fmla="val 6306"/>
            </a:avLst>
          </a:prstGeom>
          <a:solidFill>
            <a:srgbClr val="F1F2EF"/>
          </a:solidFill>
          <a:ln/>
        </p:spPr>
      </p:sp>
      <p:sp>
        <p:nvSpPr>
          <p:cNvPr id="11" name="Text 7"/>
          <p:cNvSpPr txBox="1"/>
          <p:nvPr/>
        </p:nvSpPr>
        <p:spPr>
          <a:xfrm>
            <a:off x="7010400" y="2044700"/>
            <a:ext cx="41148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Sans téléphone intelligent</a:t>
            </a:r>
            <a:endParaRPr lang="en-US" sz="1600" dirty="0"/>
          </a:p>
        </p:txBody>
      </p:sp>
      <p:sp>
        <p:nvSpPr>
          <p:cNvPr id="12" name="Text 8"/>
          <p:cNvSpPr txBox="1"/>
          <p:nvPr/>
        </p:nvSpPr>
        <p:spPr>
          <a:xfrm>
            <a:off x="7010400" y="2374900"/>
            <a:ext cx="4114800" cy="889000"/>
          </a:xfrm>
          <a:prstGeom prst="rect">
            <a:avLst/>
          </a:prstGeom>
          <a:noFill/>
          <a:ln/>
        </p:spPr>
        <p:txBody>
          <a:bodyPr wrap="square" lIns="0" tIns="0" rIns="0" bIns="0" rtlCol="0" anchor="t"/>
          <a:lstStyle/>
          <a:p>
            <a:pPr marL="0" indent="0" algn="l">
              <a:lnSpc>
                <a:spcPct val="130000"/>
              </a:lnSpc>
              <a:buNone/>
            </a:pPr>
            <a:r>
              <a:rPr lang="en-US" sz="1400" dirty="0">
                <a:solidFill>
                  <a:srgbClr val="4A5056"/>
                </a:solidFill>
              </a:rPr>
              <a:t>On écrit son adresse par texto, ou on la dit au téléphone, et on reçoit sa journée en quelques phrases.</a:t>
            </a:r>
            <a:endParaRPr lang="en-US" sz="1400" dirty="0"/>
          </a:p>
        </p:txBody>
      </p:sp>
      <p:sp>
        <p:nvSpPr>
          <p:cNvPr id="13" name="Text 9"/>
          <p:cNvSpPr txBox="1"/>
          <p:nvPr/>
        </p:nvSpPr>
        <p:spPr>
          <a:xfrm>
            <a:off x="7010400" y="3365500"/>
            <a:ext cx="4114800" cy="279400"/>
          </a:xfrm>
          <a:prstGeom prst="rect">
            <a:avLst/>
          </a:prstGeom>
          <a:noFill/>
          <a:ln/>
        </p:spPr>
        <p:txBody>
          <a:bodyPr wrap="square" lIns="0" tIns="0" rIns="0" bIns="0" rtlCol="0" anchor="t"/>
          <a:lstStyle/>
          <a:p>
            <a:pPr marL="0" indent="0" algn="l">
              <a:lnSpc>
                <a:spcPct val="130000"/>
              </a:lnSpc>
              <a:buNone/>
            </a:pPr>
            <a:r>
              <a:rPr lang="en-US" sz="1400" dirty="0">
                <a:solidFill>
                  <a:srgbClr val="4A5056"/>
                </a:solidFill>
              </a:rPr>
              <a:t>Ni le numéro ni l’adresse ne sont gardés.</a:t>
            </a:r>
            <a:endParaRPr lang="en-US" sz="1400" dirty="0"/>
          </a:p>
        </p:txBody>
      </p:sp>
      <p:sp>
        <p:nvSpPr>
          <p:cNvPr id="14" name="Text 10"/>
          <p:cNvSpPr txBox="1"/>
          <p:nvPr/>
        </p:nvSpPr>
        <p:spPr>
          <a:xfrm>
            <a:off x="7010400" y="4064000"/>
            <a:ext cx="4114800" cy="444500"/>
          </a:xfrm>
          <a:prstGeom prst="rect">
            <a:avLst/>
          </a:prstGeom>
          <a:noFill/>
          <a:ln/>
        </p:spPr>
        <p:txBody>
          <a:bodyPr wrap="square" lIns="0" tIns="0" rIns="0" bIns="0" rtlCol="0" anchor="t"/>
          <a:lstStyle/>
          <a:p>
            <a:pPr marL="0" indent="0" algn="l">
              <a:lnSpc>
                <a:spcPct val="125000"/>
              </a:lnSpc>
              <a:buNone/>
            </a:pPr>
            <a:r>
              <a:rPr lang="en-US" sz="1200" b="1" dirty="0">
                <a:solidFill>
                  <a:srgbClr val="B8660A"/>
                </a:solidFill>
              </a:rPr>
              <a:t>Prêt côté serveur. Il reste à activer un numéro.</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Et encore</a:t>
            </a:r>
            <a:endParaRPr lang="en-US" sz="3600" dirty="0"/>
          </a:p>
        </p:txBody>
      </p:sp>
      <p:sp>
        <p:nvSpPr>
          <p:cNvPr id="3" name="N’importe quelle adresse"/>
          <p:cNvSpPr/>
          <p:nvPr/>
        </p:nvSpPr>
        <p:spPr>
          <a:xfrm>
            <a:off x="812800" y="1549400"/>
            <a:ext cx="3302000" cy="952500"/>
          </a:xfrm>
          <a:prstGeom prst="roundRect">
            <a:avLst>
              <a:gd name="adj" fmla="val 16000"/>
            </a:avLst>
          </a:prstGeom>
          <a:solidFill>
            <a:srgbClr val="FFFFFF"/>
          </a:solidFill>
          <a:ln/>
        </p:spPr>
      </p:sp>
      <p:sp>
        <p:nvSpPr>
          <p:cNvPr id="4" name="Text 2"/>
          <p:cNvSpPr txBox="1"/>
          <p:nvPr/>
        </p:nvSpPr>
        <p:spPr>
          <a:xfrm>
            <a:off x="990600" y="16764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N’importe quelle adresse</a:t>
            </a:r>
            <a:endParaRPr lang="en-US" sz="1400" dirty="0"/>
          </a:p>
        </p:txBody>
      </p:sp>
      <p:sp>
        <p:nvSpPr>
          <p:cNvPr id="5" name="Text 3"/>
          <p:cNvSpPr txBox="1"/>
          <p:nvPr/>
        </p:nvSpPr>
        <p:spPr>
          <a:xfrm>
            <a:off x="990600" y="19685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Toute adresse de Saguenay, et plusieurs à la fois.</a:t>
            </a:r>
            <a:endParaRPr lang="en-US" sz="1200" dirty="0"/>
          </a:p>
        </p:txBody>
      </p:sp>
      <p:sp>
        <p:nvSpPr>
          <p:cNvPr id="6" name="« Pourquoi je vois ça ? »"/>
          <p:cNvSpPr/>
          <p:nvPr/>
        </p:nvSpPr>
        <p:spPr>
          <a:xfrm>
            <a:off x="4267200" y="1549400"/>
            <a:ext cx="3302000" cy="952500"/>
          </a:xfrm>
          <a:prstGeom prst="roundRect">
            <a:avLst>
              <a:gd name="adj" fmla="val 16000"/>
            </a:avLst>
          </a:prstGeom>
          <a:solidFill>
            <a:srgbClr val="FFFFFF"/>
          </a:solidFill>
          <a:ln/>
        </p:spPr>
      </p:sp>
      <p:sp>
        <p:nvSpPr>
          <p:cNvPr id="7" name="Text 5"/>
          <p:cNvSpPr txBox="1"/>
          <p:nvPr/>
        </p:nvSpPr>
        <p:spPr>
          <a:xfrm>
            <a:off x="4445000" y="16764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 Pourquoi je vois ça ? »</a:t>
            </a:r>
            <a:endParaRPr lang="en-US" sz="1400" dirty="0"/>
          </a:p>
        </p:txBody>
      </p:sp>
      <p:sp>
        <p:nvSpPr>
          <p:cNvPr id="8" name="Text 6"/>
          <p:cNvSpPr txBox="1"/>
          <p:nvPr/>
        </p:nvSpPr>
        <p:spPr>
          <a:xfrm>
            <a:off x="4445000" y="19685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Chaque carte explique pourquoi elle est là.</a:t>
            </a:r>
            <a:endParaRPr lang="en-US" sz="1200" dirty="0"/>
          </a:p>
        </p:txBody>
      </p:sp>
      <p:sp>
        <p:nvSpPr>
          <p:cNvPr id="9" name="La semaine qui vient"/>
          <p:cNvSpPr/>
          <p:nvPr/>
        </p:nvSpPr>
        <p:spPr>
          <a:xfrm>
            <a:off x="812800" y="2603500"/>
            <a:ext cx="3302000" cy="952500"/>
          </a:xfrm>
          <a:prstGeom prst="roundRect">
            <a:avLst>
              <a:gd name="adj" fmla="val 16000"/>
            </a:avLst>
          </a:prstGeom>
          <a:solidFill>
            <a:srgbClr val="FFFFFF"/>
          </a:solidFill>
          <a:ln/>
        </p:spPr>
      </p:sp>
      <p:sp>
        <p:nvSpPr>
          <p:cNvPr id="10" name="Text 8"/>
          <p:cNvSpPr txBox="1"/>
          <p:nvPr/>
        </p:nvSpPr>
        <p:spPr>
          <a:xfrm>
            <a:off x="990600" y="27305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La semaine qui vient</a:t>
            </a:r>
            <a:endParaRPr lang="en-US" sz="1400" dirty="0"/>
          </a:p>
        </p:txBody>
      </p:sp>
      <p:sp>
        <p:nvSpPr>
          <p:cNvPr id="11" name="Text 9"/>
          <p:cNvSpPr txBox="1"/>
          <p:nvPr/>
        </p:nvSpPr>
        <p:spPr>
          <a:xfrm>
            <a:off x="990600" y="30226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Tout ce qui t’attend, d’un coup d’œil.</a:t>
            </a:r>
            <a:endParaRPr lang="en-US" sz="1200" dirty="0"/>
          </a:p>
        </p:txBody>
      </p:sp>
      <p:sp>
        <p:nvSpPr>
          <p:cNvPr id="12" name="Tes collectes au calendrier"/>
          <p:cNvSpPr/>
          <p:nvPr/>
        </p:nvSpPr>
        <p:spPr>
          <a:xfrm>
            <a:off x="4267200" y="2603500"/>
            <a:ext cx="3302000" cy="952500"/>
          </a:xfrm>
          <a:prstGeom prst="roundRect">
            <a:avLst>
              <a:gd name="adj" fmla="val 16000"/>
            </a:avLst>
          </a:prstGeom>
          <a:solidFill>
            <a:srgbClr val="FFFFFF"/>
          </a:solidFill>
          <a:ln/>
        </p:spPr>
      </p:sp>
      <p:sp>
        <p:nvSpPr>
          <p:cNvPr id="13" name="Text 11"/>
          <p:cNvSpPr txBox="1"/>
          <p:nvPr/>
        </p:nvSpPr>
        <p:spPr>
          <a:xfrm>
            <a:off x="4445000" y="27305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Tes collectes au calendrier</a:t>
            </a:r>
            <a:endParaRPr lang="en-US" sz="1400" dirty="0"/>
          </a:p>
        </p:txBody>
      </p:sp>
      <p:sp>
        <p:nvSpPr>
          <p:cNvPr id="14" name="Text 12"/>
          <p:cNvSpPr txBox="1"/>
          <p:nvPr/>
        </p:nvSpPr>
        <p:spPr>
          <a:xfrm>
            <a:off x="4445000" y="30226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Quatre mois, avec un rappel la veille.</a:t>
            </a:r>
            <a:endParaRPr lang="en-US" sz="1200" dirty="0"/>
          </a:p>
        </p:txBody>
      </p:sp>
      <p:sp>
        <p:nvSpPr>
          <p:cNvPr id="15" name="Signaler un problème"/>
          <p:cNvSpPr/>
          <p:nvPr/>
        </p:nvSpPr>
        <p:spPr>
          <a:xfrm>
            <a:off x="812800" y="3657600"/>
            <a:ext cx="3302000" cy="952500"/>
          </a:xfrm>
          <a:prstGeom prst="roundRect">
            <a:avLst>
              <a:gd name="adj" fmla="val 16000"/>
            </a:avLst>
          </a:prstGeom>
          <a:solidFill>
            <a:srgbClr val="FFFFFF"/>
          </a:solidFill>
          <a:ln/>
        </p:spPr>
      </p:sp>
      <p:sp>
        <p:nvSpPr>
          <p:cNvPr id="16" name="Text 14"/>
          <p:cNvSpPr txBox="1"/>
          <p:nvPr/>
        </p:nvSpPr>
        <p:spPr>
          <a:xfrm>
            <a:off x="990600" y="37846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Signaler un problème</a:t>
            </a:r>
            <a:endParaRPr lang="en-US" sz="1400" dirty="0"/>
          </a:p>
        </p:txBody>
      </p:sp>
      <p:sp>
        <p:nvSpPr>
          <p:cNvPr id="17" name="Text 15"/>
          <p:cNvSpPr txBox="1"/>
          <p:nvPr/>
        </p:nvSpPr>
        <p:spPr>
          <a:xfrm>
            <a:off x="990600" y="40767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Nid-de-poule, lampadaire : un message prêt pour la Ville.</a:t>
            </a:r>
            <a:endParaRPr lang="en-US" sz="1200" dirty="0"/>
          </a:p>
        </p:txBody>
      </p:sp>
      <p:sp>
        <p:nvSpPr>
          <p:cNvPr id="18" name="Des cartes en direct"/>
          <p:cNvSpPr/>
          <p:nvPr/>
        </p:nvSpPr>
        <p:spPr>
          <a:xfrm>
            <a:off x="4267200" y="3657600"/>
            <a:ext cx="3302000" cy="952500"/>
          </a:xfrm>
          <a:prstGeom prst="roundRect">
            <a:avLst>
              <a:gd name="adj" fmla="val 16000"/>
            </a:avLst>
          </a:prstGeom>
          <a:solidFill>
            <a:srgbClr val="FFFFFF"/>
          </a:solidFill>
          <a:ln/>
        </p:spPr>
      </p:sp>
      <p:sp>
        <p:nvSpPr>
          <p:cNvPr id="19" name="Text 17"/>
          <p:cNvSpPr txBox="1"/>
          <p:nvPr/>
        </p:nvSpPr>
        <p:spPr>
          <a:xfrm>
            <a:off x="4445000" y="37846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Des cartes en direct</a:t>
            </a:r>
            <a:endParaRPr lang="en-US" sz="1400" dirty="0"/>
          </a:p>
        </p:txBody>
      </p:sp>
      <p:sp>
        <p:nvSpPr>
          <p:cNvPr id="20" name="Text 18"/>
          <p:cNvSpPr txBox="1"/>
          <p:nvPr/>
        </p:nvSpPr>
        <p:spPr>
          <a:xfrm>
            <a:off x="4445000" y="40767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Les zones d’avis d’eau et les chantiers près de toi.</a:t>
            </a:r>
            <a:endParaRPr lang="en-US" sz="1200" dirty="0"/>
          </a:p>
        </p:txBody>
      </p:sp>
      <p:sp>
        <p:nvSpPr>
          <p:cNvPr id="21" name="Pour tout le monde"/>
          <p:cNvSpPr/>
          <p:nvPr/>
        </p:nvSpPr>
        <p:spPr>
          <a:xfrm>
            <a:off x="812800" y="4711700"/>
            <a:ext cx="3302000" cy="952500"/>
          </a:xfrm>
          <a:prstGeom prst="roundRect">
            <a:avLst>
              <a:gd name="adj" fmla="val 16000"/>
            </a:avLst>
          </a:prstGeom>
          <a:solidFill>
            <a:srgbClr val="FFFFFF"/>
          </a:solidFill>
          <a:ln/>
        </p:spPr>
      </p:sp>
      <p:sp>
        <p:nvSpPr>
          <p:cNvPr id="22" name="Text 20"/>
          <p:cNvSpPr txBox="1"/>
          <p:nvPr/>
        </p:nvSpPr>
        <p:spPr>
          <a:xfrm>
            <a:off x="990600" y="48387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Pour tout le monde</a:t>
            </a:r>
            <a:endParaRPr lang="en-US" sz="1400" dirty="0"/>
          </a:p>
        </p:txBody>
      </p:sp>
      <p:sp>
        <p:nvSpPr>
          <p:cNvPr id="23" name="Text 21"/>
          <p:cNvSpPr txBox="1"/>
          <p:nvPr/>
        </p:nvSpPr>
        <p:spPr>
          <a:xfrm>
            <a:off x="990600" y="51308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Mode sombre, texte agrandi, contrastes vérifiés.</a:t>
            </a:r>
            <a:endParaRPr lang="en-US" sz="1200" dirty="0"/>
          </a:p>
        </p:txBody>
      </p:sp>
      <p:sp>
        <p:nvSpPr>
          <p:cNvPr id="24" name="Aussi sur le web"/>
          <p:cNvSpPr/>
          <p:nvPr/>
        </p:nvSpPr>
        <p:spPr>
          <a:xfrm>
            <a:off x="4267200" y="4711700"/>
            <a:ext cx="3302000" cy="952500"/>
          </a:xfrm>
          <a:prstGeom prst="roundRect">
            <a:avLst>
              <a:gd name="adj" fmla="val 16000"/>
            </a:avLst>
          </a:prstGeom>
          <a:solidFill>
            <a:srgbClr val="FFFFFF"/>
          </a:solidFill>
          <a:ln/>
        </p:spPr>
      </p:sp>
      <p:sp>
        <p:nvSpPr>
          <p:cNvPr id="25" name="Text 23"/>
          <p:cNvSpPr txBox="1"/>
          <p:nvPr/>
        </p:nvSpPr>
        <p:spPr>
          <a:xfrm>
            <a:off x="4445000" y="4838700"/>
            <a:ext cx="2946400" cy="254000"/>
          </a:xfrm>
          <a:prstGeom prst="rect">
            <a:avLst/>
          </a:prstGeom>
          <a:noFill/>
          <a:ln/>
        </p:spPr>
        <p:txBody>
          <a:bodyPr wrap="square" lIns="0" tIns="0" rIns="0" bIns="0" rtlCol="0" anchor="t"/>
          <a:lstStyle/>
          <a:p>
            <a:pPr marL="0" indent="0" algn="l">
              <a:lnSpc>
                <a:spcPct val="120000"/>
              </a:lnSpc>
              <a:buNone/>
            </a:pPr>
            <a:r>
              <a:rPr lang="en-US" sz="1400" b="1" dirty="0">
                <a:solidFill>
                  <a:srgbClr val="121417"/>
                </a:solidFill>
              </a:rPr>
              <a:t>Aussi sur le web</a:t>
            </a:r>
            <a:endParaRPr lang="en-US" sz="1400" dirty="0"/>
          </a:p>
        </p:txBody>
      </p:sp>
      <p:sp>
        <p:nvSpPr>
          <p:cNvPr id="26" name="Text 24"/>
          <p:cNvSpPr txBox="1"/>
          <p:nvPr/>
        </p:nvSpPr>
        <p:spPr>
          <a:xfrm>
            <a:off x="4445000" y="5130800"/>
            <a:ext cx="2946400" cy="457200"/>
          </a:xfrm>
          <a:prstGeom prst="rect">
            <a:avLst/>
          </a:prstGeom>
          <a:noFill/>
          <a:ln/>
        </p:spPr>
        <p:txBody>
          <a:bodyPr wrap="square" lIns="0" tIns="0" rIns="0" bIns="0" rtlCol="0" anchor="t"/>
          <a:lstStyle/>
          <a:p>
            <a:pPr marL="0" indent="0" algn="l">
              <a:lnSpc>
                <a:spcPct val="125000"/>
              </a:lnSpc>
              <a:buNone/>
            </a:pPr>
            <a:r>
              <a:rPr lang="en-US" sz="1200" dirty="0">
                <a:solidFill>
                  <a:srgbClr val="4A5056"/>
                </a:solidFill>
              </a:rPr>
              <a:t>La même app, dans un navigateur.</a:t>
            </a:r>
            <a:endParaRPr lang="en-US" sz="1200" dirty="0"/>
          </a:p>
        </p:txBody>
      </p:sp>
      <p:sp>
        <p:nvSpPr>
          <p:cNvPr id="27" name="bord c_carte"/>
          <p:cNvSpPr/>
          <p:nvPr/>
        </p:nvSpPr>
        <p:spPr>
          <a:xfrm>
            <a:off x="7918450" y="1530350"/>
            <a:ext cx="3479800" cy="3671006"/>
          </a:xfrm>
          <a:prstGeom prst="roundRect">
            <a:avLst>
              <a:gd name="adj" fmla="val 5474"/>
            </a:avLst>
          </a:prstGeom>
          <a:solidFill>
            <a:srgbClr val="D8DAD4"/>
          </a:solidFill>
          <a:ln/>
        </p:spPr>
      </p:sp>
      <p:pic>
        <p:nvPicPr>
          <p:cNvPr id="28" name="Image 0" descr="Capture de l’app : c_carte"/>
          <p:cNvPicPr>
            <a:picLocks noChangeAspect="1"/>
          </p:cNvPicPr>
          <p:nvPr/>
        </p:nvPicPr>
        <p:blipFill>
          <a:blip r:embed="rId3"/>
          <a:stretch>
            <a:fillRect/>
          </a:stretch>
        </p:blipFill>
        <p:spPr>
          <a:xfrm>
            <a:off x="7937500" y="1549400"/>
            <a:ext cx="3441700" cy="3632906"/>
          </a:xfrm>
          <a:prstGeom prst="rect">
            <a:avLst/>
          </a:prstGeom>
        </p:spPr>
      </p:pic>
      <p:sp>
        <p:nvSpPr>
          <p:cNvPr id="29"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F1F2F3"/>
                </a:solidFill>
              </a:rPr>
              <a:t>Pourquoi l’utiliser ? Ce que ça t’évite</a:t>
            </a:r>
            <a:endParaRPr lang="en-US" sz="3600" dirty="0"/>
          </a:p>
        </p:txBody>
      </p:sp>
      <p:sp>
        <p:nvSpPr>
          <p:cNvPr id="3" name="Boire l’eau pendant un avis"/>
          <p:cNvSpPr/>
          <p:nvPr/>
        </p:nvSpPr>
        <p:spPr>
          <a:xfrm>
            <a:off x="812800" y="1549400"/>
            <a:ext cx="3403600" cy="1587500"/>
          </a:xfrm>
          <a:prstGeom prst="roundRect">
            <a:avLst>
              <a:gd name="adj" fmla="val 11200"/>
            </a:avLst>
          </a:prstGeom>
          <a:solidFill>
            <a:srgbClr val="1E2126"/>
          </a:solidFill>
          <a:ln/>
        </p:spPr>
      </p:sp>
      <p:sp>
        <p:nvSpPr>
          <p:cNvPr id="4" name="Text 2"/>
          <p:cNvSpPr txBox="1"/>
          <p:nvPr/>
        </p:nvSpPr>
        <p:spPr>
          <a:xfrm>
            <a:off x="1028700" y="17272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Boire l’eau pendant un avis</a:t>
            </a:r>
            <a:endParaRPr lang="en-US" sz="1700" dirty="0"/>
          </a:p>
        </p:txBody>
      </p:sp>
      <p:sp>
        <p:nvSpPr>
          <p:cNvPr id="5" name="Text 3"/>
          <p:cNvSpPr txBox="1"/>
          <p:nvPr/>
        </p:nvSpPr>
        <p:spPr>
          <a:xfrm>
            <a:off x="1028700" y="24638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L’alerte arrive à ton adresse, dès qu’elle est publiée.</a:t>
            </a:r>
            <a:endParaRPr lang="en-US" sz="1400" dirty="0"/>
          </a:p>
        </p:txBody>
      </p:sp>
      <p:sp>
        <p:nvSpPr>
          <p:cNvPr id="6" name="L’amende de 45 $ du stationnement de nuit"/>
          <p:cNvSpPr/>
          <p:nvPr/>
        </p:nvSpPr>
        <p:spPr>
          <a:xfrm>
            <a:off x="4394200" y="1549400"/>
            <a:ext cx="3403600" cy="1587500"/>
          </a:xfrm>
          <a:prstGeom prst="roundRect">
            <a:avLst>
              <a:gd name="adj" fmla="val 11200"/>
            </a:avLst>
          </a:prstGeom>
          <a:solidFill>
            <a:srgbClr val="1E2126"/>
          </a:solidFill>
          <a:ln/>
        </p:spPr>
      </p:sp>
      <p:sp>
        <p:nvSpPr>
          <p:cNvPr id="7" name="Text 5"/>
          <p:cNvSpPr txBox="1"/>
          <p:nvPr/>
        </p:nvSpPr>
        <p:spPr>
          <a:xfrm>
            <a:off x="4610100" y="17272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L’amende de 45 $ du stationnement de nuit</a:t>
            </a:r>
            <a:endParaRPr lang="en-US" sz="1700" dirty="0"/>
          </a:p>
        </p:txBody>
      </p:sp>
      <p:sp>
        <p:nvSpPr>
          <p:cNvPr id="8" name="Text 6"/>
          <p:cNvSpPr txBox="1"/>
          <p:nvPr/>
        </p:nvSpPr>
        <p:spPr>
          <a:xfrm>
            <a:off x="4610100" y="24638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Un rappel à 21 h, les soirs d’hiver.</a:t>
            </a:r>
            <a:endParaRPr lang="en-US" sz="1400" dirty="0"/>
          </a:p>
        </p:txBody>
      </p:sp>
      <p:sp>
        <p:nvSpPr>
          <p:cNvPr id="9" name="Le bac oublié dans l’entrée"/>
          <p:cNvSpPr/>
          <p:nvPr/>
        </p:nvSpPr>
        <p:spPr>
          <a:xfrm>
            <a:off x="7975600" y="1549400"/>
            <a:ext cx="3403600" cy="1587500"/>
          </a:xfrm>
          <a:prstGeom prst="roundRect">
            <a:avLst>
              <a:gd name="adj" fmla="val 11200"/>
            </a:avLst>
          </a:prstGeom>
          <a:solidFill>
            <a:srgbClr val="1E2126"/>
          </a:solidFill>
          <a:ln/>
        </p:spPr>
      </p:sp>
      <p:sp>
        <p:nvSpPr>
          <p:cNvPr id="10" name="Text 8"/>
          <p:cNvSpPr txBox="1"/>
          <p:nvPr/>
        </p:nvSpPr>
        <p:spPr>
          <a:xfrm>
            <a:off x="8191500" y="17272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Le bac oublié dans l’entrée</a:t>
            </a:r>
            <a:endParaRPr lang="en-US" sz="1700" dirty="0"/>
          </a:p>
        </p:txBody>
      </p:sp>
      <p:sp>
        <p:nvSpPr>
          <p:cNvPr id="11" name="Text 9"/>
          <p:cNvSpPr txBox="1"/>
          <p:nvPr/>
        </p:nvSpPr>
        <p:spPr>
          <a:xfrm>
            <a:off x="8191500" y="24638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Un rappel la veille, à 19 h, avec le bon bac.</a:t>
            </a:r>
            <a:endParaRPr lang="en-US" sz="1400" dirty="0"/>
          </a:p>
        </p:txBody>
      </p:sp>
      <p:sp>
        <p:nvSpPr>
          <p:cNvPr id="12" name="La panne ou la tempête qui te surprend"/>
          <p:cNvSpPr/>
          <p:nvPr/>
        </p:nvSpPr>
        <p:spPr>
          <a:xfrm>
            <a:off x="812800" y="3289300"/>
            <a:ext cx="3403600" cy="1587500"/>
          </a:xfrm>
          <a:prstGeom prst="roundRect">
            <a:avLst>
              <a:gd name="adj" fmla="val 11200"/>
            </a:avLst>
          </a:prstGeom>
          <a:solidFill>
            <a:srgbClr val="1E2126"/>
          </a:solidFill>
          <a:ln/>
        </p:spPr>
      </p:sp>
      <p:sp>
        <p:nvSpPr>
          <p:cNvPr id="13" name="Text 11"/>
          <p:cNvSpPr txBox="1"/>
          <p:nvPr/>
        </p:nvSpPr>
        <p:spPr>
          <a:xfrm>
            <a:off x="1028700" y="34671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La panne ou la tempête qui te surprend</a:t>
            </a:r>
            <a:endParaRPr lang="en-US" sz="1700" dirty="0"/>
          </a:p>
        </p:txBody>
      </p:sp>
      <p:sp>
        <p:nvSpPr>
          <p:cNvPr id="14" name="Text 12"/>
          <p:cNvSpPr txBox="1"/>
          <p:nvPr/>
        </p:nvSpPr>
        <p:spPr>
          <a:xfrm>
            <a:off x="1028700" y="42037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Tu le sais la veille, et tu t’organises.</a:t>
            </a:r>
            <a:endParaRPr lang="en-US" sz="1400" dirty="0"/>
          </a:p>
        </p:txBody>
      </p:sp>
      <p:sp>
        <p:nvSpPr>
          <p:cNvPr id="15" name="La rue fermée sur ton chemin"/>
          <p:cNvSpPr/>
          <p:nvPr/>
        </p:nvSpPr>
        <p:spPr>
          <a:xfrm>
            <a:off x="4394200" y="3289300"/>
            <a:ext cx="3403600" cy="1587500"/>
          </a:xfrm>
          <a:prstGeom prst="roundRect">
            <a:avLst>
              <a:gd name="adj" fmla="val 11200"/>
            </a:avLst>
          </a:prstGeom>
          <a:solidFill>
            <a:srgbClr val="1E2126"/>
          </a:solidFill>
          <a:ln/>
        </p:spPr>
      </p:sp>
      <p:sp>
        <p:nvSpPr>
          <p:cNvPr id="16" name="Text 14"/>
          <p:cNvSpPr txBox="1"/>
          <p:nvPr/>
        </p:nvSpPr>
        <p:spPr>
          <a:xfrm>
            <a:off x="4610100" y="34671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La rue fermée sur ton chemin</a:t>
            </a:r>
            <a:endParaRPr lang="en-US" sz="1700" dirty="0"/>
          </a:p>
        </p:txBody>
      </p:sp>
      <p:sp>
        <p:nvSpPr>
          <p:cNvPr id="17" name="Text 15"/>
          <p:cNvSpPr txBox="1"/>
          <p:nvPr/>
        </p:nvSpPr>
        <p:spPr>
          <a:xfrm>
            <a:off x="4610100" y="42037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Les chantiers et les routes, avant de partir.</a:t>
            </a:r>
            <a:endParaRPr lang="en-US" sz="1400" dirty="0"/>
          </a:p>
        </p:txBody>
      </p:sp>
      <p:sp>
        <p:nvSpPr>
          <p:cNvPr id="18" name="Une douzaine de sites à fouiller"/>
          <p:cNvSpPr/>
          <p:nvPr/>
        </p:nvSpPr>
        <p:spPr>
          <a:xfrm>
            <a:off x="7975600" y="3289300"/>
            <a:ext cx="3403600" cy="1587500"/>
          </a:xfrm>
          <a:prstGeom prst="roundRect">
            <a:avLst>
              <a:gd name="adj" fmla="val 11200"/>
            </a:avLst>
          </a:prstGeom>
          <a:solidFill>
            <a:srgbClr val="1E2126"/>
          </a:solidFill>
          <a:ln/>
        </p:spPr>
      </p:sp>
      <p:sp>
        <p:nvSpPr>
          <p:cNvPr id="19" name="Text 17"/>
          <p:cNvSpPr txBox="1"/>
          <p:nvPr/>
        </p:nvSpPr>
        <p:spPr>
          <a:xfrm>
            <a:off x="8191500" y="3467100"/>
            <a:ext cx="2971800" cy="698500"/>
          </a:xfrm>
          <a:prstGeom prst="rect">
            <a:avLst/>
          </a:prstGeom>
          <a:noFill/>
          <a:ln/>
        </p:spPr>
        <p:txBody>
          <a:bodyPr wrap="square" lIns="0" tIns="0" rIns="0" bIns="0" rtlCol="0" anchor="t"/>
          <a:lstStyle/>
          <a:p>
            <a:pPr marL="0" indent="0" algn="l">
              <a:lnSpc>
                <a:spcPct val="112000"/>
              </a:lnSpc>
              <a:buNone/>
            </a:pPr>
            <a:r>
              <a:rPr lang="en-US" sz="1700" b="1" dirty="0">
                <a:solidFill>
                  <a:srgbClr val="FFD02B"/>
                </a:solidFill>
              </a:rPr>
              <a:t>Une douzaine de sites à fouiller</a:t>
            </a:r>
            <a:endParaRPr lang="en-US" sz="1700" dirty="0"/>
          </a:p>
        </p:txBody>
      </p:sp>
      <p:sp>
        <p:nvSpPr>
          <p:cNvPr id="20" name="Text 18"/>
          <p:cNvSpPr txBox="1"/>
          <p:nvPr/>
        </p:nvSpPr>
        <p:spPr>
          <a:xfrm>
            <a:off x="8191500" y="4203700"/>
            <a:ext cx="2971800" cy="571500"/>
          </a:xfrm>
          <a:prstGeom prst="rect">
            <a:avLst/>
          </a:prstGeom>
          <a:noFill/>
          <a:ln/>
        </p:spPr>
        <p:txBody>
          <a:bodyPr wrap="square" lIns="0" tIns="0" rIns="0" bIns="0" rtlCol="0" anchor="t"/>
          <a:lstStyle/>
          <a:p>
            <a:pPr marL="0" indent="0" algn="l">
              <a:lnSpc>
                <a:spcPct val="128000"/>
              </a:lnSpc>
              <a:buNone/>
            </a:pPr>
            <a:r>
              <a:rPr lang="en-US" sz="1400" dirty="0">
                <a:solidFill>
                  <a:srgbClr val="D6DADE"/>
                </a:solidFill>
              </a:rPr>
              <a:t>Un coup d’œil à l’écran d’accueil suffit.</a:t>
            </a:r>
            <a:endParaRPr lang="en-US" sz="1400" dirty="0"/>
          </a:p>
        </p:txBody>
      </p:sp>
      <p:sp>
        <p:nvSpPr>
          <p:cNvPr id="21" name="Text 19"/>
          <p:cNvSpPr txBox="1"/>
          <p:nvPr/>
        </p:nvSpPr>
        <p:spPr>
          <a:xfrm>
            <a:off x="812800" y="5092700"/>
            <a:ext cx="10566400" cy="571500"/>
          </a:xfrm>
          <a:prstGeom prst="rect">
            <a:avLst/>
          </a:prstGeom>
          <a:noFill/>
          <a:ln/>
        </p:spPr>
        <p:txBody>
          <a:bodyPr wrap="square" lIns="0" tIns="0" rIns="0" bIns="0" rtlCol="0" anchor="t"/>
          <a:lstStyle/>
          <a:p>
            <a:pPr marL="0" indent="0" algn="l">
              <a:lnSpc>
                <a:spcPct val="130000"/>
              </a:lnSpc>
              <a:buNone/>
            </a:pPr>
            <a:r>
              <a:rPr lang="en-US" sz="1500" dirty="0">
                <a:solidFill>
                  <a:srgbClr val="F1F2F3"/>
                </a:solidFill>
              </a:rPr>
              <a:t>Pour les familles, les aînés et leurs proches, les étudiants, les travailleurs : tous ceux qui ont une adresse à Saguenay.</a:t>
            </a:r>
            <a:endParaRPr lang="en-US" sz="15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A9198"/>
                </a:solidFill>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Gratuite, privée et fiable</a:t>
            </a:r>
            <a:endParaRPr lang="en-US" sz="3600" dirty="0"/>
          </a:p>
        </p:txBody>
      </p:sp>
      <p:sp>
        <p:nvSpPr>
          <p:cNvPr id="3" name="carte 1"/>
          <p:cNvSpPr/>
          <p:nvPr/>
        </p:nvSpPr>
        <p:spPr>
          <a:xfrm>
            <a:off x="812800" y="1587500"/>
            <a:ext cx="3403600" cy="3302000"/>
          </a:xfrm>
          <a:prstGeom prst="roundRect">
            <a:avLst>
              <a:gd name="adj" fmla="val 6154"/>
            </a:avLst>
          </a:prstGeom>
          <a:solidFill>
            <a:srgbClr val="F1F2EF"/>
          </a:solidFill>
          <a:ln/>
        </p:spPr>
      </p:sp>
      <p:sp>
        <p:nvSpPr>
          <p:cNvPr id="4" name="Text 2"/>
          <p:cNvSpPr txBox="1"/>
          <p:nvPr/>
        </p:nvSpPr>
        <p:spPr>
          <a:xfrm>
            <a:off x="1066800" y="18415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57A4A"/>
                </a:solidFill>
              </a:rPr>
              <a:t>Tes données</a:t>
            </a:r>
            <a:endParaRPr lang="en-US" sz="1200" dirty="0"/>
          </a:p>
        </p:txBody>
      </p:sp>
      <p:sp>
        <p:nvSpPr>
          <p:cNvPr id="5" name="Text 3"/>
          <p:cNvSpPr txBox="1"/>
          <p:nvPr/>
        </p:nvSpPr>
        <p:spPr>
          <a:xfrm>
            <a:off x="1066800" y="2133600"/>
            <a:ext cx="2895600" cy="6985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Rien ne sort</a:t>
            </a:r>
            <a:endParaRPr lang="en-US" sz="2200" dirty="0"/>
          </a:p>
        </p:txBody>
      </p:sp>
      <p:sp>
        <p:nvSpPr>
          <p:cNvPr id="6" name="Text 4"/>
          <p:cNvSpPr txBox="1"/>
          <p:nvPr/>
        </p:nvSpPr>
        <p:spPr>
          <a:xfrm>
            <a:off x="1066800" y="2908300"/>
            <a:ext cx="2895600" cy="1778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Sans compte, sans pub, sans suivi. L’adresse et la position restent sur le téléphone.</a:t>
            </a:r>
            <a:endParaRPr lang="en-US" sz="1400" dirty="0"/>
          </a:p>
        </p:txBody>
      </p:sp>
      <p:sp>
        <p:nvSpPr>
          <p:cNvPr id="7" name="carte 2"/>
          <p:cNvSpPr/>
          <p:nvPr/>
        </p:nvSpPr>
        <p:spPr>
          <a:xfrm>
            <a:off x="4394200" y="1587500"/>
            <a:ext cx="3403600" cy="3302000"/>
          </a:xfrm>
          <a:prstGeom prst="roundRect">
            <a:avLst>
              <a:gd name="adj" fmla="val 6154"/>
            </a:avLst>
          </a:prstGeom>
          <a:solidFill>
            <a:srgbClr val="F1F2EF"/>
          </a:solidFill>
          <a:ln/>
        </p:spPr>
      </p:sp>
      <p:sp>
        <p:nvSpPr>
          <p:cNvPr id="8" name="Text 6"/>
          <p:cNvSpPr txBox="1"/>
          <p:nvPr/>
        </p:nvSpPr>
        <p:spPr>
          <a:xfrm>
            <a:off x="4648200" y="18415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2F6BEB"/>
                </a:solidFill>
              </a:rPr>
              <a:t>Sans réseau</a:t>
            </a:r>
            <a:endParaRPr lang="en-US" sz="1200" dirty="0"/>
          </a:p>
        </p:txBody>
      </p:sp>
      <p:sp>
        <p:nvSpPr>
          <p:cNvPr id="9" name="Text 7"/>
          <p:cNvSpPr txBox="1"/>
          <p:nvPr/>
        </p:nvSpPr>
        <p:spPr>
          <a:xfrm>
            <a:off x="4648200" y="2133600"/>
            <a:ext cx="2895600" cy="6985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Elle continue</a:t>
            </a:r>
            <a:endParaRPr lang="en-US" sz="2200" dirty="0"/>
          </a:p>
        </p:txBody>
      </p:sp>
      <p:sp>
        <p:nvSpPr>
          <p:cNvPr id="10" name="Text 8"/>
          <p:cNvSpPr txBox="1"/>
          <p:nvPr/>
        </p:nvSpPr>
        <p:spPr>
          <a:xfrm>
            <a:off x="4648200" y="2908300"/>
            <a:ext cx="2895600" cy="1778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Collectes, stationnement, horaire du bus, rappels et widget marchent hors ligne, avec l’heure du dernier relevé.</a:t>
            </a:r>
            <a:endParaRPr lang="en-US" sz="1400" dirty="0"/>
          </a:p>
        </p:txBody>
      </p:sp>
      <p:sp>
        <p:nvSpPr>
          <p:cNvPr id="11" name="carte 3"/>
          <p:cNvSpPr/>
          <p:nvPr/>
        </p:nvSpPr>
        <p:spPr>
          <a:xfrm>
            <a:off x="7975600" y="1587500"/>
            <a:ext cx="3403600" cy="3302000"/>
          </a:xfrm>
          <a:prstGeom prst="roundRect">
            <a:avLst>
              <a:gd name="adj" fmla="val 6154"/>
            </a:avLst>
          </a:prstGeom>
          <a:solidFill>
            <a:srgbClr val="F1F2EF"/>
          </a:solidFill>
          <a:ln/>
        </p:spPr>
      </p:sp>
      <p:sp>
        <p:nvSpPr>
          <p:cNvPr id="12" name="Text 10"/>
          <p:cNvSpPr txBox="1"/>
          <p:nvPr/>
        </p:nvSpPr>
        <p:spPr>
          <a:xfrm>
            <a:off x="8229600" y="18415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B8660A"/>
                </a:solidFill>
              </a:rPr>
              <a:t>Vérifiée</a:t>
            </a:r>
            <a:endParaRPr lang="en-US" sz="1200" dirty="0"/>
          </a:p>
        </p:txBody>
      </p:sp>
      <p:sp>
        <p:nvSpPr>
          <p:cNvPr id="13" name="Text 11"/>
          <p:cNvSpPr txBox="1"/>
          <p:nvPr/>
        </p:nvSpPr>
        <p:spPr>
          <a:xfrm>
            <a:off x="8229600" y="2133600"/>
            <a:ext cx="2895600" cy="6985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368 tests automatiques</a:t>
            </a:r>
            <a:endParaRPr lang="en-US" sz="2200" dirty="0"/>
          </a:p>
        </p:txBody>
      </p:sp>
      <p:sp>
        <p:nvSpPr>
          <p:cNvPr id="14" name="Text 12"/>
          <p:cNvSpPr txBox="1"/>
          <p:nvPr/>
        </p:nvSpPr>
        <p:spPr>
          <a:xfrm>
            <a:off x="8229600" y="2908300"/>
            <a:ext cx="2895600" cy="1778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Vérifiée en version finale sur un vrai téléphone Android. Assistant essayé avec de vraies questions et de vraies réponses.</a:t>
            </a:r>
            <a:endParaRPr lang="en-US" sz="1400" dirty="0"/>
          </a:p>
        </p:txBody>
      </p:sp>
      <p:sp>
        <p:nvSpPr>
          <p:cNvPr id="15" name="Text 13"/>
          <p:cNvSpPr txBox="1"/>
          <p:nvPr/>
        </p:nvSpPr>
        <p:spPr>
          <a:xfrm>
            <a:off x="812800" y="5080000"/>
            <a:ext cx="10566400" cy="508000"/>
          </a:xfrm>
          <a:prstGeom prst="rect">
            <a:avLst/>
          </a:prstGeom>
          <a:noFill/>
          <a:ln/>
        </p:spPr>
        <p:txBody>
          <a:bodyPr wrap="square" lIns="0" tIns="0" rIns="0" bIns="0" rtlCol="0" anchor="t"/>
          <a:lstStyle/>
          <a:p>
            <a:pPr marL="0" indent="0" algn="l">
              <a:lnSpc>
                <a:spcPct val="130000"/>
              </a:lnSpc>
              <a:buNone/>
            </a:pPr>
            <a:r>
              <a:rPr lang="en-US" sz="1400" dirty="0">
                <a:solidFill>
                  <a:srgbClr val="4A5056"/>
                </a:solidFill>
              </a:rPr>
              <a:t>Projet indépendant, non affilié à la Ville de Saguenay ni à la STS. Reste à faire avant la sortie : un essai sur un vrai iPhone.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Tout est branché : il reste les accords</a:t>
            </a:r>
            <a:endParaRPr lang="en-US" sz="3600" dirty="0"/>
          </a:p>
        </p:txBody>
      </p:sp>
      <p:sp>
        <p:nvSpPr>
          <p:cNvPr id="3" name="Publiable dès maintenant"/>
          <p:cNvSpPr/>
          <p:nvPr/>
        </p:nvSpPr>
        <p:spPr>
          <a:xfrm>
            <a:off x="812800" y="1574800"/>
            <a:ext cx="3403600" cy="3048000"/>
          </a:xfrm>
          <a:prstGeom prst="roundRect">
            <a:avLst>
              <a:gd name="adj" fmla="val 5833"/>
            </a:avLst>
          </a:prstGeom>
          <a:solidFill>
            <a:srgbClr val="FFFFFF"/>
          </a:solidFill>
          <a:ln/>
        </p:spPr>
      </p:sp>
      <p:sp>
        <p:nvSpPr>
          <p:cNvPr id="4" name="Shape 2"/>
          <p:cNvSpPr/>
          <p:nvPr/>
        </p:nvSpPr>
        <p:spPr>
          <a:xfrm>
            <a:off x="1028700" y="1790700"/>
            <a:ext cx="381000" cy="50800"/>
          </a:xfrm>
          <a:prstGeom prst="roundRect">
            <a:avLst>
              <a:gd name="adj" fmla="val 50000"/>
            </a:avLst>
          </a:prstGeom>
          <a:solidFill>
            <a:srgbClr val="157A4A"/>
          </a:solidFill>
          <a:ln/>
        </p:spPr>
      </p:sp>
      <p:sp>
        <p:nvSpPr>
          <p:cNvPr id="5" name="Text 3"/>
          <p:cNvSpPr txBox="1"/>
          <p:nvPr/>
        </p:nvSpPr>
        <p:spPr>
          <a:xfrm>
            <a:off x="1028700" y="1930400"/>
            <a:ext cx="2971800" cy="635000"/>
          </a:xfrm>
          <a:prstGeom prst="rect">
            <a:avLst/>
          </a:prstGeom>
          <a:noFill/>
          <a:ln/>
        </p:spPr>
        <p:txBody>
          <a:bodyPr wrap="square" lIns="0" tIns="0" rIns="0" bIns="0" rtlCol="0" anchor="t"/>
          <a:lstStyle/>
          <a:p>
            <a:pPr marL="0" indent="0" algn="l">
              <a:lnSpc>
                <a:spcPct val="112000"/>
              </a:lnSpc>
              <a:buNone/>
            </a:pPr>
            <a:r>
              <a:rPr lang="en-US" sz="1600" b="1" dirty="0">
                <a:solidFill>
                  <a:srgbClr val="121417"/>
                </a:solidFill>
              </a:rPr>
              <a:t>Publiable dès maintenant</a:t>
            </a:r>
            <a:endParaRPr lang="en-US" sz="1600" dirty="0"/>
          </a:p>
        </p:txBody>
      </p:sp>
      <p:sp>
        <p:nvSpPr>
          <p:cNvPr id="6" name="Text 4"/>
          <p:cNvSpPr txBox="1"/>
          <p:nvPr/>
        </p:nvSpPr>
        <p:spPr>
          <a:xfrm>
            <a:off x="1028700" y="2667000"/>
            <a:ext cx="2971800" cy="1841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4A5056"/>
                </a:solidFill>
              </a:rPr>
              <a:t>Stationnement et travaux</a:t>
            </a:r>
            <a:endParaRPr lang="en-US" sz="1400" dirty="0"/>
          </a:p>
          <a:p>
            <a:pPr marL="228600" indent="-228600">
              <a:lnSpc>
                <a:spcPct val="125000"/>
              </a:lnSpc>
              <a:spcAft>
                <a:spcPts val="400"/>
              </a:spcAft>
              <a:buSzPct val="100000"/>
              <a:buChar char="•"/>
            </a:pPr>
            <a:r>
              <a:rPr lang="en-US" sz="1400" dirty="0">
                <a:solidFill>
                  <a:srgbClr val="4A5056"/>
                </a:solidFill>
              </a:rPr>
              <a:t>Urgences et routes</a:t>
            </a:r>
            <a:endParaRPr lang="en-US" sz="1400" dirty="0"/>
          </a:p>
          <a:p>
            <a:pPr marL="228600" indent="-228600">
              <a:lnSpc>
                <a:spcPct val="125000"/>
              </a:lnSpc>
              <a:spcAft>
                <a:spcPts val="400"/>
              </a:spcAft>
              <a:buSzPct val="100000"/>
              <a:buChar char="•"/>
            </a:pPr>
            <a:r>
              <a:rPr lang="en-US" sz="1400" dirty="0">
                <a:solidFill>
                  <a:srgbClr val="4A5056"/>
                </a:solidFill>
              </a:rPr>
              <a:t>Météo, air, feux</a:t>
            </a:r>
            <a:endParaRPr lang="en-US" sz="1400" dirty="0"/>
          </a:p>
          <a:p>
            <a:pPr marL="228600" indent="-228600">
              <a:lnSpc>
                <a:spcPct val="125000"/>
              </a:lnSpc>
              <a:spcAft>
                <a:spcPts val="400"/>
              </a:spcAft>
              <a:buSzPct val="100000"/>
              <a:buChar char="•"/>
            </a:pPr>
            <a:r>
              <a:rPr lang="en-US" sz="1400" dirty="0">
                <a:solidFill>
                  <a:srgbClr val="4A5056"/>
                </a:solidFill>
              </a:rPr>
              <a:t>Pannes et pointes (usage non commercial)</a:t>
            </a:r>
            <a:endParaRPr lang="en-US" sz="1400" dirty="0"/>
          </a:p>
        </p:txBody>
      </p:sp>
      <p:sp>
        <p:nvSpPr>
          <p:cNvPr id="7" name="Branché, à publier avec un accord"/>
          <p:cNvSpPr/>
          <p:nvPr/>
        </p:nvSpPr>
        <p:spPr>
          <a:xfrm>
            <a:off x="4394200" y="1574800"/>
            <a:ext cx="3403600" cy="3048000"/>
          </a:xfrm>
          <a:prstGeom prst="roundRect">
            <a:avLst>
              <a:gd name="adj" fmla="val 5833"/>
            </a:avLst>
          </a:prstGeom>
          <a:solidFill>
            <a:srgbClr val="FFFFFF"/>
          </a:solidFill>
          <a:ln/>
        </p:spPr>
      </p:sp>
      <p:sp>
        <p:nvSpPr>
          <p:cNvPr id="8" name="Shape 6"/>
          <p:cNvSpPr/>
          <p:nvPr/>
        </p:nvSpPr>
        <p:spPr>
          <a:xfrm>
            <a:off x="4610100" y="1790700"/>
            <a:ext cx="381000" cy="50800"/>
          </a:xfrm>
          <a:prstGeom prst="roundRect">
            <a:avLst>
              <a:gd name="adj" fmla="val 50000"/>
            </a:avLst>
          </a:prstGeom>
          <a:solidFill>
            <a:srgbClr val="B8660A"/>
          </a:solidFill>
          <a:ln/>
        </p:spPr>
      </p:sp>
      <p:sp>
        <p:nvSpPr>
          <p:cNvPr id="9" name="Text 7"/>
          <p:cNvSpPr txBox="1"/>
          <p:nvPr/>
        </p:nvSpPr>
        <p:spPr>
          <a:xfrm>
            <a:off x="4610100" y="1930400"/>
            <a:ext cx="2971800" cy="635000"/>
          </a:xfrm>
          <a:prstGeom prst="rect">
            <a:avLst/>
          </a:prstGeom>
          <a:noFill/>
          <a:ln/>
        </p:spPr>
        <p:txBody>
          <a:bodyPr wrap="square" lIns="0" tIns="0" rIns="0" bIns="0" rtlCol="0" anchor="t"/>
          <a:lstStyle/>
          <a:p>
            <a:pPr marL="0" indent="0" algn="l">
              <a:lnSpc>
                <a:spcPct val="112000"/>
              </a:lnSpc>
              <a:buNone/>
            </a:pPr>
            <a:r>
              <a:rPr lang="en-US" sz="1600" b="1" dirty="0">
                <a:solidFill>
                  <a:srgbClr val="121417"/>
                </a:solidFill>
              </a:rPr>
              <a:t>Branché, à publier avec un accord</a:t>
            </a:r>
            <a:endParaRPr lang="en-US" sz="1600" dirty="0"/>
          </a:p>
        </p:txBody>
      </p:sp>
      <p:sp>
        <p:nvSpPr>
          <p:cNvPr id="10" name="Text 8"/>
          <p:cNvSpPr txBox="1"/>
          <p:nvPr/>
        </p:nvSpPr>
        <p:spPr>
          <a:xfrm>
            <a:off x="4610100" y="2667000"/>
            <a:ext cx="2971800" cy="1841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4A5056"/>
                </a:solidFill>
              </a:rPr>
              <a:t>Collectes : la Ville</a:t>
            </a:r>
            <a:endParaRPr lang="en-US" sz="1400" dirty="0"/>
          </a:p>
          <a:p>
            <a:pPr marL="228600" indent="-228600">
              <a:lnSpc>
                <a:spcPct val="125000"/>
              </a:lnSpc>
              <a:spcAft>
                <a:spcPts val="400"/>
              </a:spcAft>
              <a:buSzPct val="100000"/>
              <a:buChar char="•"/>
            </a:pPr>
            <a:r>
              <a:rPr lang="en-US" sz="1400" dirty="0">
                <a:solidFill>
                  <a:srgbClr val="4A5056"/>
                </a:solidFill>
              </a:rPr>
              <a:t>Avis d’aqueduc : la Ville</a:t>
            </a:r>
            <a:endParaRPr lang="en-US" sz="1400" dirty="0"/>
          </a:p>
          <a:p>
            <a:pPr marL="228600" indent="-228600">
              <a:lnSpc>
                <a:spcPct val="125000"/>
              </a:lnSpc>
              <a:spcAft>
                <a:spcPts val="400"/>
              </a:spcAft>
              <a:buSzPct val="100000"/>
              <a:buChar char="•"/>
            </a:pPr>
            <a:r>
              <a:rPr lang="en-US" sz="1400" dirty="0">
                <a:solidFill>
                  <a:srgbClr val="4A5056"/>
                </a:solidFill>
              </a:rPr>
              <a:t>Bus : licence de la STS</a:t>
            </a:r>
            <a:endParaRPr lang="en-US" sz="1400" dirty="0"/>
          </a:p>
        </p:txBody>
      </p:sp>
      <p:sp>
        <p:nvSpPr>
          <p:cNvPr id="11" name="Déjà en place"/>
          <p:cNvSpPr/>
          <p:nvPr/>
        </p:nvSpPr>
        <p:spPr>
          <a:xfrm>
            <a:off x="7975600" y="1574800"/>
            <a:ext cx="3403600" cy="3048000"/>
          </a:xfrm>
          <a:prstGeom prst="roundRect">
            <a:avLst>
              <a:gd name="adj" fmla="val 5833"/>
            </a:avLst>
          </a:prstGeom>
          <a:solidFill>
            <a:srgbClr val="FFFFFF"/>
          </a:solidFill>
          <a:ln/>
        </p:spPr>
      </p:sp>
      <p:sp>
        <p:nvSpPr>
          <p:cNvPr id="12" name="Shape 10"/>
          <p:cNvSpPr/>
          <p:nvPr/>
        </p:nvSpPr>
        <p:spPr>
          <a:xfrm>
            <a:off x="8191500" y="1790700"/>
            <a:ext cx="381000" cy="50800"/>
          </a:xfrm>
          <a:prstGeom prst="roundRect">
            <a:avLst>
              <a:gd name="adj" fmla="val 50000"/>
            </a:avLst>
          </a:prstGeom>
          <a:solidFill>
            <a:srgbClr val="2F6BEB"/>
          </a:solidFill>
          <a:ln/>
        </p:spPr>
      </p:sp>
      <p:sp>
        <p:nvSpPr>
          <p:cNvPr id="13" name="Text 11"/>
          <p:cNvSpPr txBox="1"/>
          <p:nvPr/>
        </p:nvSpPr>
        <p:spPr>
          <a:xfrm>
            <a:off x="8191500" y="1930400"/>
            <a:ext cx="2971800" cy="635000"/>
          </a:xfrm>
          <a:prstGeom prst="rect">
            <a:avLst/>
          </a:prstGeom>
          <a:noFill/>
          <a:ln/>
        </p:spPr>
        <p:txBody>
          <a:bodyPr wrap="square" lIns="0" tIns="0" rIns="0" bIns="0" rtlCol="0" anchor="t"/>
          <a:lstStyle/>
          <a:p>
            <a:pPr marL="0" indent="0" algn="l">
              <a:lnSpc>
                <a:spcPct val="112000"/>
              </a:lnSpc>
              <a:buNone/>
            </a:pPr>
            <a:r>
              <a:rPr lang="en-US" sz="1600" b="1" dirty="0">
                <a:solidFill>
                  <a:srgbClr val="121417"/>
                </a:solidFill>
              </a:rPr>
              <a:t>Déjà en place</a:t>
            </a:r>
            <a:endParaRPr lang="en-US" sz="1600" dirty="0"/>
          </a:p>
        </p:txBody>
      </p:sp>
      <p:sp>
        <p:nvSpPr>
          <p:cNvPr id="14" name="Text 12"/>
          <p:cNvSpPr txBox="1"/>
          <p:nvPr/>
        </p:nvSpPr>
        <p:spPr>
          <a:xfrm>
            <a:off x="8191500" y="2667000"/>
            <a:ext cx="2971800" cy="1841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4A5056"/>
                </a:solidFill>
              </a:rPr>
              <a:t>App Android, iPhone et web</a:t>
            </a:r>
            <a:endParaRPr lang="en-US" sz="1400" dirty="0"/>
          </a:p>
          <a:p>
            <a:pPr marL="228600" indent="-228600">
              <a:lnSpc>
                <a:spcPct val="125000"/>
              </a:lnSpc>
              <a:spcAft>
                <a:spcPts val="400"/>
              </a:spcAft>
              <a:buSzPct val="100000"/>
              <a:buChar char="•"/>
            </a:pPr>
            <a:r>
              <a:rPr lang="en-US" sz="1400" dirty="0">
                <a:solidFill>
                  <a:srgbClr val="4A5056"/>
                </a:solidFill>
              </a:rPr>
              <a:t>Widget et alertes</a:t>
            </a:r>
            <a:endParaRPr lang="en-US" sz="1400" dirty="0"/>
          </a:p>
          <a:p>
            <a:pPr marL="228600" indent="-228600">
              <a:lnSpc>
                <a:spcPct val="125000"/>
              </a:lnSpc>
              <a:spcAft>
                <a:spcPts val="400"/>
              </a:spcAft>
              <a:buSzPct val="100000"/>
              <a:buChar char="•"/>
            </a:pPr>
            <a:r>
              <a:rPr lang="en-US" sz="1400" dirty="0">
                <a:solidFill>
                  <a:srgbClr val="4A5056"/>
                </a:solidFill>
              </a:rPr>
              <a:t>Assistant en ligne, en service</a:t>
            </a:r>
            <a:endParaRPr lang="en-US" sz="1400" dirty="0"/>
          </a:p>
          <a:p>
            <a:pPr marL="228600" indent="-228600">
              <a:lnSpc>
                <a:spcPct val="125000"/>
              </a:lnSpc>
              <a:spcAft>
                <a:spcPts val="400"/>
              </a:spcAft>
              <a:buSzPct val="100000"/>
              <a:buChar char="•"/>
            </a:pPr>
            <a:r>
              <a:rPr lang="en-US" sz="1400" dirty="0">
                <a:solidFill>
                  <a:srgbClr val="4A5056"/>
                </a:solidFill>
              </a:rPr>
              <a:t>Texto et voix : numéro à activer</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Quand l’eau est touchée, prévenir tout le monde</a:t>
            </a:r>
            <a:endParaRPr lang="en-US" sz="3600" dirty="0"/>
          </a:p>
        </p:txBody>
      </p:sp>
      <p:sp>
        <p:nvSpPr>
          <p:cNvPr id="3" name="Text 1"/>
          <p:cNvSpPr txBox="1"/>
          <p:nvPr/>
        </p:nvSpPr>
        <p:spPr>
          <a:xfrm>
            <a:off x="812800" y="812800"/>
            <a:ext cx="10566400" cy="215900"/>
          </a:xfrm>
          <a:prstGeom prst="rect">
            <a:avLst/>
          </a:prstGeom>
          <a:noFill/>
          <a:ln/>
        </p:spPr>
        <p:txBody>
          <a:bodyPr wrap="square" lIns="0" tIns="0" rIns="0" bIns="0" rtlCol="0" anchor="t"/>
          <a:lstStyle/>
          <a:p>
            <a:pPr marL="0" indent="0" algn="l">
              <a:lnSpc>
                <a:spcPct val="120000"/>
              </a:lnSpc>
              <a:buNone/>
            </a:pPr>
            <a:r>
              <a:rPr lang="en-US" sz="1200" b="1" dirty="0">
                <a:solidFill>
                  <a:srgbClr val="4A5056"/>
                </a:solidFill>
              </a:rPr>
              <a:t>Pour la Ville de Saguenay</a:t>
            </a:r>
            <a:endParaRPr lang="en-US" sz="1200" dirty="0"/>
          </a:p>
        </p:txBody>
      </p:sp>
      <p:sp>
        <p:nvSpPr>
          <p:cNvPr id="4" name="Text 2"/>
          <p:cNvSpPr txBox="1"/>
          <p:nvPr/>
        </p:nvSpPr>
        <p:spPr>
          <a:xfrm>
            <a:off x="812800" y="1905000"/>
            <a:ext cx="6604000" cy="952500"/>
          </a:xfrm>
          <a:prstGeom prst="rect">
            <a:avLst/>
          </a:prstGeom>
          <a:noFill/>
          <a:ln/>
        </p:spPr>
        <p:txBody>
          <a:bodyPr wrap="square" lIns="0" tIns="0" rIns="0" bIns="0" rtlCol="0" anchor="t"/>
          <a:lstStyle/>
          <a:p>
            <a:pPr marL="0" indent="0" algn="l">
              <a:lnSpc>
                <a:spcPct val="140000"/>
              </a:lnSpc>
              <a:buNone/>
            </a:pPr>
            <a:r>
              <a:rPr lang="en-US" sz="1600" dirty="0">
                <a:solidFill>
                  <a:srgbClr val="4A5056"/>
                </a:solidFill>
              </a:rPr>
              <a:t>Vos avis d’aqueduc rejoignent les personnes inscrites aux appels automatisés. L’app les montrerait aussi à tous ceux qui ont entré leur adresse, dès que l’avis tombe.</a:t>
            </a:r>
            <a:endParaRPr lang="en-US" sz="1600" dirty="0"/>
          </a:p>
        </p:txBody>
      </p:sp>
      <p:sp>
        <p:nvSpPr>
          <p:cNvPr id="5" name="Text 3"/>
          <p:cNvSpPr txBox="1"/>
          <p:nvPr/>
        </p:nvSpPr>
        <p:spPr>
          <a:xfrm>
            <a:off x="812800" y="3200400"/>
            <a:ext cx="66040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Ce que je vous demande</a:t>
            </a:r>
            <a:endParaRPr lang="en-US" sz="1600" dirty="0"/>
          </a:p>
        </p:txBody>
      </p:sp>
      <p:sp>
        <p:nvSpPr>
          <p:cNvPr id="6" name="Text 4"/>
          <p:cNvSpPr txBox="1"/>
          <p:nvPr/>
        </p:nvSpPr>
        <p:spPr>
          <a:xfrm>
            <a:off x="812800" y="3581400"/>
            <a:ext cx="6604000" cy="12700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a:pPr>
            <a:r>
              <a:rPr lang="en-US" sz="1400" dirty="0">
                <a:solidFill>
                  <a:srgbClr val="121417"/>
                </a:solidFill>
              </a:rPr>
              <a:t>Votre accord écrit pour publier les collectes et les avis, déjà branchés.</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Si possible, les avis sur Données Québec, comme à Repentigny.</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Votre OK pour le nom, sans logo de la Ville.</a:t>
            </a:r>
            <a:endParaRPr lang="en-US" sz="1400" dirty="0"/>
          </a:p>
        </p:txBody>
      </p:sp>
      <p:sp>
        <p:nvSpPr>
          <p:cNvPr id="7" name="chiffre"/>
          <p:cNvSpPr/>
          <p:nvPr/>
        </p:nvSpPr>
        <p:spPr>
          <a:xfrm>
            <a:off x="7823200" y="1905000"/>
            <a:ext cx="3556000" cy="2857500"/>
          </a:xfrm>
          <a:prstGeom prst="roundRect">
            <a:avLst>
              <a:gd name="adj" fmla="val 7111"/>
            </a:avLst>
          </a:prstGeom>
          <a:solidFill>
            <a:srgbClr val="FFD02B"/>
          </a:solidFill>
          <a:ln/>
        </p:spPr>
      </p:sp>
      <p:sp>
        <p:nvSpPr>
          <p:cNvPr id="8" name="Text 6"/>
          <p:cNvSpPr txBox="1"/>
          <p:nvPr/>
        </p:nvSpPr>
        <p:spPr>
          <a:xfrm>
            <a:off x="8077200" y="2159000"/>
            <a:ext cx="3048000" cy="787400"/>
          </a:xfrm>
          <a:prstGeom prst="rect">
            <a:avLst/>
          </a:prstGeom>
          <a:noFill/>
          <a:ln/>
        </p:spPr>
        <p:txBody>
          <a:bodyPr wrap="square" lIns="0" tIns="0" rIns="0" bIns="0" rtlCol="0" anchor="t"/>
          <a:lstStyle/>
          <a:p>
            <a:pPr marL="0" indent="0" algn="l">
              <a:lnSpc>
                <a:spcPct val="100000"/>
              </a:lnSpc>
              <a:buNone/>
            </a:pPr>
            <a:r>
              <a:rPr lang="en-US" sz="6000" b="1" dirty="0">
                <a:solidFill>
                  <a:srgbClr val="1A1906"/>
                </a:solidFill>
              </a:rPr>
              <a:t>31 %</a:t>
            </a:r>
            <a:endParaRPr lang="en-US" sz="6000" dirty="0"/>
          </a:p>
        </p:txBody>
      </p:sp>
      <p:sp>
        <p:nvSpPr>
          <p:cNvPr id="9" name="Text 7"/>
          <p:cNvSpPr txBox="1"/>
          <p:nvPr/>
        </p:nvSpPr>
        <p:spPr>
          <a:xfrm>
            <a:off x="8077200" y="3009900"/>
            <a:ext cx="3048000" cy="787400"/>
          </a:xfrm>
          <a:prstGeom prst="rect">
            <a:avLst/>
          </a:prstGeom>
          <a:noFill/>
          <a:ln/>
        </p:spPr>
        <p:txBody>
          <a:bodyPr wrap="square" lIns="0" tIns="0" rIns="0" bIns="0" rtlCol="0" anchor="t"/>
          <a:lstStyle/>
          <a:p>
            <a:pPr marL="0" indent="0" algn="l">
              <a:lnSpc>
                <a:spcPct val="130000"/>
              </a:lnSpc>
              <a:buNone/>
            </a:pPr>
            <a:r>
              <a:rPr lang="en-US" sz="1400" dirty="0">
                <a:solidFill>
                  <a:srgbClr val="1A1906"/>
                </a:solidFill>
              </a:rPr>
              <a:t>des résidences visées par les avis d’eau n’avaient pas été jointes par l’appel automatisé.</a:t>
            </a:r>
            <a:endParaRPr lang="en-US" sz="1400" dirty="0"/>
          </a:p>
        </p:txBody>
      </p:sp>
      <p:sp>
        <p:nvSpPr>
          <p:cNvPr id="10" name="Text 8"/>
          <p:cNvSpPr txBox="1"/>
          <p:nvPr/>
        </p:nvSpPr>
        <p:spPr>
          <a:xfrm>
            <a:off x="8077200" y="3860800"/>
            <a:ext cx="3048000" cy="571500"/>
          </a:xfrm>
          <a:prstGeom prst="rect">
            <a:avLst/>
          </a:prstGeom>
          <a:noFill/>
          <a:ln/>
        </p:spPr>
        <p:txBody>
          <a:bodyPr wrap="square" lIns="0" tIns="0" rIns="0" bIns="0" rtlCol="0" anchor="t"/>
          <a:lstStyle/>
          <a:p>
            <a:pPr marL="0" indent="0" algn="l">
              <a:lnSpc>
                <a:spcPct val="130000"/>
              </a:lnSpc>
              <a:buNone/>
            </a:pPr>
            <a:r>
              <a:rPr lang="en-US" sz="1200" dirty="0">
                <a:solidFill>
                  <a:srgbClr val="1A1906"/>
                </a:solidFill>
              </a:rPr>
              <a:t>2 734 sur 3 982, lors d’un relevé d’octobre 2026 sur votre carte des avis. À vérifier ensemble.</a:t>
            </a:r>
            <a:endParaRPr lang="en-US" sz="1200" dirty="0"/>
          </a:p>
        </p:txBody>
      </p:sp>
      <p:sp>
        <p:nvSpPr>
          <p:cNvPr id="11" name="Text 9"/>
          <p:cNvSpPr txBox="1"/>
          <p:nvPr/>
        </p:nvSpPr>
        <p:spPr>
          <a:xfrm>
            <a:off x="1041400" y="6286500"/>
            <a:ext cx="508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 donneesouvertes@ville.saguenay.qc.ca</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 prochain départ, sur l’écran d’accueil</a:t>
            </a:r>
            <a:endParaRPr lang="en-US" sz="3600" dirty="0"/>
          </a:p>
        </p:txBody>
      </p:sp>
      <p:sp>
        <p:nvSpPr>
          <p:cNvPr id="3" name="Text 1"/>
          <p:cNvSpPr txBox="1"/>
          <p:nvPr/>
        </p:nvSpPr>
        <p:spPr>
          <a:xfrm>
            <a:off x="812800" y="812800"/>
            <a:ext cx="10566400" cy="215900"/>
          </a:xfrm>
          <a:prstGeom prst="rect">
            <a:avLst/>
          </a:prstGeom>
          <a:noFill/>
          <a:ln/>
        </p:spPr>
        <p:txBody>
          <a:bodyPr wrap="square" lIns="0" tIns="0" rIns="0" bIns="0" rtlCol="0" anchor="t"/>
          <a:lstStyle/>
          <a:p>
            <a:pPr marL="0" indent="0" algn="l">
              <a:lnSpc>
                <a:spcPct val="120000"/>
              </a:lnSpc>
              <a:buNone/>
            </a:pPr>
            <a:r>
              <a:rPr lang="en-US" sz="1200" b="1" dirty="0">
                <a:solidFill>
                  <a:srgbClr val="4A5056"/>
                </a:solidFill>
              </a:rPr>
              <a:t>Pour la Société de transport du Saguenay</a:t>
            </a:r>
            <a:endParaRPr lang="en-US" sz="1200" dirty="0"/>
          </a:p>
        </p:txBody>
      </p:sp>
      <p:sp>
        <p:nvSpPr>
          <p:cNvPr id="4" name="Text 2"/>
          <p:cNvSpPr txBox="1"/>
          <p:nvPr/>
        </p:nvSpPr>
        <p:spPr>
          <a:xfrm>
            <a:off x="812800" y="1905000"/>
            <a:ext cx="6350000" cy="1270000"/>
          </a:xfrm>
          <a:prstGeom prst="rect">
            <a:avLst/>
          </a:prstGeom>
          <a:noFill/>
          <a:ln/>
        </p:spPr>
        <p:txBody>
          <a:bodyPr wrap="square" lIns="0" tIns="0" rIns="0" bIns="0" rtlCol="0" anchor="t"/>
          <a:lstStyle/>
          <a:p>
            <a:pPr marL="0" indent="0" algn="l">
              <a:lnSpc>
                <a:spcPct val="140000"/>
              </a:lnSpc>
              <a:buNone/>
            </a:pPr>
            <a:r>
              <a:rPr lang="en-US" sz="1600" dirty="0">
                <a:solidFill>
                  <a:srgbClr val="4A5056"/>
                </a:solidFill>
              </a:rPr>
              <a:t>Votre nouveau système publie des horaires et du temps réel de très bonne qualité. L’app les lit déjà, retards compris. Il manque seulement une licence pour la publier. Pour planifier un trajet, l’app renvoie vers Transit.</a:t>
            </a:r>
            <a:endParaRPr lang="en-US" sz="1600" dirty="0"/>
          </a:p>
        </p:txBody>
      </p:sp>
      <p:sp>
        <p:nvSpPr>
          <p:cNvPr id="5" name="Text 3"/>
          <p:cNvSpPr txBox="1"/>
          <p:nvPr/>
        </p:nvSpPr>
        <p:spPr>
          <a:xfrm>
            <a:off x="812800" y="3556000"/>
            <a:ext cx="63500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Ce que je vous demande</a:t>
            </a:r>
            <a:endParaRPr lang="en-US" sz="1600" dirty="0"/>
          </a:p>
        </p:txBody>
      </p:sp>
      <p:sp>
        <p:nvSpPr>
          <p:cNvPr id="6" name="Text 4"/>
          <p:cNvSpPr txBox="1"/>
          <p:nvPr/>
        </p:nvSpPr>
        <p:spPr>
          <a:xfrm>
            <a:off x="812800" y="3937000"/>
            <a:ext cx="6350000" cy="10795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a:pPr>
            <a:r>
              <a:rPr lang="en-US" sz="1400" dirty="0">
                <a:solidFill>
                  <a:srgbClr val="121417"/>
                </a:solidFill>
              </a:rPr>
              <a:t>Une licence CC BY 4.0, comme la STM et la STL.</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Une adresse de flux qui ne change pas sans avertissement.</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Le lien entre vos numéros d’arrêt (SMS au 22237) et le flux.</a:t>
            </a:r>
            <a:endParaRPr lang="en-US" sz="1400" dirty="0"/>
          </a:p>
        </p:txBody>
      </p:sp>
      <p:sp>
        <p:nvSpPr>
          <p:cNvPr id="7" name="horaire"/>
          <p:cNvSpPr/>
          <p:nvPr/>
        </p:nvSpPr>
        <p:spPr>
          <a:xfrm>
            <a:off x="7569200" y="1905000"/>
            <a:ext cx="3810000" cy="2476500"/>
          </a:xfrm>
          <a:prstGeom prst="roundRect">
            <a:avLst>
              <a:gd name="adj" fmla="val 8205"/>
            </a:avLst>
          </a:prstGeom>
          <a:solidFill>
            <a:srgbClr val="FFFFFF"/>
          </a:solidFill>
          <a:ln/>
        </p:spPr>
      </p:sp>
      <p:sp>
        <p:nvSpPr>
          <p:cNvPr id="8" name="Text 6"/>
          <p:cNvSpPr txBox="1"/>
          <p:nvPr/>
        </p:nvSpPr>
        <p:spPr>
          <a:xfrm>
            <a:off x="7823200" y="2159000"/>
            <a:ext cx="3302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868C92"/>
                </a:solidFill>
              </a:rPr>
              <a:t>Arrêt 150, Racine Est</a:t>
            </a:r>
            <a:endParaRPr lang="en-US" sz="1200" dirty="0"/>
          </a:p>
        </p:txBody>
      </p:sp>
      <p:sp>
        <p:nvSpPr>
          <p:cNvPr id="9" name="Shape 7"/>
          <p:cNvSpPr/>
          <p:nvPr/>
        </p:nvSpPr>
        <p:spPr>
          <a:xfrm>
            <a:off x="7823200" y="2540000"/>
            <a:ext cx="457200" cy="241300"/>
          </a:xfrm>
          <a:prstGeom prst="roundRect">
            <a:avLst>
              <a:gd name="adj" fmla="val 26316"/>
            </a:avLst>
          </a:prstGeom>
          <a:solidFill>
            <a:srgbClr val="2F6BEB"/>
          </a:solidFill>
          <a:ln/>
        </p:spPr>
      </p:sp>
      <p:sp>
        <p:nvSpPr>
          <p:cNvPr id="10" name="Text 8"/>
          <p:cNvSpPr txBox="1"/>
          <p:nvPr/>
        </p:nvSpPr>
        <p:spPr>
          <a:xfrm>
            <a:off x="7823200" y="2540000"/>
            <a:ext cx="457200" cy="241300"/>
          </a:xfrm>
          <a:prstGeom prst="rect">
            <a:avLst/>
          </a:prstGeom>
          <a:noFill/>
          <a:ln/>
        </p:spPr>
        <p:txBody>
          <a:bodyPr wrap="square" lIns="0" tIns="0" rIns="0" bIns="0" rtlCol="0" anchor="ctr"/>
          <a:lstStyle/>
          <a:p>
            <a:pPr marL="0" indent="0" algn="ctr">
              <a:lnSpc>
                <a:spcPct val="120000"/>
              </a:lnSpc>
              <a:buNone/>
            </a:pPr>
            <a:r>
              <a:rPr lang="en-US" sz="1200" b="1" dirty="0">
                <a:solidFill>
                  <a:srgbClr val="FFFFFF"/>
                </a:solidFill>
              </a:rPr>
              <a:t>105</a:t>
            </a:r>
            <a:endParaRPr lang="en-US" sz="1200" dirty="0"/>
          </a:p>
        </p:txBody>
      </p:sp>
      <p:sp>
        <p:nvSpPr>
          <p:cNvPr id="11" name="Text 9"/>
          <p:cNvSpPr txBox="1"/>
          <p:nvPr/>
        </p:nvSpPr>
        <p:spPr>
          <a:xfrm>
            <a:off x="8394700" y="2514600"/>
            <a:ext cx="1905000" cy="292100"/>
          </a:xfrm>
          <a:prstGeom prst="rect">
            <a:avLst/>
          </a:prstGeom>
          <a:noFill/>
          <a:ln/>
        </p:spPr>
        <p:txBody>
          <a:bodyPr wrap="square" lIns="0" tIns="0" rIns="0" bIns="0" rtlCol="0" anchor="ctr"/>
          <a:lstStyle/>
          <a:p>
            <a:pPr marL="0" indent="0" algn="l">
              <a:lnSpc>
                <a:spcPct val="120000"/>
              </a:lnSpc>
              <a:buNone/>
            </a:pPr>
            <a:r>
              <a:rPr lang="en-US" sz="1200" dirty="0">
                <a:solidFill>
                  <a:srgbClr val="121417"/>
                </a:solidFill>
              </a:rPr>
              <a:t>La Baie</a:t>
            </a:r>
            <a:endParaRPr lang="en-US" sz="1200" dirty="0"/>
          </a:p>
        </p:txBody>
      </p:sp>
      <p:sp>
        <p:nvSpPr>
          <p:cNvPr id="12" name="Text 10"/>
          <p:cNvSpPr txBox="1"/>
          <p:nvPr/>
        </p:nvSpPr>
        <p:spPr>
          <a:xfrm>
            <a:off x="10236200" y="2514600"/>
            <a:ext cx="889000" cy="292100"/>
          </a:xfrm>
          <a:prstGeom prst="rect">
            <a:avLst/>
          </a:prstGeom>
          <a:noFill/>
          <a:ln/>
        </p:spPr>
        <p:txBody>
          <a:bodyPr wrap="square" lIns="0" tIns="0" rIns="0" bIns="0" rtlCol="0" anchor="ctr"/>
          <a:lstStyle/>
          <a:p>
            <a:pPr marL="0" indent="0" algn="r">
              <a:lnSpc>
                <a:spcPct val="120000"/>
              </a:lnSpc>
              <a:buNone/>
            </a:pPr>
            <a:r>
              <a:rPr lang="en-US" sz="1600" b="1" dirty="0">
                <a:solidFill>
                  <a:srgbClr val="121417"/>
                </a:solidFill>
              </a:rPr>
              <a:t>7 h 46</a:t>
            </a:r>
            <a:endParaRPr lang="en-US" sz="1600" dirty="0"/>
          </a:p>
        </p:txBody>
      </p:sp>
      <p:sp>
        <p:nvSpPr>
          <p:cNvPr id="13" name="Shape 11"/>
          <p:cNvSpPr/>
          <p:nvPr/>
        </p:nvSpPr>
        <p:spPr>
          <a:xfrm>
            <a:off x="7823200" y="2933700"/>
            <a:ext cx="457200" cy="241300"/>
          </a:xfrm>
          <a:prstGeom prst="roundRect">
            <a:avLst>
              <a:gd name="adj" fmla="val 26316"/>
            </a:avLst>
          </a:prstGeom>
          <a:solidFill>
            <a:srgbClr val="2F6BEB"/>
          </a:solidFill>
          <a:ln/>
        </p:spPr>
      </p:sp>
      <p:sp>
        <p:nvSpPr>
          <p:cNvPr id="14" name="Text 12"/>
          <p:cNvSpPr txBox="1"/>
          <p:nvPr/>
        </p:nvSpPr>
        <p:spPr>
          <a:xfrm>
            <a:off x="7823200" y="2933700"/>
            <a:ext cx="457200" cy="241300"/>
          </a:xfrm>
          <a:prstGeom prst="rect">
            <a:avLst/>
          </a:prstGeom>
          <a:noFill/>
          <a:ln/>
        </p:spPr>
        <p:txBody>
          <a:bodyPr wrap="square" lIns="0" tIns="0" rIns="0" bIns="0" rtlCol="0" anchor="ctr"/>
          <a:lstStyle/>
          <a:p>
            <a:pPr marL="0" indent="0" algn="ctr">
              <a:lnSpc>
                <a:spcPct val="120000"/>
              </a:lnSpc>
              <a:buNone/>
            </a:pPr>
            <a:r>
              <a:rPr lang="en-US" sz="1200" b="1" dirty="0">
                <a:solidFill>
                  <a:srgbClr val="FFFFFF"/>
                </a:solidFill>
              </a:rPr>
              <a:t>10</a:t>
            </a:r>
            <a:endParaRPr lang="en-US" sz="1200" dirty="0"/>
          </a:p>
        </p:txBody>
      </p:sp>
      <p:sp>
        <p:nvSpPr>
          <p:cNvPr id="15" name="Text 13"/>
          <p:cNvSpPr txBox="1"/>
          <p:nvPr/>
        </p:nvSpPr>
        <p:spPr>
          <a:xfrm>
            <a:off x="8394700" y="2908300"/>
            <a:ext cx="1905000" cy="292100"/>
          </a:xfrm>
          <a:prstGeom prst="rect">
            <a:avLst/>
          </a:prstGeom>
          <a:noFill/>
          <a:ln/>
        </p:spPr>
        <p:txBody>
          <a:bodyPr wrap="square" lIns="0" tIns="0" rIns="0" bIns="0" rtlCol="0" anchor="ctr"/>
          <a:lstStyle/>
          <a:p>
            <a:pPr marL="0" indent="0" algn="l">
              <a:lnSpc>
                <a:spcPct val="120000"/>
              </a:lnSpc>
              <a:buNone/>
            </a:pPr>
            <a:r>
              <a:rPr lang="en-US" sz="1200" dirty="0">
                <a:solidFill>
                  <a:srgbClr val="121417"/>
                </a:solidFill>
              </a:rPr>
              <a:t>UQAC</a:t>
            </a:r>
            <a:endParaRPr lang="en-US" sz="1200" dirty="0"/>
          </a:p>
        </p:txBody>
      </p:sp>
      <p:sp>
        <p:nvSpPr>
          <p:cNvPr id="16" name="Text 14"/>
          <p:cNvSpPr txBox="1"/>
          <p:nvPr/>
        </p:nvSpPr>
        <p:spPr>
          <a:xfrm>
            <a:off x="10236200" y="2908300"/>
            <a:ext cx="889000" cy="292100"/>
          </a:xfrm>
          <a:prstGeom prst="rect">
            <a:avLst/>
          </a:prstGeom>
          <a:noFill/>
          <a:ln/>
        </p:spPr>
        <p:txBody>
          <a:bodyPr wrap="square" lIns="0" tIns="0" rIns="0" bIns="0" rtlCol="0" anchor="ctr"/>
          <a:lstStyle/>
          <a:p>
            <a:pPr marL="0" indent="0" algn="r">
              <a:lnSpc>
                <a:spcPct val="120000"/>
              </a:lnSpc>
              <a:buNone/>
            </a:pPr>
            <a:r>
              <a:rPr lang="en-US" sz="1600" b="1" dirty="0">
                <a:solidFill>
                  <a:srgbClr val="121417"/>
                </a:solidFill>
              </a:rPr>
              <a:t>7 h 47</a:t>
            </a:r>
            <a:endParaRPr lang="en-US" sz="1600" dirty="0"/>
          </a:p>
        </p:txBody>
      </p:sp>
      <p:sp>
        <p:nvSpPr>
          <p:cNvPr id="17" name="Shape 15"/>
          <p:cNvSpPr/>
          <p:nvPr/>
        </p:nvSpPr>
        <p:spPr>
          <a:xfrm>
            <a:off x="7823200" y="3327400"/>
            <a:ext cx="457200" cy="241300"/>
          </a:xfrm>
          <a:prstGeom prst="roundRect">
            <a:avLst>
              <a:gd name="adj" fmla="val 26316"/>
            </a:avLst>
          </a:prstGeom>
          <a:solidFill>
            <a:srgbClr val="2F6BEB"/>
          </a:solidFill>
          <a:ln/>
        </p:spPr>
      </p:sp>
      <p:sp>
        <p:nvSpPr>
          <p:cNvPr id="18" name="Text 16"/>
          <p:cNvSpPr txBox="1"/>
          <p:nvPr/>
        </p:nvSpPr>
        <p:spPr>
          <a:xfrm>
            <a:off x="7823200" y="3327400"/>
            <a:ext cx="457200" cy="241300"/>
          </a:xfrm>
          <a:prstGeom prst="rect">
            <a:avLst/>
          </a:prstGeom>
          <a:noFill/>
          <a:ln/>
        </p:spPr>
        <p:txBody>
          <a:bodyPr wrap="square" lIns="0" tIns="0" rIns="0" bIns="0" rtlCol="0" anchor="ctr"/>
          <a:lstStyle/>
          <a:p>
            <a:pPr marL="0" indent="0" algn="ctr">
              <a:lnSpc>
                <a:spcPct val="120000"/>
              </a:lnSpc>
              <a:buNone/>
            </a:pPr>
            <a:r>
              <a:rPr lang="en-US" sz="1200" b="1" dirty="0">
                <a:solidFill>
                  <a:srgbClr val="FFFFFF"/>
                </a:solidFill>
              </a:rPr>
              <a:t>106</a:t>
            </a:r>
            <a:endParaRPr lang="en-US" sz="1200" dirty="0"/>
          </a:p>
        </p:txBody>
      </p:sp>
      <p:sp>
        <p:nvSpPr>
          <p:cNvPr id="19" name="Text 17"/>
          <p:cNvSpPr txBox="1"/>
          <p:nvPr/>
        </p:nvSpPr>
        <p:spPr>
          <a:xfrm>
            <a:off x="8394700" y="3302000"/>
            <a:ext cx="1905000" cy="292100"/>
          </a:xfrm>
          <a:prstGeom prst="rect">
            <a:avLst/>
          </a:prstGeom>
          <a:noFill/>
          <a:ln/>
        </p:spPr>
        <p:txBody>
          <a:bodyPr wrap="square" lIns="0" tIns="0" rIns="0" bIns="0" rtlCol="0" anchor="ctr"/>
          <a:lstStyle/>
          <a:p>
            <a:pPr marL="0" indent="0" algn="l">
              <a:lnSpc>
                <a:spcPct val="120000"/>
              </a:lnSpc>
              <a:buNone/>
            </a:pPr>
            <a:r>
              <a:rPr lang="en-US" sz="1200" dirty="0">
                <a:solidFill>
                  <a:srgbClr val="121417"/>
                </a:solidFill>
              </a:rPr>
              <a:t>La Baie par Bagotville</a:t>
            </a:r>
            <a:endParaRPr lang="en-US" sz="1200" dirty="0"/>
          </a:p>
        </p:txBody>
      </p:sp>
      <p:sp>
        <p:nvSpPr>
          <p:cNvPr id="20" name="Text 18"/>
          <p:cNvSpPr txBox="1"/>
          <p:nvPr/>
        </p:nvSpPr>
        <p:spPr>
          <a:xfrm>
            <a:off x="10236200" y="3302000"/>
            <a:ext cx="889000" cy="292100"/>
          </a:xfrm>
          <a:prstGeom prst="rect">
            <a:avLst/>
          </a:prstGeom>
          <a:noFill/>
          <a:ln/>
        </p:spPr>
        <p:txBody>
          <a:bodyPr wrap="square" lIns="0" tIns="0" rIns="0" bIns="0" rtlCol="0" anchor="ctr"/>
          <a:lstStyle/>
          <a:p>
            <a:pPr marL="0" indent="0" algn="r">
              <a:lnSpc>
                <a:spcPct val="120000"/>
              </a:lnSpc>
              <a:buNone/>
            </a:pPr>
            <a:r>
              <a:rPr lang="en-US" sz="1600" b="1" dirty="0">
                <a:solidFill>
                  <a:srgbClr val="121417"/>
                </a:solidFill>
              </a:rPr>
              <a:t>8 h 16</a:t>
            </a:r>
            <a:endParaRPr lang="en-US" sz="1600" dirty="0"/>
          </a:p>
        </p:txBody>
      </p:sp>
      <p:sp>
        <p:nvSpPr>
          <p:cNvPr id="21" name="Text 19"/>
          <p:cNvSpPr txBox="1"/>
          <p:nvPr/>
        </p:nvSpPr>
        <p:spPr>
          <a:xfrm>
            <a:off x="7823200" y="3810000"/>
            <a:ext cx="3302000" cy="381000"/>
          </a:xfrm>
          <a:prstGeom prst="rect">
            <a:avLst/>
          </a:prstGeom>
          <a:noFill/>
          <a:ln/>
        </p:spPr>
        <p:txBody>
          <a:bodyPr wrap="square" lIns="0" tIns="0" rIns="0" bIns="0" rtlCol="0" anchor="t"/>
          <a:lstStyle/>
          <a:p>
            <a:pPr marL="0" indent="0" algn="l">
              <a:lnSpc>
                <a:spcPct val="130000"/>
              </a:lnSpc>
              <a:buNone/>
            </a:pPr>
            <a:r>
              <a:rPr lang="en-US" sz="1200" dirty="0">
                <a:solidFill>
                  <a:srgbClr val="868C92"/>
                </a:solidFill>
              </a:rPr>
              <a:t>Mercredi 18 novembre. Heures tirées de votre flux public.</a:t>
            </a:r>
            <a:endParaRPr lang="en-US" sz="1200" dirty="0"/>
          </a:p>
        </p:txBody>
      </p:sp>
      <p:sp>
        <p:nvSpPr>
          <p:cNvPr id="22" name="Text 20"/>
          <p:cNvSpPr txBox="1"/>
          <p:nvPr/>
        </p:nvSpPr>
        <p:spPr>
          <a:xfrm>
            <a:off x="1041400" y="6286500"/>
            <a:ext cx="508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 sts@stsaguenay.com</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D’autres coups de main</a:t>
            </a:r>
            <a:endParaRPr lang="en-US" sz="3600" dirty="0"/>
          </a:p>
        </p:txBody>
      </p:sp>
      <p:sp>
        <p:nvSpPr>
          <p:cNvPr id="3" name="Promotion Saguenay"/>
          <p:cNvSpPr/>
          <p:nvPr/>
        </p:nvSpPr>
        <p:spPr>
          <a:xfrm>
            <a:off x="812800" y="1574800"/>
            <a:ext cx="3403600" cy="2032000"/>
          </a:xfrm>
          <a:prstGeom prst="roundRect">
            <a:avLst>
              <a:gd name="adj" fmla="val 10000"/>
            </a:avLst>
          </a:prstGeom>
          <a:solidFill>
            <a:srgbClr val="F1F2EF"/>
          </a:solidFill>
          <a:ln/>
        </p:spPr>
      </p:sp>
      <p:sp>
        <p:nvSpPr>
          <p:cNvPr id="4" name="Text 2"/>
          <p:cNvSpPr txBox="1"/>
          <p:nvPr/>
        </p:nvSpPr>
        <p:spPr>
          <a:xfrm>
            <a:off x="1066800" y="1828800"/>
            <a:ext cx="28956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Promotion Saguenay</a:t>
            </a:r>
            <a:endParaRPr lang="en-US" sz="1600" dirty="0"/>
          </a:p>
        </p:txBody>
      </p:sp>
      <p:sp>
        <p:nvSpPr>
          <p:cNvPr id="5" name="Text 3"/>
          <p:cNvSpPr txBox="1"/>
          <p:nvPr/>
        </p:nvSpPr>
        <p:spPr>
          <a:xfrm>
            <a:off x="1066800" y="2197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Ses fonds numériques pourraient payer le développement et des tests avec des citoyens. L’admissibilité reste à vérifier.</a:t>
            </a:r>
            <a:endParaRPr lang="en-US" sz="1400" dirty="0"/>
          </a:p>
        </p:txBody>
      </p:sp>
      <p:sp>
        <p:nvSpPr>
          <p:cNvPr id="6" name="UQAC et cégeps"/>
          <p:cNvSpPr/>
          <p:nvPr/>
        </p:nvSpPr>
        <p:spPr>
          <a:xfrm>
            <a:off x="4394200" y="1574800"/>
            <a:ext cx="3403600" cy="2032000"/>
          </a:xfrm>
          <a:prstGeom prst="roundRect">
            <a:avLst>
              <a:gd name="adj" fmla="val 10000"/>
            </a:avLst>
          </a:prstGeom>
          <a:solidFill>
            <a:srgbClr val="F1F2EF"/>
          </a:solidFill>
          <a:ln/>
        </p:spPr>
      </p:sp>
      <p:sp>
        <p:nvSpPr>
          <p:cNvPr id="7" name="Text 5"/>
          <p:cNvSpPr txBox="1"/>
          <p:nvPr/>
        </p:nvSpPr>
        <p:spPr>
          <a:xfrm>
            <a:off x="4648200" y="1828800"/>
            <a:ext cx="28956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UQAC et cégeps</a:t>
            </a:r>
            <a:endParaRPr lang="en-US" sz="1600" dirty="0"/>
          </a:p>
        </p:txBody>
      </p:sp>
      <p:sp>
        <p:nvSpPr>
          <p:cNvPr id="8" name="Text 6"/>
          <p:cNvSpPr txBox="1"/>
          <p:nvPr/>
        </p:nvSpPr>
        <p:spPr>
          <a:xfrm>
            <a:off x="4648200" y="2197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Des projets étudiants : tests d’accessibilité, qualité des données, essais avec de vrais usagers.</a:t>
            </a:r>
            <a:endParaRPr lang="en-US" sz="1400" dirty="0"/>
          </a:p>
        </p:txBody>
      </p:sp>
      <p:sp>
        <p:nvSpPr>
          <p:cNvPr id="9" name="SaguenayCollecte"/>
          <p:cNvSpPr/>
          <p:nvPr/>
        </p:nvSpPr>
        <p:spPr>
          <a:xfrm>
            <a:off x="7975600" y="1574800"/>
            <a:ext cx="3403600" cy="2032000"/>
          </a:xfrm>
          <a:prstGeom prst="roundRect">
            <a:avLst>
              <a:gd name="adj" fmla="val 10000"/>
            </a:avLst>
          </a:prstGeom>
          <a:solidFill>
            <a:srgbClr val="F1F2EF"/>
          </a:solidFill>
          <a:ln/>
        </p:spPr>
      </p:sp>
      <p:sp>
        <p:nvSpPr>
          <p:cNvPr id="10" name="Text 8"/>
          <p:cNvSpPr txBox="1"/>
          <p:nvPr/>
        </p:nvSpPr>
        <p:spPr>
          <a:xfrm>
            <a:off x="8229600" y="1828800"/>
            <a:ext cx="28956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SaguenayCollecte</a:t>
            </a:r>
            <a:endParaRPr lang="en-US" sz="1600" dirty="0"/>
          </a:p>
        </p:txBody>
      </p:sp>
      <p:sp>
        <p:nvSpPr>
          <p:cNvPr id="11" name="Text 9"/>
          <p:cNvSpPr txBox="1"/>
          <p:nvPr/>
        </p:nvSpPr>
        <p:spPr>
          <a:xfrm>
            <a:off x="8229600" y="2197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Leur app fait déjà très bien les collectes. On se renvoie les usagers au lieu de se faire concurrence.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La suite</a:t>
            </a:r>
            <a:endParaRPr lang="en-US" sz="3600" dirty="0"/>
          </a:p>
        </p:txBody>
      </p:sp>
      <p:sp>
        <p:nvSpPr>
          <p:cNvPr id="3" name="repère 1"/>
          <p:cNvSpPr/>
          <p:nvPr/>
        </p:nvSpPr>
        <p:spPr>
          <a:xfrm>
            <a:off x="812800" y="1651000"/>
            <a:ext cx="2489200" cy="38100"/>
          </a:xfrm>
          <a:prstGeom prst="rect">
            <a:avLst/>
          </a:prstGeom>
          <a:solidFill>
            <a:srgbClr val="FFD02B"/>
          </a:solidFill>
          <a:ln/>
        </p:spPr>
      </p:sp>
      <p:sp>
        <p:nvSpPr>
          <p:cNvPr id="4" name="Text 2"/>
          <p:cNvSpPr txBox="1"/>
          <p:nvPr/>
        </p:nvSpPr>
        <p:spPr>
          <a:xfrm>
            <a:off x="812800" y="1841500"/>
            <a:ext cx="24892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Fin octobre</a:t>
            </a:r>
            <a:endParaRPr lang="en-US" sz="2200" dirty="0"/>
          </a:p>
        </p:txBody>
      </p:sp>
      <p:sp>
        <p:nvSpPr>
          <p:cNvPr id="5" name="Text 3"/>
          <p:cNvSpPr txBox="1"/>
          <p:nvPr/>
        </p:nvSpPr>
        <p:spPr>
          <a:xfrm>
            <a:off x="812800" y="2260600"/>
            <a:ext cx="2489200" cy="1270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Je présente le projet et j’envoie les demandes.</a:t>
            </a:r>
            <a:endParaRPr lang="en-US" sz="1400" dirty="0"/>
          </a:p>
        </p:txBody>
      </p:sp>
      <p:sp>
        <p:nvSpPr>
          <p:cNvPr id="6" name="repère 2"/>
          <p:cNvSpPr/>
          <p:nvPr/>
        </p:nvSpPr>
        <p:spPr>
          <a:xfrm>
            <a:off x="3505200" y="1651000"/>
            <a:ext cx="2489200" cy="38100"/>
          </a:xfrm>
          <a:prstGeom prst="rect">
            <a:avLst/>
          </a:prstGeom>
          <a:solidFill>
            <a:srgbClr val="121417"/>
          </a:solidFill>
          <a:ln/>
        </p:spPr>
      </p:sp>
      <p:sp>
        <p:nvSpPr>
          <p:cNvPr id="7" name="Text 5"/>
          <p:cNvSpPr txBox="1"/>
          <p:nvPr/>
        </p:nvSpPr>
        <p:spPr>
          <a:xfrm>
            <a:off x="3505200" y="1841500"/>
            <a:ext cx="24892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Mi-décembre</a:t>
            </a:r>
            <a:endParaRPr lang="en-US" sz="2200" dirty="0"/>
          </a:p>
        </p:txBody>
      </p:sp>
      <p:sp>
        <p:nvSpPr>
          <p:cNvPr id="8" name="Text 6"/>
          <p:cNvSpPr txBox="1"/>
          <p:nvPr/>
        </p:nvSpPr>
        <p:spPr>
          <a:xfrm>
            <a:off x="3505200" y="2260600"/>
            <a:ext cx="2489200" cy="1270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Première version publique, avec les sources ouvertes et celles que vous aurez acceptées.</a:t>
            </a:r>
            <a:endParaRPr lang="en-US" sz="1400" dirty="0"/>
          </a:p>
        </p:txBody>
      </p:sp>
      <p:sp>
        <p:nvSpPr>
          <p:cNvPr id="9" name="repère 3"/>
          <p:cNvSpPr/>
          <p:nvPr/>
        </p:nvSpPr>
        <p:spPr>
          <a:xfrm>
            <a:off x="6197600" y="1651000"/>
            <a:ext cx="2489200" cy="38100"/>
          </a:xfrm>
          <a:prstGeom prst="rect">
            <a:avLst/>
          </a:prstGeom>
          <a:solidFill>
            <a:srgbClr val="121417"/>
          </a:solidFill>
          <a:ln/>
        </p:spPr>
      </p:sp>
      <p:sp>
        <p:nvSpPr>
          <p:cNvPr id="10" name="Text 8"/>
          <p:cNvSpPr txBox="1"/>
          <p:nvPr/>
        </p:nvSpPr>
        <p:spPr>
          <a:xfrm>
            <a:off x="6197600" y="1841500"/>
            <a:ext cx="24892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Janvier</a:t>
            </a:r>
            <a:endParaRPr lang="en-US" sz="2200" dirty="0"/>
          </a:p>
        </p:txBody>
      </p:sp>
      <p:sp>
        <p:nvSpPr>
          <p:cNvPr id="11" name="Text 9"/>
          <p:cNvSpPr txBox="1"/>
          <p:nvPr/>
        </p:nvSpPr>
        <p:spPr>
          <a:xfrm>
            <a:off x="6197600" y="2260600"/>
            <a:ext cx="2489200" cy="1270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Le reste dès les accords, et la version web.</a:t>
            </a:r>
            <a:endParaRPr lang="en-US" sz="1400" dirty="0"/>
          </a:p>
        </p:txBody>
      </p:sp>
      <p:sp>
        <p:nvSpPr>
          <p:cNvPr id="12" name="repère 4"/>
          <p:cNvSpPr/>
          <p:nvPr/>
        </p:nvSpPr>
        <p:spPr>
          <a:xfrm>
            <a:off x="8890000" y="1651000"/>
            <a:ext cx="2489200" cy="38100"/>
          </a:xfrm>
          <a:prstGeom prst="rect">
            <a:avLst/>
          </a:prstGeom>
          <a:solidFill>
            <a:srgbClr val="121417"/>
          </a:solidFill>
          <a:ln/>
        </p:spPr>
      </p:sp>
      <p:sp>
        <p:nvSpPr>
          <p:cNvPr id="13" name="Text 11"/>
          <p:cNvSpPr txBox="1"/>
          <p:nvPr/>
        </p:nvSpPr>
        <p:spPr>
          <a:xfrm>
            <a:off x="8890000" y="1841500"/>
            <a:ext cx="24892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Avril</a:t>
            </a:r>
            <a:endParaRPr lang="en-US" sz="2200" dirty="0"/>
          </a:p>
        </p:txBody>
      </p:sp>
      <p:sp>
        <p:nvSpPr>
          <p:cNvPr id="14" name="Text 12"/>
          <p:cNvSpPr txBox="1"/>
          <p:nvPr/>
        </p:nvSpPr>
        <p:spPr>
          <a:xfrm>
            <a:off x="8890000" y="2260600"/>
            <a:ext cx="2489200" cy="1270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Bilan de l’hiver, partagé avec la Ville.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425700"/>
            <a:ext cx="10566400" cy="825500"/>
          </a:xfrm>
          <a:prstGeom prst="rect">
            <a:avLst/>
          </a:prstGeom>
          <a:noFill/>
          <a:ln/>
        </p:spPr>
        <p:txBody>
          <a:bodyPr wrap="square" lIns="0" tIns="0" rIns="0" bIns="0" rtlCol="0" anchor="t"/>
          <a:lstStyle/>
          <a:p>
            <a:pPr marL="0" indent="0" algn="l">
              <a:lnSpc>
                <a:spcPct val="102000"/>
              </a:lnSpc>
              <a:buNone/>
            </a:pPr>
            <a:r>
              <a:rPr lang="en-US" sz="6000" b="1" dirty="0">
                <a:solidFill>
                  <a:srgbClr val="1A1906"/>
                </a:solidFill>
              </a:rPr>
              <a:t>Merci.</a:t>
            </a:r>
            <a:endParaRPr lang="en-US" sz="6000" dirty="0"/>
          </a:p>
        </p:txBody>
      </p:sp>
      <p:sp>
        <p:nvSpPr>
          <p:cNvPr id="3" name="Text 1"/>
          <p:cNvSpPr txBox="1"/>
          <p:nvPr/>
        </p:nvSpPr>
        <p:spPr>
          <a:xfrm>
            <a:off x="812800" y="3454400"/>
            <a:ext cx="10566400" cy="381000"/>
          </a:xfrm>
          <a:prstGeom prst="rect">
            <a:avLst/>
          </a:prstGeom>
          <a:noFill/>
          <a:ln/>
        </p:spPr>
        <p:txBody>
          <a:bodyPr wrap="square" lIns="0" tIns="0" rIns="0" bIns="0" rtlCol="0" anchor="t"/>
          <a:lstStyle/>
          <a:p>
            <a:pPr marL="0" indent="0" algn="l">
              <a:lnSpc>
                <a:spcPct val="120000"/>
              </a:lnSpc>
              <a:buNone/>
            </a:pPr>
            <a:r>
              <a:rPr lang="en-US" sz="2200" dirty="0">
                <a:solidFill>
                  <a:srgbClr val="1A1906"/>
                </a:solidFill>
              </a:rPr>
              <a:t>Essaie la démo, sans rien installer :</a:t>
            </a:r>
            <a:endParaRPr lang="en-US" sz="2200" dirty="0"/>
          </a:p>
        </p:txBody>
      </p:sp>
      <p:sp>
        <p:nvSpPr>
          <p:cNvPr id="4" name="Text 2"/>
          <p:cNvSpPr txBox="1"/>
          <p:nvPr/>
        </p:nvSpPr>
        <p:spPr>
          <a:xfrm>
            <a:off x="812800" y="40386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1A1906"/>
                </a:solidFill>
              </a:rPr>
              <a:t>saguenay-aujourdhui.netlify.app</a:t>
            </a:r>
            <a:endParaRPr lang="en-US" sz="1600" dirty="0"/>
          </a:p>
        </p:txBody>
      </p:sp>
      <p:sp>
        <p:nvSpPr>
          <p:cNvPr id="5" name="Text 3"/>
          <p:cNvSpPr txBox="1"/>
          <p:nvPr/>
        </p:nvSpPr>
        <p:spPr>
          <a:xfrm>
            <a:off x="812800" y="6286500"/>
            <a:ext cx="10566400" cy="215900"/>
          </a:xfrm>
          <a:prstGeom prst="rect">
            <a:avLst/>
          </a:prstGeom>
          <a:noFill/>
          <a:ln/>
        </p:spPr>
        <p:txBody>
          <a:bodyPr wrap="square" lIns="0" tIns="0" rIns="0" bIns="0" rtlCol="0" anchor="t"/>
          <a:lstStyle/>
          <a:p>
            <a:pPr marL="0" indent="0" algn="l">
              <a:lnSpc>
                <a:spcPct val="120000"/>
              </a:lnSpc>
              <a:buNone/>
            </a:pPr>
            <a:r>
              <a:rPr lang="en-US" sz="1200" dirty="0">
                <a:solidFill>
                  <a:srgbClr val="1A1906"/>
                </a:solidFill>
              </a:rPr>
              <a:t>Florent Akpa · Saguenay</a:t>
            </a:r>
            <a:endParaRPr lang="en-US" sz="1200" dirty="0"/>
          </a:p>
        </p:txBody>
      </p:sp>
    </p:spTree>
  </p:cSld>
  <p:clrMapOvr>
    <a:masterClrMapping/>
  </p:clrMapOvr>
</p:sld>
</file>

<file path=ppt/theme/theme1.xml><?xml version="1.0" encoding="utf-8"?>
<a:theme xmlns:a="http://schemas.openxmlformats.org/drawingml/2006/main" name="Saguenay Aujourd'hui">
  <a:themeElements>
    <a:clrScheme name="Saguenay Aujourd'hui">
      <a:dk1>
        <a:srgbClr val="121417"/>
      </a:dk1>
      <a:lt1>
        <a:srgbClr val="FFFFFF"/>
      </a:lt1>
      <a:dk2>
        <a:srgbClr val="1A1906"/>
      </a:dk2>
      <a:lt2>
        <a:srgbClr val="F1F2EF"/>
      </a:lt2>
      <a:accent1>
        <a:srgbClr val="FFD02B"/>
      </a:accent1>
      <a:accent2>
        <a:srgbClr val="157A4A"/>
      </a:accent2>
      <a:accent3>
        <a:srgbClr val="2F6BEB"/>
      </a:accent3>
      <a:accent4>
        <a:srgbClr val="C93630"/>
      </a:accent4>
      <a:accent5>
        <a:srgbClr val="4E6A85"/>
      </a:accent5>
      <a:accent6>
        <a:srgbClr val="B8336A"/>
      </a:accent6>
      <a:hlink>
        <a:srgbClr val="2F6BEB"/>
      </a:hlink>
      <a:folHlink>
        <a:srgbClr val="6B55C9"/>
      </a:folHlink>
    </a:clrScheme>
    <a:fontScheme name="Saguenay Aujourd'hu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2141</Words>
  <Application>Microsoft Office PowerPoint</Application>
  <PresentationFormat>Grand écran</PresentationFormat>
  <Paragraphs>308</Paragraphs>
  <Slides>24</Slides>
  <Notes>24</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24</vt:i4>
      </vt:variant>
    </vt:vector>
  </HeadingPairs>
  <TitlesOfParts>
    <vt:vector size="26" baseType="lpstr">
      <vt:lpstr>Arial</vt:lpstr>
      <vt:lpstr>Saguenay Aujourd'hui</vt:lpstr>
      <vt:lpstr>Saguenay Aujourd’hui</vt:lpstr>
      <vt:lpstr>L’essentiel en 30 secondes</vt:lpstr>
      <vt:lpstr>Imagine : une maison pour chaque geste</vt:lpstr>
      <vt:lpstr>C’est pourtant comme ça qu’on s’informe</vt:lpstr>
      <vt:lpstr>Avec l’app : une seule maison, qui te prévient</vt:lpstr>
      <vt:lpstr>La révolution : c’est l’information qui te trouve</vt:lpstr>
      <vt:lpstr>Douze sources en direct, sur un seul écran</vt:lpstr>
      <vt:lpstr>Le widget : sans même ouvrir l’app</vt:lpstr>
      <vt:lpstr>Ce qui compte passe en premier, selon l’heure</vt:lpstr>
      <vt:lpstr>Elle te prévient, même fermée</vt:lpstr>
      <vt:lpstr>Les travaux, les voies fermées et les routes</vt:lpstr>
      <vt:lpstr>L’achalandage des urgences, en direct</vt:lpstr>
      <vt:lpstr>Le bus : le prochain départ, là où tu es</vt:lpstr>
      <vt:lpstr>Une question ? Demande à l’app</vt:lpstr>
      <vt:lpstr>Et pour ceux qu’on aime</vt:lpstr>
      <vt:lpstr>Et encore</vt:lpstr>
      <vt:lpstr>Pourquoi l’utiliser ? Ce que ça t’évite</vt:lpstr>
      <vt:lpstr>Gratuite, privée et fiable</vt:lpstr>
      <vt:lpstr>Tout est branché : il reste les accords</vt:lpstr>
      <vt:lpstr>Quand l’eau est touchée, prévenir tout le monde</vt:lpstr>
      <vt:lpstr>Le prochain départ, sur l’écran d’accueil</vt:lpstr>
      <vt:lpstr>D’autres coups de main</vt:lpstr>
      <vt:lpstr>La suite</vt:lpstr>
      <vt:lpstr>Merci.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Saguenay Aujourd'hui</dc:title>
  <dc:subject>Tout ce qui touche ton adresse, au même endroit</dc:subject>
  <dc:creator>Florent Akpa</dc:creator>
  <cp:lastModifiedBy>Florent GOTLIEBE</cp:lastModifiedBy>
  <cp:revision>2</cp:revision>
  <dcterms:created xsi:type="dcterms:W3CDTF">2026-10-30T13:44:03Z</dcterms:created>
  <dcterms:modified xsi:type="dcterms:W3CDTF">2026-10-30T13:44:34Z</dcterms:modified>
</cp:coreProperties>
</file>